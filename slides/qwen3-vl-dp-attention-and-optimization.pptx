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slides/charts/chart1.xml" ContentType="application/vnd.openxmlformats-officedocument.drawingml.chart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2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slides/charts/chart3.xml" ContentType="application/vnd.openxmlformats-officedocument.drawingml.chart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slides/charts/chart4.xml" ContentType="application/vnd.openxmlformats-officedocument.drawingml.chart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slides/charts/chart5.xml" ContentType="application/vnd.openxmlformats-officedocument.drawingml.chart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3d455d02234159" /><Relationship Type="http://schemas.openxmlformats.org/officeDocument/2006/relationships/extended-properties" Target="/docProps/app.xml" Id="Ra52c6862d7a746cd" /><Relationship Type="http://schemas.openxmlformats.org/officeDocument/2006/relationships/officeDocument" Target="/ppt/presentation.xml" Id="Rc1c41bb1c62948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24618c63a64171"/>
  </p:sldMasterIdLst>
  <p:notesMasterIdLst>
    <p:notesMasterId xmlns:r="http://schemas.openxmlformats.org/officeDocument/2006/relationships" r:id="Readd2b52382e42e3"/>
  </p:notesMasterIdLst>
  <p:sldIdLst>
    <p:sldId xmlns:r="http://schemas.openxmlformats.org/officeDocument/2006/relationships" id="256" r:id="Rb3ce7e285a7c47cc"/>
    <p:sldId xmlns:r="http://schemas.openxmlformats.org/officeDocument/2006/relationships" id="257" r:id="Rbea7696a70f64ca7"/>
    <p:sldId xmlns:r="http://schemas.openxmlformats.org/officeDocument/2006/relationships" id="258" r:id="R125b6da956004543"/>
    <p:sldId xmlns:r="http://schemas.openxmlformats.org/officeDocument/2006/relationships" id="259" r:id="Rc0b27af11e65497c"/>
    <p:sldId xmlns:r="http://schemas.openxmlformats.org/officeDocument/2006/relationships" id="260" r:id="R7f0a91fb85154870"/>
    <p:sldId xmlns:r="http://schemas.openxmlformats.org/officeDocument/2006/relationships" id="261" r:id="R7623fe641e854a9e"/>
    <p:sldId xmlns:r="http://schemas.openxmlformats.org/officeDocument/2006/relationships" id="262" r:id="R189b3ae3f7f44ebd"/>
    <p:sldId xmlns:r="http://schemas.openxmlformats.org/officeDocument/2006/relationships" id="263" r:id="Rf28a3ce47ad54296"/>
    <p:sldId xmlns:r="http://schemas.openxmlformats.org/officeDocument/2006/relationships" id="264" r:id="Rc0fb993b56fb4e31"/>
    <p:sldId xmlns:r="http://schemas.openxmlformats.org/officeDocument/2006/relationships" id="265" r:id="R6a586ed8e3ee436e"/>
    <p:sldId xmlns:r="http://schemas.openxmlformats.org/officeDocument/2006/relationships" id="266" r:id="R66705bd5921949fa"/>
    <p:sldId xmlns:r="http://schemas.openxmlformats.org/officeDocument/2006/relationships" id="267" r:id="Re1180a39a26946e8"/>
    <p:sldId xmlns:r="http://schemas.openxmlformats.org/officeDocument/2006/relationships" id="268" r:id="Rc4e5c9e097df4929"/>
    <p:sldId xmlns:r="http://schemas.openxmlformats.org/officeDocument/2006/relationships" id="269" r:id="R8835874ca19f45f1"/>
    <p:sldId xmlns:r="http://schemas.openxmlformats.org/officeDocument/2006/relationships" id="270" r:id="Rf369f15f9219402e"/>
    <p:sldId xmlns:r="http://schemas.openxmlformats.org/officeDocument/2006/relationships" id="271" r:id="R3a14e5a33d3a40cd"/>
    <p:sldId xmlns:r="http://schemas.openxmlformats.org/officeDocument/2006/relationships" id="272" r:id="R0a55b3bc1b45452d"/>
    <p:sldId xmlns:r="http://schemas.openxmlformats.org/officeDocument/2006/relationships" id="273" r:id="Rf8d6af9568504462"/>
    <p:sldId xmlns:r="http://schemas.openxmlformats.org/officeDocument/2006/relationships" id="274" r:id="R550aea8bb70d4913"/>
    <p:sldId xmlns:r="http://schemas.openxmlformats.org/officeDocument/2006/relationships" id="275" r:id="R62cb7d45b2c5493d"/>
    <p:sldId xmlns:r="http://schemas.openxmlformats.org/officeDocument/2006/relationships" id="276" r:id="Rfee602e131b4453e"/>
    <p:sldId xmlns:r="http://schemas.openxmlformats.org/officeDocument/2006/relationships" id="277" r:id="R9baa753159c246c5"/>
    <p:sldId xmlns:r="http://schemas.openxmlformats.org/officeDocument/2006/relationships" id="278" r:id="R365ffb86d1bc4312"/>
    <p:sldId xmlns:r="http://schemas.openxmlformats.org/officeDocument/2006/relationships" id="279" r:id="R5929efd2e2cb4043"/>
    <p:sldId xmlns:r="http://schemas.openxmlformats.org/officeDocument/2006/relationships" id="280" r:id="Rc355b84d5d7f4d11"/>
    <p:sldId xmlns:r="http://schemas.openxmlformats.org/officeDocument/2006/relationships" id="281" r:id="R235780c262e540ba"/>
    <p:sldId xmlns:r="http://schemas.openxmlformats.org/officeDocument/2006/relationships" id="282" r:id="R85b4205c2b0d4c9f"/>
    <p:sldId xmlns:r="http://schemas.openxmlformats.org/officeDocument/2006/relationships" id="283" r:id="Rd4f3f315aa844722"/>
    <p:sldId xmlns:r="http://schemas.openxmlformats.org/officeDocument/2006/relationships" id="284" r:id="R53c0667da319440f"/>
    <p:sldId xmlns:r="http://schemas.openxmlformats.org/officeDocument/2006/relationships" id="285" r:id="R47f19c9041554ba6"/>
    <p:sldId xmlns:r="http://schemas.openxmlformats.org/officeDocument/2006/relationships" id="286" r:id="Rb1a6714fd1404503"/>
    <p:sldId xmlns:r="http://schemas.openxmlformats.org/officeDocument/2006/relationships" id="287" r:id="Rbede81bc90cc4d52"/>
    <p:sldId xmlns:r="http://schemas.openxmlformats.org/officeDocument/2006/relationships" id="288" r:id="R8a96d50e6ec44b24"/>
    <p:sldId xmlns:r="http://schemas.openxmlformats.org/officeDocument/2006/relationships" id="289" r:id="Rd126503a1ba54c12"/>
    <p:sldId xmlns:r="http://schemas.openxmlformats.org/officeDocument/2006/relationships" id="290" r:id="R31905325815d40a4"/>
    <p:sldId xmlns:r="http://schemas.openxmlformats.org/officeDocument/2006/relationships" id="291" r:id="R57621b5ac53e4fdf"/>
    <p:sldId xmlns:r="http://schemas.openxmlformats.org/officeDocument/2006/relationships" id="292" r:id="Ra8dc6b47d4504f4f"/>
    <p:sldId xmlns:r="http://schemas.openxmlformats.org/officeDocument/2006/relationships" id="293" r:id="R419da2fdd3944757"/>
    <p:sldId xmlns:r="http://schemas.openxmlformats.org/officeDocument/2006/relationships" id="294" r:id="R76d386a5ad2b4d7c"/>
    <p:sldId xmlns:r="http://schemas.openxmlformats.org/officeDocument/2006/relationships" id="295" r:id="Rd98220b75aca4762"/>
    <p:sldId xmlns:r="http://schemas.openxmlformats.org/officeDocument/2006/relationships" id="296" r:id="Rdf190684f26e43c7"/>
    <p:sldId xmlns:r="http://schemas.openxmlformats.org/officeDocument/2006/relationships" id="297" r:id="Rcd01af8fa1c041a3"/>
    <p:sldId xmlns:r="http://schemas.openxmlformats.org/officeDocument/2006/relationships" id="298" r:id="R8fe5acd3e423440c"/>
    <p:sldId xmlns:r="http://schemas.openxmlformats.org/officeDocument/2006/relationships" id="299" r:id="R33e93fd5a4114396"/>
    <p:sldId xmlns:r="http://schemas.openxmlformats.org/officeDocument/2006/relationships" id="300" r:id="R25c5a13bde734fc4"/>
    <p:sldId xmlns:r="http://schemas.openxmlformats.org/officeDocument/2006/relationships" id="301" r:id="Rfb47f9f710bf475d"/>
    <p:sldId xmlns:r="http://schemas.openxmlformats.org/officeDocument/2006/relationships" id="302" r:id="Rae30375d91af49fb"/>
    <p:sldId xmlns:r="http://schemas.openxmlformats.org/officeDocument/2006/relationships" id="303" r:id="R5c70891b013d422c"/>
    <p:sldId xmlns:r="http://schemas.openxmlformats.org/officeDocument/2006/relationships" id="304" r:id="R6565fc1a060f47c1"/>
    <p:sldId xmlns:r="http://schemas.openxmlformats.org/officeDocument/2006/relationships" id="305" r:id="R493e2ebeb9c24839"/>
    <p:sldId xmlns:r="http://schemas.openxmlformats.org/officeDocument/2006/relationships" id="306" r:id="R3971d01d7e154f49"/>
    <p:sldId xmlns:r="http://schemas.openxmlformats.org/officeDocument/2006/relationships" id="307" r:id="R458b6f4eb8d74eb3"/>
    <p:sldId xmlns:r="http://schemas.openxmlformats.org/officeDocument/2006/relationships" id="308" r:id="R8cd098f94fd64c6a"/>
    <p:sldId xmlns:r="http://schemas.openxmlformats.org/officeDocument/2006/relationships" id="309" r:id="Ree747e650f014652"/>
    <p:sldId xmlns:r="http://schemas.openxmlformats.org/officeDocument/2006/relationships" id="310" r:id="R0751957d9d374094"/>
    <p:sldId xmlns:r="http://schemas.openxmlformats.org/officeDocument/2006/relationships" id="311" r:id="R6e0ed05a6513408e"/>
    <p:sldId xmlns:r="http://schemas.openxmlformats.org/officeDocument/2006/relationships" id="312" r:id="Rc4108dcdf4194be6"/>
    <p:sldId xmlns:r="http://schemas.openxmlformats.org/officeDocument/2006/relationships" id="313" r:id="Rdca4c90e706445b2"/>
    <p:sldId xmlns:r="http://schemas.openxmlformats.org/officeDocument/2006/relationships" id="314" r:id="R169d26c794014174"/>
    <p:sldId xmlns:r="http://schemas.openxmlformats.org/officeDocument/2006/relationships" id="315" r:id="R46f6f6cb276e455b"/>
    <p:sldId xmlns:r="http://schemas.openxmlformats.org/officeDocument/2006/relationships" id="316" r:id="Rcfd66424f9a24351"/>
    <p:sldId xmlns:r="http://schemas.openxmlformats.org/officeDocument/2006/relationships" id="317" r:id="Reaff898a31ee4326"/>
    <p:sldId xmlns:r="http://schemas.openxmlformats.org/officeDocument/2006/relationships" id="318" r:id="Rc96eef5bfbea4325"/>
    <p:sldId xmlns:r="http://schemas.openxmlformats.org/officeDocument/2006/relationships" id="319" r:id="Rf03989712af54fa4"/>
    <p:sldId xmlns:r="http://schemas.openxmlformats.org/officeDocument/2006/relationships" id="320" r:id="Rc11e708764254466"/>
    <p:sldId xmlns:r="http://schemas.openxmlformats.org/officeDocument/2006/relationships" id="321" r:id="Ra8b5210960b0418a"/>
    <p:sldId xmlns:r="http://schemas.openxmlformats.org/officeDocument/2006/relationships" id="322" r:id="R06cef394678b496c"/>
    <p:sldId xmlns:r="http://schemas.openxmlformats.org/officeDocument/2006/relationships" id="323" r:id="R374e407517af4d8c"/>
    <p:sldId xmlns:r="http://schemas.openxmlformats.org/officeDocument/2006/relationships" id="324" r:id="Rc049b61074ae41e6"/>
    <p:sldId xmlns:r="http://schemas.openxmlformats.org/officeDocument/2006/relationships" id="325" r:id="R4a02f87e99e84950"/>
    <p:sldId xmlns:r="http://schemas.openxmlformats.org/officeDocument/2006/relationships" id="326" r:id="Rdd39aafc3f8140d7"/>
    <p:sldId xmlns:r="http://schemas.openxmlformats.org/officeDocument/2006/relationships" id="327" r:id="Rd610beca52be4732"/>
    <p:sldId xmlns:r="http://schemas.openxmlformats.org/officeDocument/2006/relationships" id="328" r:id="R9a1f6e5e86934e47"/>
    <p:sldId xmlns:r="http://schemas.openxmlformats.org/officeDocument/2006/relationships" id="329" r:id="R8336f76949d043a2"/>
    <p:sldId xmlns:r="http://schemas.openxmlformats.org/officeDocument/2006/relationships" id="330" r:id="Raccefd25ec0c4c54"/>
    <p:sldId xmlns:r="http://schemas.openxmlformats.org/officeDocument/2006/relationships" id="331" r:id="Ra7badd0acac64ee9"/>
    <p:sldId xmlns:r="http://schemas.openxmlformats.org/officeDocument/2006/relationships" id="332" r:id="R4636d90688ce4c9d"/>
    <p:sldId xmlns:r="http://schemas.openxmlformats.org/officeDocument/2006/relationships" id="333" r:id="R2166a446200042bd"/>
    <p:sldId xmlns:r="http://schemas.openxmlformats.org/officeDocument/2006/relationships" id="334" r:id="R1085180d1b5d4e51"/>
    <p:sldId xmlns:r="http://schemas.openxmlformats.org/officeDocument/2006/relationships" id="335" r:id="R26e50ff14fe746fd"/>
    <p:sldId xmlns:r="http://schemas.openxmlformats.org/officeDocument/2006/relationships" id="336" r:id="R9a71e3806fbc4ae8"/>
    <p:sldId xmlns:r="http://schemas.openxmlformats.org/officeDocument/2006/relationships" id="337" r:id="R491c00309a96455a"/>
    <p:sldId xmlns:r="http://schemas.openxmlformats.org/officeDocument/2006/relationships" id="338" r:id="R66d7111ceb094410"/>
    <p:sldId xmlns:r="http://schemas.openxmlformats.org/officeDocument/2006/relationships" id="339" r:id="Rf0af588c5a994549"/>
    <p:sldId xmlns:r="http://schemas.openxmlformats.org/officeDocument/2006/relationships" id="340" r:id="R5591a9f02b9443b1"/>
    <p:sldId xmlns:r="http://schemas.openxmlformats.org/officeDocument/2006/relationships" id="341" r:id="Raedb7272361943c2"/>
    <p:sldId xmlns:r="http://schemas.openxmlformats.org/officeDocument/2006/relationships" id="342" r:id="Rcc3cc6c505b94871"/>
    <p:sldId xmlns:r="http://schemas.openxmlformats.org/officeDocument/2006/relationships" id="343" r:id="R0fe53270050648c4"/>
    <p:sldId xmlns:r="http://schemas.openxmlformats.org/officeDocument/2006/relationships" id="344" r:id="R2d77551599ca4717"/>
    <p:sldId xmlns:r="http://schemas.openxmlformats.org/officeDocument/2006/relationships" id="345" r:id="R00de92f17a0848b5"/>
    <p:sldId xmlns:r="http://schemas.openxmlformats.org/officeDocument/2006/relationships" id="346" r:id="R5f597fff77954e63"/>
    <p:sldId xmlns:r="http://schemas.openxmlformats.org/officeDocument/2006/relationships" id="347" r:id="R30248b67a6e949af"/>
    <p:sldId xmlns:r="http://schemas.openxmlformats.org/officeDocument/2006/relationships" id="348" r:id="R79fcda56159c42b9"/>
    <p:sldId xmlns:r="http://schemas.openxmlformats.org/officeDocument/2006/relationships" id="349" r:id="R2254ca015da94354"/>
    <p:sldId xmlns:r="http://schemas.openxmlformats.org/officeDocument/2006/relationships" id="350" r:id="Rc426c74c4aa74eb9"/>
    <p:sldId xmlns:r="http://schemas.openxmlformats.org/officeDocument/2006/relationships" id="351" r:id="R2d3170f7c0d74866"/>
    <p:sldId xmlns:r="http://schemas.openxmlformats.org/officeDocument/2006/relationships" id="352" r:id="Ra49efe7fb5544b91"/>
    <p:sldId xmlns:r="http://schemas.openxmlformats.org/officeDocument/2006/relationships" id="353" r:id="Rf1fc8767ef2d4f7b"/>
    <p:sldId xmlns:r="http://schemas.openxmlformats.org/officeDocument/2006/relationships" id="354" r:id="Rba66eebc18394c80"/>
    <p:sldId xmlns:r="http://schemas.openxmlformats.org/officeDocument/2006/relationships" id="355" r:id="R9749b623540540db"/>
    <p:sldId xmlns:r="http://schemas.openxmlformats.org/officeDocument/2006/relationships" id="356" r:id="R517b5ece431f4505"/>
    <p:sldId xmlns:r="http://schemas.openxmlformats.org/officeDocument/2006/relationships" id="357" r:id="R4b610324573d413e"/>
    <p:sldId xmlns:r="http://schemas.openxmlformats.org/officeDocument/2006/relationships" id="358" r:id="Rc579b59b64fe43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8aa799dec14a8c" /><Relationship Type="http://schemas.openxmlformats.org/officeDocument/2006/relationships/slideMaster" Target="/ppt/slideMasters/slideMaster1.xml" Id="R6924618c63a64171" /><Relationship Type="http://schemas.openxmlformats.org/officeDocument/2006/relationships/notesMaster" Target="/ppt/notesMasters/notesMaster1.xml" Id="Readd2b52382e42e3" /><Relationship Type="http://schemas.openxmlformats.org/officeDocument/2006/relationships/presProps" Target="/ppt/presProps.xml" Id="Rff34fbfbe6ea4b8b" /><Relationship Type="http://schemas.openxmlformats.org/officeDocument/2006/relationships/tableStyles" Target="/ppt/tableStyles.xml" Id="Ra2e8042c65c34186" /><Relationship Type="http://schemas.openxmlformats.org/officeDocument/2006/relationships/slide" Target="/ppt/slides/slide1.xml" Id="Rb3ce7e285a7c47cc" /><Relationship Type="http://schemas.openxmlformats.org/officeDocument/2006/relationships/slide" Target="/ppt/slides/slide2.xml" Id="Rbea7696a70f64ca7" /><Relationship Type="http://schemas.openxmlformats.org/officeDocument/2006/relationships/slide" Target="/ppt/slides/slide3.xml" Id="R125b6da956004543" /><Relationship Type="http://schemas.openxmlformats.org/officeDocument/2006/relationships/slide" Target="/ppt/slides/slide4.xml" Id="Rc0b27af11e65497c" /><Relationship Type="http://schemas.openxmlformats.org/officeDocument/2006/relationships/slide" Target="/ppt/slides/slide5.xml" Id="R7f0a91fb85154870" /><Relationship Type="http://schemas.openxmlformats.org/officeDocument/2006/relationships/slide" Target="/ppt/slides/slide6.xml" Id="R7623fe641e854a9e" /><Relationship Type="http://schemas.openxmlformats.org/officeDocument/2006/relationships/slide" Target="/ppt/slides/slide7.xml" Id="R189b3ae3f7f44ebd" /><Relationship Type="http://schemas.openxmlformats.org/officeDocument/2006/relationships/slide" Target="/ppt/slides/slide8.xml" Id="Rf28a3ce47ad54296" /><Relationship Type="http://schemas.openxmlformats.org/officeDocument/2006/relationships/slide" Target="/ppt/slides/slide9.xml" Id="Rc0fb993b56fb4e31" /><Relationship Type="http://schemas.openxmlformats.org/officeDocument/2006/relationships/slide" Target="/ppt/slides/slide10.xml" Id="R6a586ed8e3ee436e" /><Relationship Type="http://schemas.openxmlformats.org/officeDocument/2006/relationships/slide" Target="/ppt/slides/slide11.xml" Id="R66705bd5921949fa" /><Relationship Type="http://schemas.openxmlformats.org/officeDocument/2006/relationships/slide" Target="/ppt/slides/slide12.xml" Id="Re1180a39a26946e8" /><Relationship Type="http://schemas.openxmlformats.org/officeDocument/2006/relationships/slide" Target="/ppt/slides/slide13.xml" Id="Rc4e5c9e097df4929" /><Relationship Type="http://schemas.openxmlformats.org/officeDocument/2006/relationships/slide" Target="/ppt/slides/slide14.xml" Id="R8835874ca19f45f1" /><Relationship Type="http://schemas.openxmlformats.org/officeDocument/2006/relationships/slide" Target="/ppt/slides/slide15.xml" Id="Rf369f15f9219402e" /><Relationship Type="http://schemas.openxmlformats.org/officeDocument/2006/relationships/slide" Target="/ppt/slides/slide16.xml" Id="R3a14e5a33d3a40cd" /><Relationship Type="http://schemas.openxmlformats.org/officeDocument/2006/relationships/slide" Target="/ppt/slides/slide17.xml" Id="R0a55b3bc1b45452d" /><Relationship Type="http://schemas.openxmlformats.org/officeDocument/2006/relationships/slide" Target="/ppt/slides/slide18.xml" Id="Rf8d6af9568504462" /><Relationship Type="http://schemas.openxmlformats.org/officeDocument/2006/relationships/slide" Target="/ppt/slides/slide19.xml" Id="R550aea8bb70d4913" /><Relationship Type="http://schemas.openxmlformats.org/officeDocument/2006/relationships/slide" Target="/ppt/slides/slide20.xml" Id="R62cb7d45b2c5493d" /><Relationship Type="http://schemas.openxmlformats.org/officeDocument/2006/relationships/slide" Target="/ppt/slides/slide21.xml" Id="Rfee602e131b4453e" /><Relationship Type="http://schemas.openxmlformats.org/officeDocument/2006/relationships/slide" Target="/ppt/slides/slide22.xml" Id="R9baa753159c246c5" /><Relationship Type="http://schemas.openxmlformats.org/officeDocument/2006/relationships/slide" Target="/ppt/slides/slide23.xml" Id="R365ffb86d1bc4312" /><Relationship Type="http://schemas.openxmlformats.org/officeDocument/2006/relationships/slide" Target="/ppt/slides/slide24.xml" Id="R5929efd2e2cb4043" /><Relationship Type="http://schemas.openxmlformats.org/officeDocument/2006/relationships/slide" Target="/ppt/slides/slide25.xml" Id="Rc355b84d5d7f4d11" /><Relationship Type="http://schemas.openxmlformats.org/officeDocument/2006/relationships/slide" Target="/ppt/slides/slide26.xml" Id="R235780c262e540ba" /><Relationship Type="http://schemas.openxmlformats.org/officeDocument/2006/relationships/slide" Target="/ppt/slides/slide27.xml" Id="R85b4205c2b0d4c9f" /><Relationship Type="http://schemas.openxmlformats.org/officeDocument/2006/relationships/slide" Target="/ppt/slides/slide28.xml" Id="Rd4f3f315aa844722" /><Relationship Type="http://schemas.openxmlformats.org/officeDocument/2006/relationships/slide" Target="/ppt/slides/slide29.xml" Id="R53c0667da319440f" /><Relationship Type="http://schemas.openxmlformats.org/officeDocument/2006/relationships/slide" Target="/ppt/slides/slide30.xml" Id="R47f19c9041554ba6" /><Relationship Type="http://schemas.openxmlformats.org/officeDocument/2006/relationships/slide" Target="/ppt/slides/slide31.xml" Id="Rb1a6714fd1404503" /><Relationship Type="http://schemas.openxmlformats.org/officeDocument/2006/relationships/slide" Target="/ppt/slides/slide32.xml" Id="Rbede81bc90cc4d52" /><Relationship Type="http://schemas.openxmlformats.org/officeDocument/2006/relationships/slide" Target="/ppt/slides/slide33.xml" Id="R8a96d50e6ec44b24" /><Relationship Type="http://schemas.openxmlformats.org/officeDocument/2006/relationships/slide" Target="/ppt/slides/slide34.xml" Id="Rd126503a1ba54c12" /><Relationship Type="http://schemas.openxmlformats.org/officeDocument/2006/relationships/slide" Target="/ppt/slides/slide35.xml" Id="R31905325815d40a4" /><Relationship Type="http://schemas.openxmlformats.org/officeDocument/2006/relationships/slide" Target="/ppt/slides/slide36.xml" Id="R57621b5ac53e4fdf" /><Relationship Type="http://schemas.openxmlformats.org/officeDocument/2006/relationships/slide" Target="/ppt/slides/slide37.xml" Id="Ra8dc6b47d4504f4f" /><Relationship Type="http://schemas.openxmlformats.org/officeDocument/2006/relationships/slide" Target="/ppt/slides/slide38.xml" Id="R419da2fdd3944757" /><Relationship Type="http://schemas.openxmlformats.org/officeDocument/2006/relationships/slide" Target="/ppt/slides/slide39.xml" Id="R76d386a5ad2b4d7c" /><Relationship Type="http://schemas.openxmlformats.org/officeDocument/2006/relationships/slide" Target="/ppt/slides/slide40.xml" Id="Rd98220b75aca4762" /><Relationship Type="http://schemas.openxmlformats.org/officeDocument/2006/relationships/slide" Target="/ppt/slides/slide41.xml" Id="Rdf190684f26e43c7" /><Relationship Type="http://schemas.openxmlformats.org/officeDocument/2006/relationships/slide" Target="/ppt/slides/slide42.xml" Id="Rcd01af8fa1c041a3" /><Relationship Type="http://schemas.openxmlformats.org/officeDocument/2006/relationships/slide" Target="/ppt/slides/slide43.xml" Id="R8fe5acd3e423440c" /><Relationship Type="http://schemas.openxmlformats.org/officeDocument/2006/relationships/slide" Target="/ppt/slides/slide44.xml" Id="R33e93fd5a4114396" /><Relationship Type="http://schemas.openxmlformats.org/officeDocument/2006/relationships/slide" Target="/ppt/slides/slide45.xml" Id="R25c5a13bde734fc4" /><Relationship Type="http://schemas.openxmlformats.org/officeDocument/2006/relationships/slide" Target="/ppt/slides/slide46.xml" Id="Rfb47f9f710bf475d" /><Relationship Type="http://schemas.openxmlformats.org/officeDocument/2006/relationships/slide" Target="/ppt/slides/slide47.xml" Id="Rae30375d91af49fb" /><Relationship Type="http://schemas.openxmlformats.org/officeDocument/2006/relationships/slide" Target="/ppt/slides/slide48.xml" Id="R5c70891b013d422c" /><Relationship Type="http://schemas.openxmlformats.org/officeDocument/2006/relationships/slide" Target="/ppt/slides/slide49.xml" Id="R6565fc1a060f47c1" /><Relationship Type="http://schemas.openxmlformats.org/officeDocument/2006/relationships/slide" Target="/ppt/slides/slide50.xml" Id="R493e2ebeb9c24839" /><Relationship Type="http://schemas.openxmlformats.org/officeDocument/2006/relationships/slide" Target="/ppt/slides/slide51.xml" Id="R3971d01d7e154f49" /><Relationship Type="http://schemas.openxmlformats.org/officeDocument/2006/relationships/slide" Target="/ppt/slides/slide52.xml" Id="R458b6f4eb8d74eb3" /><Relationship Type="http://schemas.openxmlformats.org/officeDocument/2006/relationships/slide" Target="/ppt/slides/slide53.xml" Id="R8cd098f94fd64c6a" /><Relationship Type="http://schemas.openxmlformats.org/officeDocument/2006/relationships/slide" Target="/ppt/slides/slide54.xml" Id="Ree747e650f014652" /><Relationship Type="http://schemas.openxmlformats.org/officeDocument/2006/relationships/slide" Target="/ppt/slides/slide55.xml" Id="R0751957d9d374094" /><Relationship Type="http://schemas.openxmlformats.org/officeDocument/2006/relationships/slide" Target="/ppt/slides/slide56.xml" Id="R6e0ed05a6513408e" /><Relationship Type="http://schemas.openxmlformats.org/officeDocument/2006/relationships/slide" Target="/ppt/slides/slide57.xml" Id="Rc4108dcdf4194be6" /><Relationship Type="http://schemas.openxmlformats.org/officeDocument/2006/relationships/slide" Target="/ppt/slides/slide58.xml" Id="Rdca4c90e706445b2" /><Relationship Type="http://schemas.openxmlformats.org/officeDocument/2006/relationships/slide" Target="/ppt/slides/slide59.xml" Id="R169d26c794014174" /><Relationship Type="http://schemas.openxmlformats.org/officeDocument/2006/relationships/slide" Target="/ppt/slides/slide60.xml" Id="R46f6f6cb276e455b" /><Relationship Type="http://schemas.openxmlformats.org/officeDocument/2006/relationships/slide" Target="/ppt/slides/slide61.xml" Id="Rcfd66424f9a24351" /><Relationship Type="http://schemas.openxmlformats.org/officeDocument/2006/relationships/slide" Target="/ppt/slides/slide62.xml" Id="Reaff898a31ee4326" /><Relationship Type="http://schemas.openxmlformats.org/officeDocument/2006/relationships/slide" Target="/ppt/slides/slide63.xml" Id="Rc96eef5bfbea4325" /><Relationship Type="http://schemas.openxmlformats.org/officeDocument/2006/relationships/slide" Target="/ppt/slides/slide64.xml" Id="Rf03989712af54fa4" /><Relationship Type="http://schemas.openxmlformats.org/officeDocument/2006/relationships/slide" Target="/ppt/slides/slide65.xml" Id="Rc11e708764254466" /><Relationship Type="http://schemas.openxmlformats.org/officeDocument/2006/relationships/slide" Target="/ppt/slides/slide66.xml" Id="Ra8b5210960b0418a" /><Relationship Type="http://schemas.openxmlformats.org/officeDocument/2006/relationships/slide" Target="/ppt/slides/slide67.xml" Id="R06cef394678b496c" /><Relationship Type="http://schemas.openxmlformats.org/officeDocument/2006/relationships/slide" Target="/ppt/slides/slide68.xml" Id="R374e407517af4d8c" /><Relationship Type="http://schemas.openxmlformats.org/officeDocument/2006/relationships/slide" Target="/ppt/slides/slide69.xml" Id="Rc049b61074ae41e6" /><Relationship Type="http://schemas.openxmlformats.org/officeDocument/2006/relationships/slide" Target="/ppt/slides/slide70.xml" Id="R4a02f87e99e84950" /><Relationship Type="http://schemas.openxmlformats.org/officeDocument/2006/relationships/slide" Target="/ppt/slides/slide71.xml" Id="Rdd39aafc3f8140d7" /><Relationship Type="http://schemas.openxmlformats.org/officeDocument/2006/relationships/slide" Target="/ppt/slides/slide72.xml" Id="Rd610beca52be4732" /><Relationship Type="http://schemas.openxmlformats.org/officeDocument/2006/relationships/slide" Target="/ppt/slides/slide73.xml" Id="R9a1f6e5e86934e47" /><Relationship Type="http://schemas.openxmlformats.org/officeDocument/2006/relationships/slide" Target="/ppt/slides/slide74.xml" Id="R8336f76949d043a2" /><Relationship Type="http://schemas.openxmlformats.org/officeDocument/2006/relationships/slide" Target="/ppt/slides/slide75.xml" Id="Raccefd25ec0c4c54" /><Relationship Type="http://schemas.openxmlformats.org/officeDocument/2006/relationships/slide" Target="/ppt/slides/slide76.xml" Id="Ra7badd0acac64ee9" /><Relationship Type="http://schemas.openxmlformats.org/officeDocument/2006/relationships/slide" Target="/ppt/slides/slide77.xml" Id="R4636d90688ce4c9d" /><Relationship Type="http://schemas.openxmlformats.org/officeDocument/2006/relationships/slide" Target="/ppt/slides/slide78.xml" Id="R2166a446200042bd" /><Relationship Type="http://schemas.openxmlformats.org/officeDocument/2006/relationships/slide" Target="/ppt/slides/slide79.xml" Id="R1085180d1b5d4e51" /><Relationship Type="http://schemas.openxmlformats.org/officeDocument/2006/relationships/slide" Target="/ppt/slides/slide80.xml" Id="R26e50ff14fe746fd" /><Relationship Type="http://schemas.openxmlformats.org/officeDocument/2006/relationships/slide" Target="/ppt/slides/slide81.xml" Id="R9a71e3806fbc4ae8" /><Relationship Type="http://schemas.openxmlformats.org/officeDocument/2006/relationships/slide" Target="/ppt/slides/slide82.xml" Id="R491c00309a96455a" /><Relationship Type="http://schemas.openxmlformats.org/officeDocument/2006/relationships/slide" Target="/ppt/slides/slide83.xml" Id="R66d7111ceb094410" /><Relationship Type="http://schemas.openxmlformats.org/officeDocument/2006/relationships/slide" Target="/ppt/slides/slide84.xml" Id="Rf0af588c5a994549" /><Relationship Type="http://schemas.openxmlformats.org/officeDocument/2006/relationships/slide" Target="/ppt/slides/slide85.xml" Id="R5591a9f02b9443b1" /><Relationship Type="http://schemas.openxmlformats.org/officeDocument/2006/relationships/slide" Target="/ppt/slides/slide86.xml" Id="Raedb7272361943c2" /><Relationship Type="http://schemas.openxmlformats.org/officeDocument/2006/relationships/slide" Target="/ppt/slides/slide87.xml" Id="Rcc3cc6c505b94871" /><Relationship Type="http://schemas.openxmlformats.org/officeDocument/2006/relationships/slide" Target="/ppt/slides/slide88.xml" Id="R0fe53270050648c4" /><Relationship Type="http://schemas.openxmlformats.org/officeDocument/2006/relationships/slide" Target="/ppt/slides/slide89.xml" Id="R2d77551599ca4717" /><Relationship Type="http://schemas.openxmlformats.org/officeDocument/2006/relationships/slide" Target="/ppt/slides/slide90.xml" Id="R00de92f17a0848b5" /><Relationship Type="http://schemas.openxmlformats.org/officeDocument/2006/relationships/slide" Target="/ppt/slides/slide91.xml" Id="R5f597fff77954e63" /><Relationship Type="http://schemas.openxmlformats.org/officeDocument/2006/relationships/slide" Target="/ppt/slides/slide92.xml" Id="R30248b67a6e949af" /><Relationship Type="http://schemas.openxmlformats.org/officeDocument/2006/relationships/slide" Target="/ppt/slides/slide93.xml" Id="R79fcda56159c42b9" /><Relationship Type="http://schemas.openxmlformats.org/officeDocument/2006/relationships/slide" Target="/ppt/slides/slide94.xml" Id="R2254ca015da94354" /><Relationship Type="http://schemas.openxmlformats.org/officeDocument/2006/relationships/slide" Target="/ppt/slides/slide95.xml" Id="Rc426c74c4aa74eb9" /><Relationship Type="http://schemas.openxmlformats.org/officeDocument/2006/relationships/slide" Target="/ppt/slides/slide96.xml" Id="R2d3170f7c0d74866" /><Relationship Type="http://schemas.openxmlformats.org/officeDocument/2006/relationships/slide" Target="/ppt/slides/slide97.xml" Id="Ra49efe7fb5544b91" /><Relationship Type="http://schemas.openxmlformats.org/officeDocument/2006/relationships/slide" Target="/ppt/slides/slide98.xml" Id="Rf1fc8767ef2d4f7b" /><Relationship Type="http://schemas.openxmlformats.org/officeDocument/2006/relationships/slide" Target="/ppt/slides/slide99.xml" Id="Rba66eebc18394c80" /><Relationship Type="http://schemas.openxmlformats.org/officeDocument/2006/relationships/slide" Target="/ppt/slides/slide100.xml" Id="R9749b623540540db" /><Relationship Type="http://schemas.openxmlformats.org/officeDocument/2006/relationships/slide" Target="/ppt/slides/slide101.xml" Id="R517b5ece431f4505" /><Relationship Type="http://schemas.openxmlformats.org/officeDocument/2006/relationships/slide" Target="/ppt/slides/slide102.xml" Id="R4b610324573d413e" /><Relationship Type="http://schemas.openxmlformats.org/officeDocument/2006/relationships/slide" Target="/ppt/slides/slide103.xml" Id="Rc579b59b64fe43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93a1d260ac46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90526239b94262" /><Relationship Type="http://schemas.openxmlformats.org/officeDocument/2006/relationships/notesMaster" Target="/ppt/notesMasters/notesMaster1.xml" Id="Rcfe52fcdde6d42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73521b7119450f" /><Relationship Type="http://schemas.openxmlformats.org/officeDocument/2006/relationships/notesMaster" Target="/ppt/notesMasters/notesMaster1.xml" Id="Ra0dfd4897e4a45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9083fa01f14b87" /><Relationship Type="http://schemas.openxmlformats.org/officeDocument/2006/relationships/notesMaster" Target="/ppt/notesMasters/notesMaster1.xml" Id="R3741e6c6524a40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f0fc681bd643d8" /><Relationship Type="http://schemas.openxmlformats.org/officeDocument/2006/relationships/notesMaster" Target="/ppt/notesMasters/notesMaster1.xml" Id="R8e470fe111c945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7bcde5f1664317" /><Relationship Type="http://schemas.openxmlformats.org/officeDocument/2006/relationships/notesMaster" Target="/ppt/notesMasters/notesMaster1.xml" Id="Rf5c578042c4d45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211fb39e5c4af6" /><Relationship Type="http://schemas.openxmlformats.org/officeDocument/2006/relationships/notesMaster" Target="/ppt/notesMasters/notesMaster1.xml" Id="Ra0cfff21e57243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f3c35c03e44f24" /><Relationship Type="http://schemas.openxmlformats.org/officeDocument/2006/relationships/notesMaster" Target="/ppt/notesMasters/notesMaster1.xml" Id="R0457b5efc5ec48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e7e5d7211e444e" /><Relationship Type="http://schemas.openxmlformats.org/officeDocument/2006/relationships/notesMaster" Target="/ppt/notesMasters/notesMaster1.xml" Id="R496a69d47f9d4a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ba4cdb3a7746e1" /><Relationship Type="http://schemas.openxmlformats.org/officeDocument/2006/relationships/notesMaster" Target="/ppt/notesMasters/notesMaster1.xml" Id="R861618b5a6c046d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ed3461d1394e13" /><Relationship Type="http://schemas.openxmlformats.org/officeDocument/2006/relationships/notesMaster" Target="/ppt/notesMasters/notesMaster1.xml" Id="Rea0ab6dc692b47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0668af7fd74129" /><Relationship Type="http://schemas.openxmlformats.org/officeDocument/2006/relationships/notesMaster" Target="/ppt/notesMasters/notesMaster1.xml" Id="R6d9f4c92b9d247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4cdd09964994b2a" /><Relationship Type="http://schemas.openxmlformats.org/officeDocument/2006/relationships/notesMaster" Target="/ppt/notesMasters/notesMaster1.xml" Id="R8998456bf34f42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2eaba6d5fe4a57" /><Relationship Type="http://schemas.openxmlformats.org/officeDocument/2006/relationships/notesMaster" Target="/ppt/notesMasters/notesMaster1.xml" Id="R6ee655c8ee814d6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2bdfee4f8334b0f" /><Relationship Type="http://schemas.openxmlformats.org/officeDocument/2006/relationships/notesMaster" Target="/ppt/notesMasters/notesMaster1.xml" Id="R8a2a9b2a0fe94ad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fb94e057b624cc0" /><Relationship Type="http://schemas.openxmlformats.org/officeDocument/2006/relationships/notesMaster" Target="/ppt/notesMasters/notesMaster1.xml" Id="R099fc81cf759475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d20879305954802" /><Relationship Type="http://schemas.openxmlformats.org/officeDocument/2006/relationships/notesMaster" Target="/ppt/notesMasters/notesMaster1.xml" Id="Ref7a653767054ab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d93510c9085488c" /><Relationship Type="http://schemas.openxmlformats.org/officeDocument/2006/relationships/notesMaster" Target="/ppt/notesMasters/notesMaster1.xml" Id="Rbe33bdd4c95644d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b0fed45e1bc4e82" /><Relationship Type="http://schemas.openxmlformats.org/officeDocument/2006/relationships/notesMaster" Target="/ppt/notesMasters/notesMaster1.xml" Id="R059b0f7f0d78413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edd41fcb934217" /><Relationship Type="http://schemas.openxmlformats.org/officeDocument/2006/relationships/notesMaster" Target="/ppt/notesMasters/notesMaster1.xml" Id="R812447376c8949c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e75badac0c745c0" /><Relationship Type="http://schemas.openxmlformats.org/officeDocument/2006/relationships/notesMaster" Target="/ppt/notesMasters/notesMaster1.xml" Id="R7794a77caebc436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aa230ea3cfe4537" /><Relationship Type="http://schemas.openxmlformats.org/officeDocument/2006/relationships/notesMaster" Target="/ppt/notesMasters/notesMaster1.xml" Id="R9af0202a944449d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cce32b7d6294e37" /><Relationship Type="http://schemas.openxmlformats.org/officeDocument/2006/relationships/notesMaster" Target="/ppt/notesMasters/notesMaster1.xml" Id="R51d1641190fd4fe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a2f5dbb50ef4632" /><Relationship Type="http://schemas.openxmlformats.org/officeDocument/2006/relationships/notesMaster" Target="/ppt/notesMasters/notesMaster1.xml" Id="Rb7d5331a52de459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ad71f97aded42c2" /><Relationship Type="http://schemas.openxmlformats.org/officeDocument/2006/relationships/notesMaster" Target="/ppt/notesMasters/notesMaster1.xml" Id="R9fb24e33a28d49d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e563f116e8e40cf" /><Relationship Type="http://schemas.openxmlformats.org/officeDocument/2006/relationships/notesMaster" Target="/ppt/notesMasters/notesMaster1.xml" Id="Rdb6f547067ee429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7a19f57084a432b" /><Relationship Type="http://schemas.openxmlformats.org/officeDocument/2006/relationships/notesMaster" Target="/ppt/notesMasters/notesMaster1.xml" Id="R708ab6c6d5364c8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c5d039c319f40ba" /><Relationship Type="http://schemas.openxmlformats.org/officeDocument/2006/relationships/notesMaster" Target="/ppt/notesMasters/notesMaster1.xml" Id="Rfe94b6ed00744ab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10cf6ffcf40435e" /><Relationship Type="http://schemas.openxmlformats.org/officeDocument/2006/relationships/notesMaster" Target="/ppt/notesMasters/notesMaster1.xml" Id="R7f299e2aef2f4eb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df0946e577c4a4d" /><Relationship Type="http://schemas.openxmlformats.org/officeDocument/2006/relationships/notesMaster" Target="/ppt/notesMasters/notesMaster1.xml" Id="R02422471eea64c7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3a1a2b1741349cf" /><Relationship Type="http://schemas.openxmlformats.org/officeDocument/2006/relationships/notesMaster" Target="/ppt/notesMasters/notesMaster1.xml" Id="R3ae9f869edbb406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1b6a90240d14478" /><Relationship Type="http://schemas.openxmlformats.org/officeDocument/2006/relationships/notesMaster" Target="/ppt/notesMasters/notesMaster1.xml" Id="Rbbea03ea8bfa41d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ead717db41049d1" /><Relationship Type="http://schemas.openxmlformats.org/officeDocument/2006/relationships/notesMaster" Target="/ppt/notesMasters/notesMaster1.xml" Id="R4f1e06face68474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a4a70baa74f4bd0" /><Relationship Type="http://schemas.openxmlformats.org/officeDocument/2006/relationships/notesMaster" Target="/ppt/notesMasters/notesMaster1.xml" Id="Ra7e330540ad8402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aa35fafdade4a9c" /><Relationship Type="http://schemas.openxmlformats.org/officeDocument/2006/relationships/notesMaster" Target="/ppt/notesMasters/notesMaster1.xml" Id="Ra6a712b10bd440c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cf0ccc4e5fd441d" /><Relationship Type="http://schemas.openxmlformats.org/officeDocument/2006/relationships/notesMaster" Target="/ppt/notesMasters/notesMaster1.xml" Id="R81cd3a363ddf411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aaba1b1dce44ad0" /><Relationship Type="http://schemas.openxmlformats.org/officeDocument/2006/relationships/notesMaster" Target="/ppt/notesMasters/notesMaster1.xml" Id="R54f01e9e8669490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64319e40f6b4588" /><Relationship Type="http://schemas.openxmlformats.org/officeDocument/2006/relationships/notesMaster" Target="/ppt/notesMasters/notesMaster1.xml" Id="R59c8f3043d2f453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9ba30e6a1c647b6" /><Relationship Type="http://schemas.openxmlformats.org/officeDocument/2006/relationships/notesMaster" Target="/ppt/notesMasters/notesMaster1.xml" Id="R60b52bda7ea9413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e914074334a4fab" /><Relationship Type="http://schemas.openxmlformats.org/officeDocument/2006/relationships/notesMaster" Target="/ppt/notesMasters/notesMaster1.xml" Id="Rf5afdd66665b440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389832006ed433e" /><Relationship Type="http://schemas.openxmlformats.org/officeDocument/2006/relationships/notesMaster" Target="/ppt/notesMasters/notesMaster1.xml" Id="Rb3802cf03ce9476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4849660827a463b" /><Relationship Type="http://schemas.openxmlformats.org/officeDocument/2006/relationships/notesMaster" Target="/ppt/notesMasters/notesMaster1.xml" Id="R8703ac8f5f244cc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45f2a38fa124f2b" /><Relationship Type="http://schemas.openxmlformats.org/officeDocument/2006/relationships/notesMaster" Target="/ppt/notesMasters/notesMaster1.xml" Id="R7cc162ceec1f496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cb24df9c6844ae5" /><Relationship Type="http://schemas.openxmlformats.org/officeDocument/2006/relationships/notesMaster" Target="/ppt/notesMasters/notesMaster1.xml" Id="Ra96885d01eec41f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10aa9ac9e7b4b21" /><Relationship Type="http://schemas.openxmlformats.org/officeDocument/2006/relationships/notesMaster" Target="/ppt/notesMasters/notesMaster1.xml" Id="Rbf09ee60ffa34c0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43b02279d3d472b" /><Relationship Type="http://schemas.openxmlformats.org/officeDocument/2006/relationships/notesMaster" Target="/ppt/notesMasters/notesMaster1.xml" Id="R0478e3661d72405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a4b697457154196" /><Relationship Type="http://schemas.openxmlformats.org/officeDocument/2006/relationships/notesMaster" Target="/ppt/notesMasters/notesMaster1.xml" Id="R0f2ea7dbb76a46d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bbf64cce22e84250" /><Relationship Type="http://schemas.openxmlformats.org/officeDocument/2006/relationships/notesMaster" Target="/ppt/notesMasters/notesMaster1.xml" Id="R250300d8b288442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eb05a907d664d4d" /><Relationship Type="http://schemas.openxmlformats.org/officeDocument/2006/relationships/notesMaster" Target="/ppt/notesMasters/notesMaster1.xml" Id="R7c896611d6e44ed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3aee799bc4c64935" /><Relationship Type="http://schemas.openxmlformats.org/officeDocument/2006/relationships/notesMaster" Target="/ppt/notesMasters/notesMaster1.xml" Id="R9570fea0a33d485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3abd2eb858a4a8b" /><Relationship Type="http://schemas.openxmlformats.org/officeDocument/2006/relationships/notesMaster" Target="/ppt/notesMasters/notesMaster1.xml" Id="Ree960413c7fa4885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7c7196d541bd4a52" /><Relationship Type="http://schemas.openxmlformats.org/officeDocument/2006/relationships/notesMaster" Target="/ppt/notesMasters/notesMaster1.xml" Id="R5b55d85404544e8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9d8d3796068b4208" /><Relationship Type="http://schemas.openxmlformats.org/officeDocument/2006/relationships/notesMaster" Target="/ppt/notesMasters/notesMaster1.xml" Id="R60696aac60e64ff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cc49bc047254aeb" /><Relationship Type="http://schemas.openxmlformats.org/officeDocument/2006/relationships/notesMaster" Target="/ppt/notesMasters/notesMaster1.xml" Id="R4b2d1ee68c884fd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61a09ea80cd4ee2" /><Relationship Type="http://schemas.openxmlformats.org/officeDocument/2006/relationships/notesMaster" Target="/ppt/notesMasters/notesMaster1.xml" Id="Rd500995048e34b48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a46a119fe8741e5" /><Relationship Type="http://schemas.openxmlformats.org/officeDocument/2006/relationships/notesMaster" Target="/ppt/notesMasters/notesMaster1.xml" Id="R4dfd834bf5924ac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6a7a58a3fe441a9" /><Relationship Type="http://schemas.openxmlformats.org/officeDocument/2006/relationships/notesMaster" Target="/ppt/notesMasters/notesMaster1.xml" Id="R4530b8b8cde34cab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f11f0e678b854760" /><Relationship Type="http://schemas.openxmlformats.org/officeDocument/2006/relationships/notesMaster" Target="/ppt/notesMasters/notesMaster1.xml" Id="Rf1c9de9e16bc460c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130212a4eb94f4b" /><Relationship Type="http://schemas.openxmlformats.org/officeDocument/2006/relationships/notesMaster" Target="/ppt/notesMasters/notesMaster1.xml" Id="R29706ed869134719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5630eb04a0ab4e1f" /><Relationship Type="http://schemas.openxmlformats.org/officeDocument/2006/relationships/notesMaster" Target="/ppt/notesMasters/notesMaster1.xml" Id="R343b415ac62e427a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3697b4b729e34eba" /><Relationship Type="http://schemas.openxmlformats.org/officeDocument/2006/relationships/notesMaster" Target="/ppt/notesMasters/notesMaster1.xml" Id="Rf1999a2231824f4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efe120475fa34e58" /><Relationship Type="http://schemas.openxmlformats.org/officeDocument/2006/relationships/notesMaster" Target="/ppt/notesMasters/notesMaster1.xml" Id="R8773e2ea6f134b3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31b9737d9a554e8c" /><Relationship Type="http://schemas.openxmlformats.org/officeDocument/2006/relationships/notesMaster" Target="/ppt/notesMasters/notesMaster1.xml" Id="R4d9b050f0db44c37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7f513d66d824039" /><Relationship Type="http://schemas.openxmlformats.org/officeDocument/2006/relationships/notesMaster" Target="/ppt/notesMasters/notesMaster1.xml" Id="Re12671e54d3d4944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5879a8bc7994fc4" /><Relationship Type="http://schemas.openxmlformats.org/officeDocument/2006/relationships/notesMaster" Target="/ppt/notesMasters/notesMaster1.xml" Id="R316fbea5be584040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08a247aa4b024d8c" /><Relationship Type="http://schemas.openxmlformats.org/officeDocument/2006/relationships/notesMaster" Target="/ppt/notesMasters/notesMaster1.xml" Id="R89ba912aa09a4885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404d004302504d6e" /><Relationship Type="http://schemas.openxmlformats.org/officeDocument/2006/relationships/notesMaster" Target="/ppt/notesMasters/notesMaster1.xml" Id="R7eeec20cecda4922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5b1322c1604d4555" /><Relationship Type="http://schemas.openxmlformats.org/officeDocument/2006/relationships/notesMaster" Target="/ppt/notesMasters/notesMaster1.xml" Id="Rd48b3b2cf17c409e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2c2c09ead0c94ccf" /><Relationship Type="http://schemas.openxmlformats.org/officeDocument/2006/relationships/notesMaster" Target="/ppt/notesMasters/notesMaster1.xml" Id="R658863c9510c4fff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91af132c1f924b11" /><Relationship Type="http://schemas.openxmlformats.org/officeDocument/2006/relationships/notesMaster" Target="/ppt/notesMasters/notesMaster1.xml" Id="Ra5e1530a052b418d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9115ae5f78d2417b" /><Relationship Type="http://schemas.openxmlformats.org/officeDocument/2006/relationships/notesMaster" Target="/ppt/notesMasters/notesMaster1.xml" Id="R4773ddd992a242a2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fefbf8784d084b66" /><Relationship Type="http://schemas.openxmlformats.org/officeDocument/2006/relationships/notesMaster" Target="/ppt/notesMasters/notesMaster1.xml" Id="R16ab55de09104ba5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7f3f902a9191466d" /><Relationship Type="http://schemas.openxmlformats.org/officeDocument/2006/relationships/notesMaster" Target="/ppt/notesMasters/notesMaster1.xml" Id="Rdc01e8d788414331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71993348c5fe46cc" /><Relationship Type="http://schemas.openxmlformats.org/officeDocument/2006/relationships/notesMaster" Target="/ppt/notesMasters/notesMaster1.xml" Id="Rf6f18cebba574737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5fdbd8bd5c2048fe" /><Relationship Type="http://schemas.openxmlformats.org/officeDocument/2006/relationships/notesMaster" Target="/ppt/notesMasters/notesMaster1.xml" Id="R9a1ac46f05524df1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0dd8a3d1f22447c4" /><Relationship Type="http://schemas.openxmlformats.org/officeDocument/2006/relationships/notesMaster" Target="/ppt/notesMasters/notesMaster1.xml" Id="Rdf5c32fa15fa4422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6107a0208ae549b5" /><Relationship Type="http://schemas.openxmlformats.org/officeDocument/2006/relationships/notesMaster" Target="/ppt/notesMasters/notesMaster1.xml" Id="R66d8e59830d94639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28e815bf4a1049a0" /><Relationship Type="http://schemas.openxmlformats.org/officeDocument/2006/relationships/notesMaster" Target="/ppt/notesMasters/notesMaster1.xml" Id="R6b9587106a73458c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97fd192c5f38480d" /><Relationship Type="http://schemas.openxmlformats.org/officeDocument/2006/relationships/notesMaster" Target="/ppt/notesMasters/notesMaster1.xml" Id="R7172f423ab6d4cc1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fc0b8be61ad4485c" /><Relationship Type="http://schemas.openxmlformats.org/officeDocument/2006/relationships/notesMaster" Target="/ppt/notesMasters/notesMaster1.xml" Id="R2126315fcd2449ba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76ada5dd47124919" /><Relationship Type="http://schemas.openxmlformats.org/officeDocument/2006/relationships/notesMaster" Target="/ppt/notesMasters/notesMaster1.xml" Id="R2b602808e0e744aa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8ea7fcb78baf46db" /><Relationship Type="http://schemas.openxmlformats.org/officeDocument/2006/relationships/notesMaster" Target="/ppt/notesMasters/notesMaster1.xml" Id="R5b25ea88c38b4a2f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7af5b7be82b44bb7" /><Relationship Type="http://schemas.openxmlformats.org/officeDocument/2006/relationships/notesMaster" Target="/ppt/notesMasters/notesMaster1.xml" Id="R89c826e455ef4e12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df8b643e8b334a49" /><Relationship Type="http://schemas.openxmlformats.org/officeDocument/2006/relationships/notesMaster" Target="/ppt/notesMasters/notesMaster1.xml" Id="Rbb686401b536421a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2669b53cf86f43de" /><Relationship Type="http://schemas.openxmlformats.org/officeDocument/2006/relationships/notesMaster" Target="/ppt/notesMasters/notesMaster1.xml" Id="R54f52b26dfd149bc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016f9824271145e5" /><Relationship Type="http://schemas.openxmlformats.org/officeDocument/2006/relationships/notesMaster" Target="/ppt/notesMasters/notesMaster1.xml" Id="R6afc08d40ee14106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a1b0a232a6e34172" /><Relationship Type="http://schemas.openxmlformats.org/officeDocument/2006/relationships/notesMaster" Target="/ppt/notesMasters/notesMaster1.xml" Id="Rc6033340cfa74891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1dabdfbacc164975" /><Relationship Type="http://schemas.openxmlformats.org/officeDocument/2006/relationships/notesMaster" Target="/ppt/notesMasters/notesMaster1.xml" Id="R5fa8a5a00b3e4157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2f9fe4e1e5a94777" /><Relationship Type="http://schemas.openxmlformats.org/officeDocument/2006/relationships/notesMaster" Target="/ppt/notesMasters/notesMaster1.xml" Id="Ra12473b563c14929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ebdaf0fe7ca8407d" /><Relationship Type="http://schemas.openxmlformats.org/officeDocument/2006/relationships/notesMaster" Target="/ppt/notesMasters/notesMaster1.xml" Id="Ra20e5aee275f42cd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d5b2c4ac29bf490c" /><Relationship Type="http://schemas.openxmlformats.org/officeDocument/2006/relationships/notesMaster" Target="/ppt/notesMasters/notesMaster1.xml" Id="Ra6f3c111074e44ce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32e7c8fe95964b60" /><Relationship Type="http://schemas.openxmlformats.org/officeDocument/2006/relationships/notesMaster" Target="/ppt/notesMasters/notesMaster1.xml" Id="R41af1f547e894c06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5d29a320e63449de" /><Relationship Type="http://schemas.openxmlformats.org/officeDocument/2006/relationships/notesMaster" Target="/ppt/notesMasters/notesMaster1.xml" Id="R9f327017232b4c86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b13e013fd8cf4cf7" /><Relationship Type="http://schemas.openxmlformats.org/officeDocument/2006/relationships/notesMaster" Target="/ppt/notesMasters/notesMaster1.xml" Id="R913e9bec80204e95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2e9f299471f94dec" /><Relationship Type="http://schemas.openxmlformats.org/officeDocument/2006/relationships/notesMaster" Target="/ppt/notesMasters/notesMaster1.xml" Id="R6d86ef53f8624f9c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7b549d2f0fcf4d9c" /><Relationship Type="http://schemas.openxmlformats.org/officeDocument/2006/relationships/notesMaster" Target="/ppt/notesMasters/notesMaster1.xml" Id="Rf2c65e96cc3b4399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0a316fe724364932" /><Relationship Type="http://schemas.openxmlformats.org/officeDocument/2006/relationships/notesMaster" Target="/ppt/notesMasters/notesMaster1.xml" Id="R3fd144bd8fb64e91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f322b844192e4dbe" /><Relationship Type="http://schemas.openxmlformats.org/officeDocument/2006/relationships/notesMaster" Target="/ppt/notesMasters/notesMaster1.xml" Id="Rc32365a06cb347b0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50603de892604c00" /><Relationship Type="http://schemas.openxmlformats.org/officeDocument/2006/relationships/notesMaster" Target="/ppt/notesMasters/notesMaster1.xml" Id="R6167de41aa5d4689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2f41a4558cd24d2e" /><Relationship Type="http://schemas.openxmlformats.org/officeDocument/2006/relationships/notesMaster" Target="/ppt/notesMasters/notesMaster1.xml" Id="Rb0c11efe459b4f75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30e51238c2ef461e" /><Relationship Type="http://schemas.openxmlformats.org/officeDocument/2006/relationships/notesMaster" Target="/ppt/notesMasters/notesMaster1.xml" Id="Rd7f0c40d7c364131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78b5edaad4a94cae" /><Relationship Type="http://schemas.openxmlformats.org/officeDocument/2006/relationships/notesMaster" Target="/ppt/notesMasters/notesMaster1.xml" Id="R0daa89a2d8af4917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73f1877b67614ef6" /><Relationship Type="http://schemas.openxmlformats.org/officeDocument/2006/relationships/notesMaster" Target="/ppt/notesMasters/notesMaster1.xml" Id="R88c54a4d79144935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42e1dc64b0ad4cf0" /><Relationship Type="http://schemas.openxmlformats.org/officeDocument/2006/relationships/notesMaster" Target="/ppt/notesMasters/notesMaster1.xml" Id="Rc9a0494e0e6d45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来源：README.md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章节导航。页码对应本版演示文稿。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第1章：模型基础与 Qwen3-VL 结构。</a:t>
            </a:r>
          </a:p>
          <a:p xmlns:a="http://schemas.openxmlformats.org/drawingml/2006/main">
            <a:r>
              <a:t>Transformer、Attention 与 KV cache</a:t>
            </a:r>
          </a:p>
          <a:p xmlns:a="http://schemas.openxmlformats.org/drawingml/2006/main">
            <a:r>
              <a:t>Qwen3-VL 的视觉编码器、DeepStack 与 MRoPE</a:t>
            </a:r>
          </a:p>
          <a:p xmlns:a="http://schemas.openxmlformats.org/drawingml/2006/main">
            <a:r>
              <a:t>模型输入输出及对应的优化位置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https://huggingface.co/Qwen/Qwen3-VL-32B-Instruct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Tokenizer处于模型外的预处理，LM Head属于模型，采样属于生成逻辑。token不等同于一个汉字或单词。这里只讲本项目相关的decoder-only架构，其他模型可使用encoder-decoder等结构。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大模型的基本计算链</a:t>
            </a:r>
          </a:p>
          <a:p xmlns:a="http://schemas.openxmlformats.org/drawingml/2006/main">
            <a:r>
              <a:t>以常见的 decoder-only Transformer 为例</a:t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环节</a:t>
            </a:r>
          </a:p>
          <a:p xmlns:a="http://schemas.openxmlformats.org/drawingml/2006/main">
            <a:r>
              <a:t>输入与输出</a:t>
            </a:r>
          </a:p>
          <a:p xmlns:a="http://schemas.openxmlformats.org/drawingml/2006/main">
            <a:r>
              <a:t>功能</a:t>
            </a:r>
          </a:p>
          <a:p xmlns:a="http://schemas.openxmlformats.org/drawingml/2006/main">
            <a:r>
              <a:t>Tokenizer 与 Embedding</a:t>
            </a:r>
          </a:p>
          <a:p xmlns:a="http://schemas.openxmlformats.org/drawingml/2006/main">
            <a:r>
              <a:t>文字 / token ID / 向量</a:t>
            </a:r>
          </a:p>
          <a:p xmlns:a="http://schemas.openxmlformats.org/drawingml/2006/main">
            <a:r>
              <a:t>分词，并查表得到每个 token 的表示</a:t>
            </a:r>
          </a:p>
          <a:p xmlns:a="http://schemas.openxmlformats.org/drawingml/2006/main">
            <a:r>
              <a:t>重复的 Transformer 层</a:t>
            </a:r>
          </a:p>
          <a:p xmlns:a="http://schemas.openxmlformats.org/drawingml/2006/main">
            <a:r>
              <a:t>一组向量 / 更新后的向量</a:t>
            </a:r>
          </a:p>
          <a:p xmlns:a="http://schemas.openxmlformats.org/drawingml/2006/main">
            <a:r>
              <a:t>结合上下文，逐层提取和变换特征</a:t>
            </a:r>
          </a:p>
          <a:p xmlns:a="http://schemas.openxmlformats.org/drawingml/2006/main">
            <a:r>
              <a:t>最终 Norm 与 LM Head</a:t>
            </a:r>
          </a:p>
          <a:p xmlns:a="http://schemas.openxmlformats.org/drawingml/2006/main">
            <a:r>
              <a:t>隐藏向量 / 词表 logits</a:t>
            </a:r>
          </a:p>
          <a:p xmlns:a="http://schemas.openxmlformats.org/drawingml/2006/main">
            <a:r>
              <a:t>给候选下一个 token 打分</a:t>
            </a:r>
          </a:p>
          <a:p xmlns:a="http://schemas.openxmlformats.org/drawingml/2006/main">
            <a:r>
              <a:t>采样与 Detokenizer</a:t>
            </a:r>
          </a:p>
          <a:p xmlns:a="http://schemas.openxmlformats.org/drawingml/2006/main">
            <a:r>
              <a:t>token ID / 可读文字</a:t>
            </a:r>
          </a:p>
          <a:p xmlns:a="http://schemas.openxmlformats.org/drawingml/2006/main">
            <a:r>
              <a:t>选择 token，持续生成并还原文本</a:t>
            </a:r>
          </a:p>
          <a:p xmlns:a="http://schemas.openxmlformats.org/drawingml/2006/main">
            <a:r>
              <a:t>每次预测下一个 token。完整回答由多次自回归预测组成。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本项目语言侧使用RMSNorm和SwiGLU。Norm在两个子层前各出现一次，残差也各出现一次。Residual是训练优化和信息流的重要机制，不是绕过本层计算。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一个 Transformer 层的组成</a:t>
            </a:r>
          </a:p>
          <a:p xmlns:a="http://schemas.openxmlformats.org/drawingml/2006/main">
            <a:r>
              <a:t>常见 pre-norm 稠密解码器，以下按计算顺序排列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组件</a:t>
            </a:r>
          </a:p>
          <a:p xmlns:a="http://schemas.openxmlformats.org/drawingml/2006/main">
            <a:r>
              <a:t>主要功能</a:t>
            </a:r>
          </a:p>
          <a:p xmlns:a="http://schemas.openxmlformats.org/drawingml/2006/main">
            <a:r>
              <a:t>对推理性能的影响</a:t>
            </a:r>
          </a:p>
          <a:p xmlns:a="http://schemas.openxmlformats.org/drawingml/2006/main">
            <a:r>
              <a:t>RMSNorm / LayerNorm</a:t>
            </a:r>
          </a:p>
          <a:p xmlns:a="http://schemas.openxmlformats.org/drawingml/2006/main">
            <a:r>
              <a:t>调整特征尺度，稳定后续计算</a:t>
            </a:r>
          </a:p>
          <a:p xmlns:a="http://schemas.openxmlformats.org/drawingml/2006/main">
            <a:r>
              <a:t>小算子较多，适合检查融合机会</a:t>
            </a:r>
          </a:p>
          <a:p xmlns:a="http://schemas.openxmlformats.org/drawingml/2006/main">
            <a:r>
              <a:t>Self-Attention</a:t>
            </a:r>
          </a:p>
          <a:p xmlns:a="http://schemas.openxmlformats.org/drawingml/2006/main">
            <a:r>
              <a:t>让当前 token 读取可见上下文</a:t>
            </a:r>
          </a:p>
          <a:p xmlns:a="http://schemas.openxmlformats.org/drawingml/2006/main">
            <a:r>
              <a:t>需要 KV cache，涉及 token 间交互</a:t>
            </a:r>
          </a:p>
          <a:p xmlns:a="http://schemas.openxmlformats.org/drawingml/2006/main">
            <a:r>
              <a:t>Residual 残差相加</a:t>
            </a:r>
          </a:p>
          <a:p xmlns:a="http://schemas.openxmlformats.org/drawingml/2006/main">
            <a:r>
              <a:t>保留原表示，叠加本层更新</a:t>
            </a:r>
          </a:p>
          <a:p xmlns:a="http://schemas.openxmlformats.org/drawingml/2006/main">
            <a:r>
              <a:t>增加读写，可与邻近操作融合</a:t>
            </a:r>
          </a:p>
          <a:p xmlns:a="http://schemas.openxmlformats.org/drawingml/2006/main">
            <a:r>
              <a:t>FFN / MLP 与残差</a:t>
            </a:r>
          </a:p>
          <a:p xmlns:a="http://schemas.openxmlformats.org/drawingml/2006/main">
            <a:r>
              <a:t>逐 token 非线性特征变换</a:t>
            </a:r>
          </a:p>
          <a:p xmlns:a="http://schemas.openxmlformats.org/drawingml/2006/main">
            <a:r>
              <a:t>大矩阵乘法，权重与计算占比较大</a:t>
            </a:r>
          </a:p>
          <a:p xmlns:a="http://schemas.openxmlformats.org/drawingml/2006/main">
            <a:r>
              <a:t>典型顺序：Norm、Attention、残差，再执行 Norm、FFN、残差。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公式省略多头拼接、数值稳定处理和实现细节。现代FlashAttention等实现不要求将完整N×N注意力矩阵物化到HBM。Qwen语言侧Q/K先执行每头RMSNorm，再应用MRoPE。位置不是直接拼到embedding里的额外token。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Attention 如何读取上下文</a:t>
            </a:r>
          </a:p>
          <a:p xmlns:a="http://schemas.openxmlformats.org/drawingml/2006/main">
            <a:r>
              <a:t>Q 是当前查询，K 是匹配索引，V 是要汇总的信息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1  用线性投影得到 Q、K、V，再为 Q / K 加入位置信息。</a:t>
            </a:r>
          </a:p>
          <a:p xmlns:a="http://schemas.openxmlformats.org/drawingml/2006/main">
            <a:r>
              <a:t>2  Q 与可见的 K 计算相似度，经过 mask 和 softmax。</a:t>
            </a:r>
          </a:p>
          <a:p xmlns:a="http://schemas.openxmlformats.org/drawingml/2006/main">
            <a:r>
              <a:t>3  用注意力权重加权汇总 V，经过输出投影。</a:t>
            </a:r>
          </a:p>
          <a:p xmlns:a="http://schemas.openxmlformats.org/drawingml/2006/main">
            <a:r>
              <a:t>4  因果 mask 限制每个 token 只读取自己和之前的位置。</a:t>
            </a:r>
          </a:p>
          <a:p xmlns:a="http://schemas.openxmlformats.org/drawingml/2006/main">
            <a:r>
              <a:t>Attention(Q,K,V) = softmax(QKᵀ / √d + mask)V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https://huggingface.co/Qwen/Qwen3-VL-32B-Instruct/blob/main/config.json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SwiGLU形式为down(SiLU(gate(x))*up(x))。稠密FFN每个token使用完整FFN的逻辑权重。GQA与MoE、GDN不是同义概念。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FFN、GQA 与 KV cache</a:t>
            </a:r>
          </a:p>
          <a:p xmlns:a="http://schemas.openxmlformats.org/drawingml/2006/main">
            <a:r>
              <a:t>三个概念分别涉及特征变换、头的组织和推理状态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概念</a:t>
            </a:r>
          </a:p>
          <a:p xmlns:a="http://schemas.openxmlformats.org/drawingml/2006/main">
            <a:r>
              <a:t>工作方式</a:t>
            </a:r>
          </a:p>
          <a:p xmlns:a="http://schemas.openxmlformats.org/drawingml/2006/main">
            <a:r>
              <a:t>作用与代价</a:t>
            </a:r>
          </a:p>
          <a:p xmlns:a="http://schemas.openxmlformats.org/drawingml/2006/main">
            <a:r>
              <a:t>SwiGLU FFN</a:t>
            </a:r>
          </a:p>
          <a:p xmlns:a="http://schemas.openxmlformats.org/drawingml/2006/main">
            <a:r>
              <a:t>gate / up 投影，经 SiLU 门控</a:t>
            </a:r>
          </a:p>
          <a:p xmlns:a="http://schemas.openxmlformats.org/drawingml/2006/main">
            <a:r>
              <a:t>再由 down 投影回隐藏维度</a:t>
            </a:r>
          </a:p>
          <a:p xmlns:a="http://schemas.openxmlformats.org/drawingml/2006/main">
            <a:r>
              <a:t>逐 token 变换特征</a:t>
            </a:r>
          </a:p>
          <a:p xmlns:a="http://schemas.openxmlformats.org/drawingml/2006/main">
            <a:r>
              <a:t>权重大，适合 TP</a:t>
            </a:r>
          </a:p>
          <a:p xmlns:a="http://schemas.openxmlformats.org/drawingml/2006/main">
            <a:r>
              <a:t>GQA 分组查询注意力</a:t>
            </a:r>
          </a:p>
          <a:p xmlns:a="http://schemas.openxmlformats.org/drawingml/2006/main">
            <a:r>
              <a:t>多个 Q 头共享一组 K / V 头</a:t>
            </a:r>
          </a:p>
          <a:p xmlns:a="http://schemas.openxmlformats.org/drawingml/2006/main">
            <a:r>
              <a:t>降低 KV 存储与读取量</a:t>
            </a:r>
          </a:p>
          <a:p xmlns:a="http://schemas.openxmlformats.org/drawingml/2006/main">
            <a:r>
              <a:t>属于模型结构设计</a:t>
            </a:r>
          </a:p>
          <a:p xmlns:a="http://schemas.openxmlformats.org/drawingml/2006/main">
            <a:r>
              <a:t>KV cache</a:t>
            </a:r>
          </a:p>
          <a:p xmlns:a="http://schemas.openxmlformats.org/drawingml/2006/main">
            <a:r>
              <a:t>逐层保存历史 token 的 K / V</a:t>
            </a:r>
          </a:p>
          <a:p xmlns:a="http://schemas.openxmlformats.org/drawingml/2006/main">
            <a:r>
              <a:t>decode 时追加新位置</a:t>
            </a:r>
          </a:p>
          <a:p xmlns:a="http://schemas.openxmlformats.org/drawingml/2006/main">
            <a:r>
              <a:t>避免反复计算历史 K / V</a:t>
            </a:r>
          </a:p>
          <a:p xmlns:a="http://schemas.openxmlformats.org/drawingml/2006/main">
            <a:r>
              <a:t>显存随上下文与并发增长</a:t>
            </a:r>
          </a:p>
          <a:p xmlns:a="http://schemas.openxmlformats.org/drawingml/2006/main">
            <a:r>
              <a:t>KV cache 保存中间状态，不是模型权重，也不是最终回答缓存。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带宽或计算瓶颈是常见趋势，不是本项目硬件计数器结论。连续批处理和chunked prefill可改变负载形态。TTFT包含排队、预处理等；模型耗时不等于完整服务耗时。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Prefill 与 Decode 的负载差异</a:t>
            </a:r>
          </a:p>
          <a:p xmlns:a="http://schemas.openxmlformats.org/drawingml/2006/main">
            <a:r>
              <a:t>同一个模型在两个阶段会呈现不同瓶颈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阶段</a:t>
            </a:r>
          </a:p>
          <a:p xmlns:a="http://schemas.openxmlformats.org/drawingml/2006/main">
            <a:r>
              <a:t>执行内容</a:t>
            </a:r>
          </a:p>
          <a:p xmlns:a="http://schemas.openxmlformats.org/drawingml/2006/main">
            <a:r>
              <a:t>常见关注点</a:t>
            </a:r>
          </a:p>
          <a:p xmlns:a="http://schemas.openxmlformats.org/drawingml/2006/main">
            <a:r>
              <a:t>Prefill</a:t>
            </a:r>
          </a:p>
          <a:p xmlns:a="http://schemas.openxmlformats.org/drawingml/2006/main">
            <a:r>
              <a:t>处理输入中的多个新 token</a:t>
            </a:r>
          </a:p>
          <a:p xmlns:a="http://schemas.openxmlformats.org/drawingml/2006/main">
            <a:r>
              <a:t>建立各层 KV cache</a:t>
            </a:r>
          </a:p>
          <a:p xmlns:a="http://schemas.openxmlformats.org/drawingml/2006/main">
            <a:r>
              <a:t>大批矩阵计算、长序列 attention</a:t>
            </a:r>
          </a:p>
          <a:p xmlns:a="http://schemas.openxmlformats.org/drawingml/2006/main">
            <a:r>
              <a:t>多模态还包含视觉编码</a:t>
            </a:r>
          </a:p>
          <a:p xmlns:a="http://schemas.openxmlformats.org/drawingml/2006/main">
            <a:r>
              <a:t>Decode</a:t>
            </a:r>
          </a:p>
          <a:p xmlns:a="http://schemas.openxmlformats.org/drawingml/2006/main">
            <a:r>
              <a:t>每个请求每步通常生成 1 个 token</a:t>
            </a:r>
          </a:p>
          <a:p xmlns:a="http://schemas.openxmlformats.org/drawingml/2006/main">
            <a:r>
              <a:t>读取历史 KV，并追加新 KV</a:t>
            </a:r>
          </a:p>
          <a:p xmlns:a="http://schemas.openxmlformats.org/drawingml/2006/main">
            <a:r>
              <a:t>权重与 KV 读取、launch 开销</a:t>
            </a:r>
          </a:p>
          <a:p xmlns:a="http://schemas.openxmlformats.org/drawingml/2006/main">
            <a:r>
              <a:t>通信等待、小 batch 利用率</a:t>
            </a:r>
          </a:p>
          <a:p xmlns:a="http://schemas.openxmlformats.org/drawingml/2006/main">
            <a:r>
              <a:t>服务端调度</a:t>
            </a:r>
          </a:p>
          <a:p xmlns:a="http://schemas.openxmlformats.org/drawingml/2006/main">
            <a:r>
              <a:t>组织多个请求进入同一批次</a:t>
            </a:r>
          </a:p>
          <a:p xmlns:a="http://schemas.openxmlformats.org/drawingml/2006/main">
            <a:r>
              <a:t>管理队列和 KV 空间</a:t>
            </a:r>
          </a:p>
          <a:p xmlns:a="http://schemas.openxmlformats.org/drawingml/2006/main">
            <a:r>
              <a:t>吞吐与延迟权衡</a:t>
            </a:r>
          </a:p>
          <a:p xmlns:a="http://schemas.openxmlformats.org/drawingml/2006/main">
            <a:r>
              <a:t>长 prefill 对 decode 的干扰</a:t>
            </a:r>
          </a:p>
          <a:p xmlns:a="http://schemas.openxmlformats.org/drawingml/2006/main">
            <a:r>
              <a:t>TTFT 衡量首 token 等待，TPOT 衡量后续 token 间隔，吞吐衡量整体产出。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https://arxiv.org/html/2511.21631v1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这是组件和数据接口表。普通路径用最后视觉特征经主merger替换输入序列的视觉占位embedding。DeepStack将额外merger输出加到前三个语言层的视觉位置隐藏状态，属于加法注入，不是额外的cross-attention层。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Qwen3-VL-32B 的整体结构</a:t>
            </a:r>
          </a:p>
          <a:p xmlns:a="http://schemas.openxmlformats.org/drawingml/2006/main">
            <a:r>
              <a:t>视觉编码器、Merger 和稠密语言解码器共同完成图文理解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>分支 / 模块</a:t>
            </a:r>
          </a:p>
          <a:p xmlns:a="http://schemas.openxmlformats.org/drawingml/2006/main">
            <a:r>
              <a:t>主要处理</a:t>
            </a:r>
          </a:p>
          <a:p xmlns:a="http://schemas.openxmlformats.org/drawingml/2006/main">
            <a:r>
              <a:t>交给后续的内容</a:t>
            </a:r>
          </a:p>
          <a:p xmlns:a="http://schemas.openxmlformats.org/drawingml/2006/main">
            <a:r>
              <a:t>文本分支</a:t>
            </a:r>
          </a:p>
          <a:p xmlns:a="http://schemas.openxmlformats.org/drawingml/2006/main">
            <a:r>
              <a:t>聊天模板、分词、Embedding</a:t>
            </a:r>
          </a:p>
          <a:p xmlns:a="http://schemas.openxmlformats.org/drawingml/2006/main">
            <a:r>
              <a:t>文本 token 向量</a:t>
            </a:r>
          </a:p>
          <a:p xmlns:a="http://schemas.openxmlformats.org/drawingml/2006/main">
            <a:r>
              <a:t>视觉编码器 ViT</a:t>
            </a:r>
          </a:p>
          <a:p xmlns:a="http://schemas.openxmlformats.org/drawingml/2006/main">
            <a:r>
              <a:t>图像 / 视频帧的 patch 编码</a:t>
            </a:r>
          </a:p>
          <a:p xmlns:a="http://schemas.openxmlformats.org/drawingml/2006/main">
            <a:r>
              <a:t>最终特征和多层中间特征</a:t>
            </a:r>
          </a:p>
          <a:p xmlns:a="http://schemas.openxmlformats.org/drawingml/2006/main">
            <a:r>
              <a:t>Merger 与 DeepStack</a:t>
            </a:r>
          </a:p>
          <a:p xmlns:a="http://schemas.openxmlformats.org/drawingml/2006/main">
            <a:r>
              <a:t>空间压缩、维度对齐</a:t>
            </a:r>
          </a:p>
          <a:p xmlns:a="http://schemas.openxmlformats.org/drawingml/2006/main">
            <a:r>
              <a:t>多层视觉特征注入</a:t>
            </a:r>
          </a:p>
          <a:p xmlns:a="http://schemas.openxmlformats.org/drawingml/2006/main">
            <a:r>
              <a:t>5120 维视觉 token</a:t>
            </a:r>
          </a:p>
          <a:p xmlns:a="http://schemas.openxmlformats.org/drawingml/2006/main">
            <a:r>
              <a:t>前 3 个语言层的补充特征</a:t>
            </a:r>
          </a:p>
          <a:p xmlns:a="http://schemas.openxmlformats.org/drawingml/2006/main">
            <a:r>
              <a:t>语言解码器与 LM Head</a:t>
            </a:r>
          </a:p>
          <a:p xmlns:a="http://schemas.openxmlformats.org/drawingml/2006/main">
            <a:r>
              <a:t>统一处理图文序列</a:t>
            </a:r>
          </a:p>
          <a:p xmlns:a="http://schemas.openxmlformats.org/drawingml/2006/main">
            <a:r>
              <a:t>逐 token 生成</a:t>
            </a:r>
          </a:p>
          <a:p xmlns:a="http://schemas.openxmlformats.org/drawingml/2006/main">
            <a:r>
              <a:t>文本、代码或结构化文本</a:t>
            </a:r>
          </a:p>
          <a:p xmlns:a="http://schemas.openxmlformats.org/drawingml/2006/main">
            <a:r>
              <a:t>视觉 token 与文本 token 进入同一条语言序列，额外保留多层视觉信息。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https://huggingface.co/Qwen/Qwen3-VL-32B-Instruct/blob/main/config.json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head_dim是独立配置，64×128=8192，不应强行等同hidden_size5120。Q投影输出8192，K/V各1024，O投影回5120。DeepStack索引为代码中从0开始的block索引。原生最大位置配置262144，本项目服务限制32768。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https://huggingface.co/Qwen/Qwen3-VL-32B-Instruct</a:t>
            </a:r>
          </a:p>
          <a:p xmlns:a="http://schemas.openxmlformats.org/drawingml/2006/main">
            <a:r>
              <a:t>https://arxiv.org/html/2511.21631v1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这里描述结构设计动机，不把原生模型质量提升归因于本项目运行时补丁，也不把全部纯文本LLM当成一种完全固定的结构。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与常规纯文本大模型的区别</a:t>
            </a:r>
          </a:p>
          <a:p xmlns:a="http://schemas.openxmlformats.org/drawingml/2006/main">
            <a:r>
              <a:t>这里的比较对象是常见稠密、因果 decoder-only LLM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>区别</a:t>
            </a:r>
          </a:p>
          <a:p xmlns:a="http://schemas.openxmlformats.org/drawingml/2006/main">
            <a:r>
              <a:t>为什么需要</a:t>
            </a:r>
          </a:p>
          <a:p xmlns:a="http://schemas.openxmlformats.org/drawingml/2006/main">
            <a:r>
              <a:t>增加的工程工作</a:t>
            </a:r>
          </a:p>
          <a:p xmlns:a="http://schemas.openxmlformats.org/drawingml/2006/main">
            <a:r>
              <a:t>新增视觉编码器与 Merger</a:t>
            </a:r>
          </a:p>
          <a:p xmlns:a="http://schemas.openxmlformats.org/drawingml/2006/main">
            <a:r>
              <a:t>像素无法直接当作文字 token</a:t>
            </a:r>
          </a:p>
          <a:p xmlns:a="http://schemas.openxmlformats.org/drawingml/2006/main">
            <a:r>
              <a:t>需要提取并压缩视觉特征</a:t>
            </a:r>
          </a:p>
          <a:p xmlns:a="http://schemas.openxmlformats.org/drawingml/2006/main">
            <a:r>
              <a:t>图像解码、预处理与 GPU 搬运</a:t>
            </a:r>
          </a:p>
          <a:p xmlns:a="http://schemas.openxmlformats.org/drawingml/2006/main">
            <a:r>
              <a:t>多维位置与视频时间戳</a:t>
            </a:r>
          </a:p>
          <a:p xmlns:a="http://schemas.openxmlformats.org/drawingml/2006/main">
            <a:r>
              <a:t>表达空间位置与事件时间</a:t>
            </a:r>
          </a:p>
          <a:p xmlns:a="http://schemas.openxmlformats.org/drawingml/2006/main">
            <a:r>
              <a:t>维护 t / h / w 和帧时间信息</a:t>
            </a:r>
          </a:p>
          <a:p xmlns:a="http://schemas.openxmlformats.org/drawingml/2006/main">
            <a:r>
              <a:t>DeepStack 多层特征</a:t>
            </a:r>
          </a:p>
          <a:p xmlns:a="http://schemas.openxmlformats.org/drawingml/2006/main">
            <a:r>
              <a:t>保留细节与高层语义</a:t>
            </a:r>
          </a:p>
          <a:p xmlns:a="http://schemas.openxmlformats.org/drawingml/2006/main">
            <a:r>
              <a:t>减少单次视觉注入的信息损失</a:t>
            </a:r>
          </a:p>
          <a:p xmlns:a="http://schemas.openxmlformats.org/drawingml/2006/main">
            <a:r>
              <a:t>维护额外特征及其对应位置</a:t>
            </a:r>
          </a:p>
          <a:p xmlns:a="http://schemas.openxmlformats.org/drawingml/2006/main">
            <a:r>
              <a:t>动态视觉 token 数</a:t>
            </a:r>
          </a:p>
          <a:p xmlns:a="http://schemas.openxmlformats.org/drawingml/2006/main">
            <a:r>
              <a:t>兼顾不同尺寸和长宽比</a:t>
            </a:r>
          </a:p>
          <a:p xmlns:a="http://schemas.openxmlformats.org/drawingml/2006/main">
            <a:r>
              <a:t>batch、padding、缓存与图捕获</a:t>
            </a:r>
          </a:p>
          <a:p xmlns:a="http://schemas.openxmlformats.org/drawingml/2006/main">
            <a:r>
              <a:t>GQA、RMSNorm、SwiGLU 也用于纯文本 LLM，并非 VL 独有设计。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https://arxiv.org/html/2511.21631v1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https://huggingface.co/Qwen/Qwen3-VL-32B-Instruct/blob/main/config.json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空间合并不是无损压缩。DeepStack帮助利用不同层的表征，但不能简单说完全恢复压缩丢失信息。输入token数固定时，加法注入不增加序列长度；中间特征和merger仍有计算、显存、传输成本。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视觉压缩与 DeepStack 的设计取舍</a:t>
            </a:r>
          </a:p>
          <a:p xmlns:a="http://schemas.openxmlformats.org/drawingml/2006/main">
            <a:r>
              <a:t>更少的序列 token，同时保留不同层次的视觉信息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空间合并：将相邻 2×2 视觉特征合为 1 个语言侧视觉 token。</a:t>
            </a:r>
          </a:p>
          <a:p xmlns:a="http://schemas.openxmlformats.org/drawingml/2006/main">
            <a:r>
              <a:t>直接收益：减少语言序列长度，降低后续计算和 KV 存储压力。</a:t>
            </a:r>
          </a:p>
          <a:p xmlns:a="http://schemas.openxmlformats.org/drawingml/2006/main">
            <a:r>
              <a:t>DeepStack：对 3 个 ViT 中间层分别做合并与投影。</a:t>
            </a:r>
          </a:p>
          <a:p xmlns:a="http://schemas.openxmlformats.org/drawingml/2006/main">
            <a:r>
              <a:t>注入方式：把特征加到前 3 个语言层对应的视觉位置上。</a:t>
            </a:r>
          </a:p>
          <a:p xmlns:a="http://schemas.openxmlformats.org/drawingml/2006/main">
            <a:r>
              <a:t>DeepStack 增加特征处理，但不会把这 3 路特征再拼成 3 倍序列。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https://arxiv.org/html/2511.21631v1</a:t>
            </a:r>
          </a:p>
          <a:p xmlns:a="http://schemas.openxmlformats.org/drawingml/2006/main">
            <a:r>
              <a:t>https://huggingface.co/Qwen/Qwen3-VL-32B-Instruct</a:t>
            </a:r>
          </a:p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h表示height，w表示width。时间戳示例是概念示意，实际序列化格式由processor决定。MRoPE仍保留时间轴，文本时间戳并未取消时间位置。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MRoPE 与视频时间戳的不同职责</a:t>
            </a:r>
          </a:p>
          <a:p xmlns:a="http://schemas.openxmlformats.org/drawingml/2006/main">
            <a:r>
              <a:t>空间和顺序坐标，与真实时间信息共同帮助多模态理解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>机制</a:t>
            </a:r>
          </a:p>
          <a:p xmlns:a="http://schemas.openxmlformats.org/drawingml/2006/main">
            <a:r>
              <a:t>解决的问题</a:t>
            </a:r>
          </a:p>
          <a:p xmlns:a="http://schemas.openxmlformats.org/drawingml/2006/main">
            <a:r>
              <a:t>示例</a:t>
            </a:r>
          </a:p>
          <a:p xmlns:a="http://schemas.openxmlformats.org/drawingml/2006/main">
            <a:r>
              <a:t>多维 MRoPE</a:t>
            </a:r>
          </a:p>
          <a:p xmlns:a="http://schemas.openxmlformats.org/drawingml/2006/main">
            <a:r>
              <a:t>区分时间、行、列位置</a:t>
            </a:r>
          </a:p>
          <a:p xmlns:a="http://schemas.openxmlformats.org/drawingml/2006/main">
            <a:r>
              <a:t>支持图文混排</a:t>
            </a:r>
          </a:p>
          <a:p xmlns:a="http://schemas.openxmlformats.org/drawingml/2006/main">
            <a:r>
              <a:t>同一帧不同 patch</a:t>
            </a:r>
          </a:p>
          <a:p xmlns:a="http://schemas.openxmlformats.org/drawingml/2006/main">
            <a:r>
              <a:t>具有不同 h / w 坐标</a:t>
            </a:r>
          </a:p>
          <a:p xmlns:a="http://schemas.openxmlformats.org/drawingml/2006/main">
            <a:r>
              <a:t>Interleaved MRoPE</a:t>
            </a:r>
          </a:p>
          <a:p xmlns:a="http://schemas.openxmlformats.org/drawingml/2006/main">
            <a:r>
              <a:t>平衡各坐标轴使用的旋转频率</a:t>
            </a:r>
          </a:p>
          <a:p xmlns:a="http://schemas.openxmlformats.org/drawingml/2006/main">
            <a:r>
              <a:t>改善长范围位置表达</a:t>
            </a:r>
          </a:p>
          <a:p xmlns:a="http://schemas.openxmlformats.org/drawingml/2006/main">
            <a:r>
              <a:t>t / h / w 交错分配频率</a:t>
            </a:r>
          </a:p>
          <a:p xmlns:a="http://schemas.openxmlformats.org/drawingml/2006/main">
            <a:r>
              <a:t>仍需维护三轴位置张量</a:t>
            </a:r>
          </a:p>
          <a:p xmlns:a="http://schemas.openxmlformats.org/drawingml/2006/main">
            <a:r>
              <a:t>文本时间戳</a:t>
            </a:r>
          </a:p>
          <a:p xmlns:a="http://schemas.openxmlformats.org/drawingml/2006/main">
            <a:r>
              <a:t>明确视频事件发生的时间</a:t>
            </a:r>
          </a:p>
          <a:p xmlns:a="http://schemas.openxmlformats.org/drawingml/2006/main">
            <a:r>
              <a:t>降低对特定采样帧率的依赖</a:t>
            </a:r>
          </a:p>
          <a:p xmlns:a="http://schemas.openxmlformats.org/drawingml/2006/main">
            <a:r>
              <a:t>在视觉片段前放置</a:t>
            </a:r>
          </a:p>
          <a:p xmlns:a="http://schemas.openxmlformats.org/drawingml/2006/main">
            <a:r>
              <a:t>例如 &lt;3.0 seconds&gt; 的文本</a:t>
            </a:r>
          </a:p>
          <a:p xmlns:a="http://schemas.openxmlformats.org/drawingml/2006/main">
            <a:r>
              <a:t>后面的补齐问题来自三轴位置张量的维度处理，不是 MRoPE 算法失效。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https://huggingface.co/Qwen/Qwen3-VL-32B-Instruct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JSON和坐标也是文本token输出，是否满足schema还需服务端约束或校验。模型forward可返回其他诊断状态，表中只列推理主路径。SGLang常将请求打包为无batch维的token张量，不能把Transformers的[B,S]形状直接套用到所有后端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模型的输入与输出</a:t>
            </a:r>
          </a:p>
          <a:p xmlns:a="http://schemas.openxmlformats.org/drawingml/2006/main">
            <a:r>
              <a:t>用户请求、模型张量和最终响应属于不同接口层次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>接口层</a:t>
            </a:r>
          </a:p>
          <a:p xmlns:a="http://schemas.openxmlformats.org/drawingml/2006/main">
            <a:r>
              <a:t>输入</a:t>
            </a:r>
          </a:p>
          <a:p xmlns:a="http://schemas.openxmlformats.org/drawingml/2006/main">
            <a:r>
              <a:t>输出</a:t>
            </a:r>
          </a:p>
          <a:p xmlns:a="http://schemas.openxmlformats.org/drawingml/2006/main">
            <a:r>
              <a:t>用户 / 服务 API</a:t>
            </a:r>
          </a:p>
          <a:p xmlns:a="http://schemas.openxmlformats.org/drawingml/2006/main">
            <a:r>
              <a:t>文本、多图、视频</a:t>
            </a:r>
          </a:p>
          <a:p xmlns:a="http://schemas.openxmlformats.org/drawingml/2006/main">
            <a:r>
              <a:t>生成长度与采样参数</a:t>
            </a:r>
          </a:p>
          <a:p xmlns:a="http://schemas.openxmlformats.org/drawingml/2006/main">
            <a:r>
              <a:t>自然语言、代码、JSON 等文本</a:t>
            </a:r>
          </a:p>
          <a:p xmlns:a="http://schemas.openxmlformats.org/drawingml/2006/main">
            <a:r>
              <a:t>Processor / 模型输入</a:t>
            </a:r>
          </a:p>
          <a:p xmlns:a="http://schemas.openxmlformats.org/drawingml/2006/main">
            <a:r>
              <a:t>input_ids、pixel_values</a:t>
            </a:r>
          </a:p>
          <a:p xmlns:a="http://schemas.openxmlformats.org/drawingml/2006/main">
            <a:r>
              <a:t>视觉 grid、位置与 mask</a:t>
            </a:r>
          </a:p>
          <a:p xmlns:a="http://schemas.openxmlformats.org/drawingml/2006/main">
            <a:r>
              <a:t>文本和视觉的统一隐藏表示</a:t>
            </a:r>
          </a:p>
          <a:p xmlns:a="http://schemas.openxmlformats.org/drawingml/2006/main">
            <a:r>
              <a:t>模型 forward</a:t>
            </a:r>
          </a:p>
          <a:p xmlns:a="http://schemas.openxmlformats.org/drawingml/2006/main">
            <a:r>
              <a:t>隐藏状态与已有 KV cache</a:t>
            </a:r>
          </a:p>
          <a:p xmlns:a="http://schemas.openxmlformats.org/drawingml/2006/main">
            <a:r>
              <a:t>词表 logits</a:t>
            </a:r>
          </a:p>
          <a:p xmlns:a="http://schemas.openxmlformats.org/drawingml/2006/main">
            <a:r>
              <a:t>更新后的 KV 状态</a:t>
            </a:r>
          </a:p>
          <a:p xmlns:a="http://schemas.openxmlformats.org/drawingml/2006/main">
            <a:r>
              <a:t>生成循环</a:t>
            </a:r>
          </a:p>
          <a:p xmlns:a="http://schemas.openxmlformats.org/drawingml/2006/main">
            <a:r>
              <a:t>下一 token 的 logits</a:t>
            </a:r>
          </a:p>
          <a:p xmlns:a="http://schemas.openxmlformats.org/drawingml/2006/main">
            <a:r>
              <a:t>采样 token ID，解码并流式返回</a:t>
            </a:r>
          </a:p>
          <a:p xmlns:a="http://schemas.openxmlformats.org/drawingml/2006/main">
            <a:r>
              <a:t>Qwen3-VL 是图像 / 视频理解并生成文本的模型，不提供原生图像生成头。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https://huggingface.co/Qwen/Qwen3-VL-32B-Instruct/blob/main/config.json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教学算例，不是新一次实测。temporal_patch_size=2时静态图通过复制帧满足patch输入，temporal grid仍为1。实际processor会按像素预算调整尺寸，因此不能只看原始文件分辨率。视觉token数是grid_t×grid_h×grid_w/4，不含special tokens和视频时间戳。1024平方图的float32展开patch输入4096×(3×2×16×16)×4字节=24MiB，对应后续IPC案例的对象。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一张 1024×1024 图片的 token 示例</a:t>
            </a:r>
          </a:p>
          <a:p xmlns:a="http://schemas.openxmlformats.org/drawingml/2006/main">
            <a:r>
              <a:t>假设预处理后尺寸保持 1024×1024，只计算视觉部分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>1  patch 边长 16：得到 64×64 个空间 patch。</a:t>
            </a:r>
          </a:p>
          <a:p xmlns:a="http://schemas.openxmlformats.org/drawingml/2006/main">
            <a:r>
              <a:t>2  静态图片的 temporal grid 为 1，共 4096 个视觉 patch。</a:t>
            </a:r>
          </a:p>
          <a:p xmlns:a="http://schemas.openxmlformats.org/drawingml/2006/main">
            <a:r>
              <a:t>3  Merger 按 2×2 合并：得到 32×32，即 1024 个视觉 token。</a:t>
            </a:r>
          </a:p>
          <a:p xmlns:a="http://schemas.openxmlformats.org/drawingml/2006/main">
            <a:r>
              <a:t>4  再加入文本、视觉边界等 token，进入语言模型 prefill。</a:t>
            </a:r>
          </a:p>
          <a:p xmlns:a="http://schemas.openxmlformats.org/drawingml/2006/main">
            <a:r>
              <a:t>输入更大或视频帧更多时，视觉 token 数会增长，影响 TTFT 和 KV 占用。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新增解释不构成新的实验。DeepStack与Merger本身是模型原生设计，本项目没有重新设计或训练这些模块。后续章节分别标明已部署与实验候选。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第2章：模型并行与 DP Attention。</a:t>
            </a:r>
          </a:p>
          <a:p xmlns:a="http://schemas.openxmlformats.org/drawingml/2006/main">
            <a:r>
              <a:t>TP、PP、DP、SP / CP 与 EP 的切分位置</a:t>
            </a:r>
          </a:p>
          <a:p xmlns:a="http://schemas.openxmlformats.org/drawingml/2006/main">
            <a:r>
              <a:t>集合通信及并行策略的代价</a:t>
            </a:r>
          </a:p>
          <a:p xmlns:a="http://schemas.openxmlformats.org/drawingml/2006/main">
            <a:r>
              <a:t>DP Attention 的执行过程、优势与适用条件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https://docs.nvidia.com/megatron-core/developer-guide/latest/user-guide/parallelism-guide.html</a:t>
            </a:r>
          </a:p>
          <a:p xmlns:a="http://schemas.openxmlformats.org/drawingml/2006/main">
            <a:r>
              <a:t>https://arxiv.org/abs/2104.04473</a:t>
            </a:r>
          </a:p>
          <a:p xmlns:a="http://schemas.openxmlformats.org/drawingml/2006/main">
            <a:r>
              <a:t>https://docs.pytorch.org/docs/2.9/distributed.fsdp.fully_shard.html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rank是进程在通信组中的编号，通常每个进程对应一张GPU。world size表示组规模。同一GPU可以参与不同逻辑组。DP复制模型并切batch，严格说不是模型权重切分。Checkpoint文件分片只影响保存加载，不等同运行时并行。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模型切分的基本概念</a:t>
            </a:r>
          </a:p>
          <a:p xmlns:a="http://schemas.openxmlformats.org/drawingml/2006/main">
            <a:r>
              <a:t>先确定切的是权重、层、token、请求，还是训练状态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>切分对象</a:t>
            </a:r>
          </a:p>
          <a:p xmlns:a="http://schemas.openxmlformats.org/drawingml/2006/main">
            <a:r>
              <a:t>典型方式</a:t>
            </a:r>
          </a:p>
          <a:p xmlns:a="http://schemas.openxmlformats.org/drawingml/2006/main">
            <a:r>
              <a:t>每张 GPU 负责什么</a:t>
            </a:r>
          </a:p>
          <a:p xmlns:a="http://schemas.openxmlformats.org/drawingml/2006/main">
            <a:r>
              <a:t>单层权重 / 隐藏维度</a:t>
            </a:r>
          </a:p>
          <a:p xmlns:a="http://schemas.openxmlformats.org/drawingml/2006/main">
            <a:r>
              <a:t>TP 张量并行</a:t>
            </a:r>
          </a:p>
          <a:p xmlns:a="http://schemas.openxmlformats.org/drawingml/2006/main">
            <a:r>
              <a:t>同一层的一部分矩阵计算</a:t>
            </a:r>
          </a:p>
          <a:p xmlns:a="http://schemas.openxmlformats.org/drawingml/2006/main">
            <a:r>
              <a:t>模型深度</a:t>
            </a:r>
          </a:p>
          <a:p xmlns:a="http://schemas.openxmlformats.org/drawingml/2006/main">
            <a:r>
              <a:t>PP 流水线并行</a:t>
            </a:r>
          </a:p>
          <a:p xmlns:a="http://schemas.openxmlformats.org/drawingml/2006/main">
            <a:r>
              <a:t>连续若干层</a:t>
            </a:r>
          </a:p>
          <a:p xmlns:a="http://schemas.openxmlformats.org/drawingml/2006/main">
            <a:r>
              <a:t>序列 / 上下文</a:t>
            </a:r>
          </a:p>
          <a:p xmlns:a="http://schemas.openxmlformats.org/drawingml/2006/main">
            <a:r>
              <a:t>SP / CP</a:t>
            </a:r>
          </a:p>
          <a:p xmlns:a="http://schemas.openxmlformats.org/drawingml/2006/main">
            <a:r>
              <a:t>部分 token 的中间状态或计算</a:t>
            </a:r>
          </a:p>
          <a:p xmlns:a="http://schemas.openxmlformats.org/drawingml/2006/main">
            <a:r>
              <a:t>请求、专家、模型状态</a:t>
            </a:r>
          </a:p>
          <a:p xmlns:a="http://schemas.openxmlformats.org/drawingml/2006/main">
            <a:r>
              <a:t>DP / EP / FSDP</a:t>
            </a:r>
          </a:p>
          <a:p xmlns:a="http://schemas.openxmlformats.org/drawingml/2006/main">
            <a:r>
              <a:t>不同请求、专家或状态分片</a:t>
            </a:r>
          </a:p>
          <a:p xmlns:a="http://schemas.openxmlformats.org/drawingml/2006/main">
            <a:r>
              <a:t>切分后需要保持完整计算语义，并用通信拼接或归约各卡结果。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https://docs.nvidia.com/deeplearning/nccl/user-guide/docs/usage/collectives.html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简化示例。All-to-All是每个rank向每个目标发送对应数据。Broadcast从一个root复制到全组，常用于初始化或元数据。标准等长collective要求count和dtype匹配；变长需要明确counts或padding。通信实现可使用NCCL或框架自定义内核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常见 GPU 通信原语</a:t>
            </a:r>
          </a:p>
          <a:p xmlns:a="http://schemas.openxmlformats.org/drawingml/2006/main">
            <a:r>
              <a:t>用两张 GPU 的数据示例解释通信结果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>通信</a:t>
            </a:r>
          </a:p>
          <a:p xmlns:a="http://schemas.openxmlformats.org/drawingml/2006/main">
            <a:r>
              <a:t>结果示例</a:t>
            </a:r>
          </a:p>
          <a:p xmlns:a="http://schemas.openxmlformats.org/drawingml/2006/main">
            <a:r>
              <a:t>常见用途</a:t>
            </a:r>
          </a:p>
          <a:p xmlns:a="http://schemas.openxmlformats.org/drawingml/2006/main">
            <a:r>
              <a:t>All-Reduce 求和</a:t>
            </a:r>
          </a:p>
          <a:p xmlns:a="http://schemas.openxmlformats.org/drawingml/2006/main">
            <a:r>
              <a:t>[1,2] 和 [3,4]</a:t>
            </a:r>
          </a:p>
          <a:p xmlns:a="http://schemas.openxmlformats.org/drawingml/2006/main">
            <a:r>
              <a:t>两卡均得到 [4,6]</a:t>
            </a:r>
          </a:p>
          <a:p xmlns:a="http://schemas.openxmlformats.org/drawingml/2006/main">
            <a:r>
              <a:t>TP 部分结果合并、训练梯度同步</a:t>
            </a:r>
          </a:p>
          <a:p xmlns:a="http://schemas.openxmlformats.org/drawingml/2006/main">
            <a:r>
              <a:t>All-Gather 拼接</a:t>
            </a:r>
          </a:p>
          <a:p xmlns:a="http://schemas.openxmlformats.org/drawingml/2006/main">
            <a:r>
              <a:t>各持 [A]、[B]</a:t>
            </a:r>
          </a:p>
          <a:p xmlns:a="http://schemas.openxmlformats.org/drawingml/2006/main">
            <a:r>
              <a:t>两卡均得到 [A,B]</a:t>
            </a:r>
          </a:p>
          <a:p xmlns:a="http://schemas.openxmlformats.org/drawingml/2006/main">
            <a:r>
              <a:t>收集 token / 权重分片</a:t>
            </a:r>
          </a:p>
          <a:p xmlns:a="http://schemas.openxmlformats.org/drawingml/2006/main">
            <a:r>
              <a:t>Reduce-Scatter</a:t>
            </a:r>
          </a:p>
          <a:p xmlns:a="http://schemas.openxmlformats.org/drawingml/2006/main">
            <a:r>
              <a:t>先求和 [4,6]</a:t>
            </a:r>
          </a:p>
          <a:p xmlns:a="http://schemas.openxmlformats.org/drawingml/2006/main">
            <a:r>
              <a:t>卡 0 留 [4]，卡 1 留 [6]</a:t>
            </a:r>
          </a:p>
          <a:p xmlns:a="http://schemas.openxmlformats.org/drawingml/2006/main">
            <a:r>
              <a:t>归约后继续保持分片</a:t>
            </a:r>
          </a:p>
          <a:p xmlns:a="http://schemas.openxmlformats.org/drawingml/2006/main">
            <a:r>
              <a:t>All-to-All / Send-Recv</a:t>
            </a:r>
          </a:p>
          <a:p xmlns:a="http://schemas.openxmlformats.org/drawingml/2006/main">
            <a:r>
              <a:t>按目标交换 / 两端点传递</a:t>
            </a:r>
          </a:p>
          <a:p xmlns:a="http://schemas.openxmlformats.org/drawingml/2006/main">
            <a:r>
              <a:t>EP token 分发 / PP 激活传递</a:t>
            </a:r>
          </a:p>
          <a:p xmlns:a="http://schemas.openxmlformats.org/drawingml/2006/main">
            <a:r>
              <a:t>Collective 要求组内参与顺序与数据契约一致，否则可能等待或报错。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https://arxiv.org/abs/1909.08053</a:t>
            </a:r>
          </a:p>
          <a:p xmlns:a="http://schemas.openxmlformats.org/drawingml/2006/main">
            <a:r>
              <a:t>https://github.com/huggingface/transformers/blob/v4.57.1/src/transformers/models/qwen3_vl/modeling_qwen3_vl.py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W采用数学约定[in_features,out_features]，PyTorch Linear存储weight转置。对于SwiGLU应让gate/up对应维度同分片，激活逐元素操作可以本地完成。GQA的KV头能否均匀切分取决于头数和TP度，TP超过KV头数时实现可能复制KV。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TP：把一层矩阵分给多张卡</a:t>
            </a:r>
          </a:p>
          <a:p xmlns:a="http://schemas.openxmlformats.org/drawingml/2006/main">
            <a:r>
              <a:t>以两卡线性层为例，按输入或输出特征切分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>形式</a:t>
            </a:r>
          </a:p>
          <a:p xmlns:a="http://schemas.openxmlformats.org/drawingml/2006/main">
            <a:r>
              <a:t>本地计算</a:t>
            </a:r>
          </a:p>
          <a:p xmlns:a="http://schemas.openxmlformats.org/drawingml/2006/main">
            <a:r>
              <a:t>后续通信</a:t>
            </a:r>
          </a:p>
          <a:p xmlns:a="http://schemas.openxmlformats.org/drawingml/2006/main">
            <a:r>
              <a:t>列并行：切输出维度</a:t>
            </a:r>
          </a:p>
          <a:p xmlns:a="http://schemas.openxmlformats.org/drawingml/2006/main">
            <a:r>
              <a:t>W = [W₀,W₁]</a:t>
            </a:r>
          </a:p>
          <a:p xmlns:a="http://schemas.openxmlformats.org/drawingml/2006/main">
            <a:r>
              <a:t>分别算 Y₀=XW₀、Y₁=XW₁</a:t>
            </a:r>
          </a:p>
          <a:p xmlns:a="http://schemas.openxmlformats.org/drawingml/2006/main">
            <a:r>
              <a:t>下游可直接使用分片</a:t>
            </a:r>
          </a:p>
          <a:p xmlns:a="http://schemas.openxmlformats.org/drawingml/2006/main">
            <a:r>
              <a:t>需要完整 Y 时再 All-Gather</a:t>
            </a:r>
          </a:p>
          <a:p xmlns:a="http://schemas.openxmlformats.org/drawingml/2006/main">
            <a:r>
              <a:t>行并行：切输入维度</a:t>
            </a:r>
          </a:p>
          <a:p xmlns:a="http://schemas.openxmlformats.org/drawingml/2006/main">
            <a:r>
              <a:t>X = [X₀,X₁]，W 按行切</a:t>
            </a:r>
          </a:p>
          <a:p xmlns:a="http://schemas.openxmlformats.org/drawingml/2006/main">
            <a:r>
              <a:t>分别算 Zᵢ=XᵢWᵢ</a:t>
            </a:r>
          </a:p>
          <a:p xmlns:a="http://schemas.openxmlformats.org/drawingml/2006/main">
            <a:r>
              <a:t>All-Reduce 求和得到 Y</a:t>
            </a:r>
          </a:p>
          <a:p xmlns:a="http://schemas.openxmlformats.org/drawingml/2006/main">
            <a:r>
              <a:t>或 Reduce-Scatter 保持分片</a:t>
            </a:r>
          </a:p>
          <a:p xmlns:a="http://schemas.openxmlformats.org/drawingml/2006/main">
            <a:r>
              <a:t>Transformer 常见搭配</a:t>
            </a:r>
          </a:p>
          <a:p xmlns:a="http://schemas.openxmlformats.org/drawingml/2006/main">
            <a:r>
              <a:t>QKV / FFN gate-up 列切</a:t>
            </a:r>
          </a:p>
          <a:p xmlns:a="http://schemas.openxmlformats.org/drawingml/2006/main">
            <a:r>
              <a:t>O / FFN down 行切</a:t>
            </a:r>
          </a:p>
          <a:p xmlns:a="http://schemas.openxmlformats.org/drawingml/2006/main">
            <a:r>
              <a:t>组合布局减少中间收集</a:t>
            </a:r>
          </a:p>
          <a:p xmlns:a="http://schemas.openxmlformats.org/drawingml/2006/main">
            <a:r>
              <a:t>具体取决于框架实现</a:t>
            </a:r>
          </a:p>
          <a:p xmlns:a="http://schemas.openxmlformats.org/drawingml/2006/main">
            <a:r>
              <a:t>TP 常用于 Attention 投影、FFN、Embedding 和 LM Head。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https://arxiv.org/abs/2104.04473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仅为均分示例，不代表最佳分配。Embedding、LM Head、视觉编码器使stage负载不均匀，应按实测时间和显存划分。单请求decode难以充分填满流水线，需要并发或合适调度。本项目没有部署PP，pipeline优化指前处理和数据交付链，不应混淆。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PP：按模型层数划分流水线</a:t>
            </a:r>
          </a:p>
          <a:p xmlns:a="http://schemas.openxmlformats.org/drawingml/2006/main">
            <a:r>
              <a:t>例：把 64 层解码器分成两个 32 层 stage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>阶段</a:t>
            </a:r>
          </a:p>
          <a:p xmlns:a="http://schemas.openxmlformats.org/drawingml/2006/main">
            <a:r>
              <a:t>卡 0 / Stage 0</a:t>
            </a:r>
          </a:p>
          <a:p xmlns:a="http://schemas.openxmlformats.org/drawingml/2006/main">
            <a:r>
              <a:t>卡 1 / Stage 1</a:t>
            </a:r>
          </a:p>
          <a:p xmlns:a="http://schemas.openxmlformats.org/drawingml/2006/main">
            <a:r>
              <a:t>微批 A</a:t>
            </a:r>
          </a:p>
          <a:p xmlns:a="http://schemas.openxmlformats.org/drawingml/2006/main">
            <a:r>
              <a:t>计算第 1–32 层</a:t>
            </a:r>
          </a:p>
          <a:p xmlns:a="http://schemas.openxmlformats.org/drawingml/2006/main">
            <a:r>
              <a:t>Send 激活给 Stage 1</a:t>
            </a:r>
          </a:p>
          <a:p xmlns:a="http://schemas.openxmlformats.org/drawingml/2006/main">
            <a:r>
              <a:t>Recv 激活</a:t>
            </a:r>
          </a:p>
          <a:p xmlns:a="http://schemas.openxmlformats.org/drawingml/2006/main">
            <a:r>
              <a:t>计算第 33–64 层</a:t>
            </a:r>
          </a:p>
          <a:p xmlns:a="http://schemas.openxmlformats.org/drawingml/2006/main">
            <a:r>
              <a:t>微批 B</a:t>
            </a:r>
          </a:p>
          <a:p xmlns:a="http://schemas.openxmlformats.org/drawingml/2006/main">
            <a:r>
              <a:t>可在 A 进入 Stage 1 后</a:t>
            </a:r>
          </a:p>
          <a:p xmlns:a="http://schemas.openxmlformats.org/drawingml/2006/main">
            <a:r>
              <a:t>开始计算 B</a:t>
            </a:r>
          </a:p>
          <a:p xmlns:a="http://schemas.openxmlformats.org/drawingml/2006/main">
            <a:r>
              <a:t>等待 B 的激活到达</a:t>
            </a:r>
          </a:p>
          <a:p xmlns:a="http://schemas.openxmlformats.org/drawingml/2006/main">
            <a:r>
              <a:t>训练 / 推理差异</a:t>
            </a:r>
          </a:p>
          <a:p xmlns:a="http://schemas.openxmlformats.org/drawingml/2006/main">
            <a:r>
              <a:t>训练还需反向梯度传回</a:t>
            </a:r>
          </a:p>
          <a:p xmlns:a="http://schemas.openxmlformats.org/drawingml/2006/main">
            <a:r>
              <a:t>推理通常只传前向激活</a:t>
            </a:r>
          </a:p>
          <a:p xmlns:a="http://schemas.openxmlformats.org/drawingml/2006/main">
            <a:r>
              <a:t>自回归下一步依赖最终输出</a:t>
            </a:r>
          </a:p>
          <a:p xmlns:a="http://schemas.openxmlformats.org/drawingml/2006/main">
            <a:r>
              <a:t>需平衡各 stage 耗时</a:t>
            </a:r>
          </a:p>
          <a:p xmlns:a="http://schemas.openxmlformats.org/drawingml/2006/main">
            <a:r>
              <a:t>PP 通信用 Send / Recv。微批填充和排空、阶段不均衡都会产生空泡。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https://docs.pytorch.org/docs/2.9/distributed.fsdp.fully_shard.html</a:t>
            </a:r>
          </a:p>
          <a:p xmlns:a="http://schemas.openxmlformats.org/drawingml/2006/main">
            <a:r>
              <a:t>https://docs.nvidia.com/megatron-core/developer-guide/latest/user-guide/parallelism-guide.html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ZeRO阶段1/2/3分片范围不同，FSDP与ZeRO不是完全相同实现。FSDP2通常all-gather当前模块参数、reduce-scatter梯度，策略和reshard选项会改变驻留方式。推理没有训练梯度和优化器状态。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DP 与 FSDP / ZeRO 的区别</a:t>
            </a:r>
          </a:p>
          <a:p xmlns:a="http://schemas.openxmlformats.org/drawingml/2006/main">
            <a:r>
              <a:t>DP 分请求或 batch，FSDP / ZeRO 进一步分训练状态</a:t>
            </a:r>
          </a:p>
          <a:p xmlns:a="http://schemas.openxmlformats.org/drawingml/2006/main">
            <a:r>
              <a:t>19</a:t>
            </a:r>
          </a:p>
          <a:p xmlns:a="http://schemas.openxmlformats.org/drawingml/2006/main">
            <a:r>
              <a:t>策略</a:t>
            </a:r>
          </a:p>
          <a:p xmlns:a="http://schemas.openxmlformats.org/drawingml/2006/main">
            <a:r>
              <a:t>保留的模型状态</a:t>
            </a:r>
          </a:p>
          <a:p xmlns:a="http://schemas.openxmlformats.org/drawingml/2006/main">
            <a:r>
              <a:t>通信与主要用途</a:t>
            </a:r>
          </a:p>
          <a:p xmlns:a="http://schemas.openxmlformats.org/drawingml/2006/main">
            <a:r>
              <a:t>完整模型 DP 推理</a:t>
            </a:r>
          </a:p>
          <a:p xmlns:a="http://schemas.openxmlformats.org/drawingml/2006/main">
            <a:r>
              <a:t>每个逻辑副本拥有完整模型</a:t>
            </a:r>
          </a:p>
          <a:p xmlns:a="http://schemas.openxmlformats.org/drawingml/2006/main">
            <a:r>
              <a:t>副本内部仍可使用 TP / PP</a:t>
            </a:r>
          </a:p>
          <a:p xmlns:a="http://schemas.openxmlformats.org/drawingml/2006/main">
            <a:r>
              <a:t>分发请求，通常无需逐层同步</a:t>
            </a:r>
          </a:p>
          <a:p xmlns:a="http://schemas.openxmlformats.org/drawingml/2006/main">
            <a:r>
              <a:t>用于扩大服务吞吐</a:t>
            </a:r>
          </a:p>
          <a:p xmlns:a="http://schemas.openxmlformats.org/drawingml/2006/main">
            <a:r>
              <a:t>DDP 训练</a:t>
            </a:r>
          </a:p>
          <a:p xmlns:a="http://schemas.openxmlformats.org/drawingml/2006/main">
            <a:r>
              <a:t>各副本复制参数和训练状态</a:t>
            </a:r>
          </a:p>
          <a:p xmlns:a="http://schemas.openxmlformats.org/drawingml/2006/main">
            <a:r>
              <a:t>处理不同训练样本</a:t>
            </a:r>
          </a:p>
          <a:p xmlns:a="http://schemas.openxmlformats.org/drawingml/2006/main">
            <a:r>
              <a:t>反向阶段梯度 All-Reduce</a:t>
            </a:r>
          </a:p>
          <a:p xmlns:a="http://schemas.openxmlformats.org/drawingml/2006/main">
            <a:r>
              <a:t>用于扩大全局 batch</a:t>
            </a:r>
          </a:p>
          <a:p xmlns:a="http://schemas.openxmlformats.org/drawingml/2006/main">
            <a:r>
              <a:t>FSDP / ZeRO 训练</a:t>
            </a:r>
          </a:p>
          <a:p xmlns:a="http://schemas.openxmlformats.org/drawingml/2006/main">
            <a:r>
              <a:t>按策略切参数、梯度</a:t>
            </a:r>
          </a:p>
          <a:p xmlns:a="http://schemas.openxmlformats.org/drawingml/2006/main">
            <a:r>
              <a:t>以及优化器状态</a:t>
            </a:r>
          </a:p>
          <a:p xmlns:a="http://schemas.openxmlformats.org/drawingml/2006/main">
            <a:r>
              <a:t>参数 All-Gather、梯度归约分片</a:t>
            </a:r>
          </a:p>
          <a:p xmlns:a="http://schemas.openxmlformats.org/drawingml/2006/main">
            <a:r>
              <a:t>主要解决训练显存压力</a:t>
            </a:r>
          </a:p>
          <a:p xmlns:a="http://schemas.openxmlformats.org/drawingml/2006/main">
            <a:r>
              <a:t>FSDP 的参数收集会增加通信，不能直接当作低延迟推理的默认方案。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https://docs.nvidia.com/megatron-core/developer-guide/latest/user-guide/features/context_parallel.html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SP为Megatron风格的TP配套方案，不是所有名为SP的算法都只切Norm/Dropout。CP通信形式由算法和阶段决定，如ring传递KV、Ulysses使用all-to-all。长上下文推理后端的prefill/decode并行支持应分别核对，本项目未部署CP。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SP 与 CP：都涉及 token，范围不同</a:t>
            </a:r>
          </a:p>
          <a:p xmlns:a="http://schemas.openxmlformats.org/drawingml/2006/main">
            <a:r>
              <a:t>SP 按 Megatron 的 sequence parallel 定义解释</a:t>
            </a:r>
          </a:p>
          <a:p xmlns:a="http://schemas.openxmlformats.org/drawingml/2006/main">
            <a:r>
              <a:t>20</a:t>
            </a:r>
          </a:p>
          <a:p xmlns:a="http://schemas.openxmlformats.org/drawingml/2006/main">
            <a:r>
              <a:t>方式</a:t>
            </a:r>
          </a:p>
          <a:p xmlns:a="http://schemas.openxmlformats.org/drawingml/2006/main">
            <a:r>
              <a:t>通常作用的位置</a:t>
            </a:r>
          </a:p>
          <a:p xmlns:a="http://schemas.openxmlformats.org/drawingml/2006/main">
            <a:r>
              <a:t>典型通信</a:t>
            </a:r>
          </a:p>
          <a:p xmlns:a="http://schemas.openxmlformats.org/drawingml/2006/main">
            <a:r>
              <a:t>SP 序列并行</a:t>
            </a:r>
          </a:p>
          <a:p xmlns:a="http://schemas.openxmlformats.org/drawingml/2006/main">
            <a:r>
              <a:t>TP 周边的 Norm、Dropout 等</a:t>
            </a:r>
          </a:p>
          <a:p xmlns:a="http://schemas.openxmlformats.org/drawingml/2006/main">
            <a:r>
              <a:t>将部分激活按 token 分片</a:t>
            </a:r>
          </a:p>
          <a:p xmlns:a="http://schemas.openxmlformats.org/drawingml/2006/main">
            <a:r>
              <a:t>进入需要完整序列的计算前 AG</a:t>
            </a:r>
          </a:p>
          <a:p xmlns:a="http://schemas.openxmlformats.org/drawingml/2006/main">
            <a:r>
              <a:t>结果通过 RS 恢复分片</a:t>
            </a:r>
          </a:p>
          <a:p xmlns:a="http://schemas.openxmlformats.org/drawingml/2006/main">
            <a:r>
              <a:t>CP 上下文并行</a:t>
            </a:r>
          </a:p>
          <a:p xmlns:a="http://schemas.openxmlformats.org/drawingml/2006/main">
            <a:r>
              <a:t>将长序列分段</a:t>
            </a:r>
          </a:p>
          <a:p xmlns:a="http://schemas.openxmlformats.org/drawingml/2006/main">
            <a:r>
              <a:t>各卡处理一段的层内计算</a:t>
            </a:r>
          </a:p>
          <a:p xmlns:a="http://schemas.openxmlformats.org/drawingml/2006/main">
            <a:r>
              <a:t>Attention 交换 KV 或部分结果</a:t>
            </a:r>
          </a:p>
          <a:p xmlns:a="http://schemas.openxmlformats.org/drawingml/2006/main">
            <a:r>
              <a:t>P2P ring / AG / A2A 等</a:t>
            </a:r>
          </a:p>
          <a:p xmlns:a="http://schemas.openxmlformats.org/drawingml/2006/main">
            <a:r>
              <a:t>为什么 Attention 特殊</a:t>
            </a:r>
          </a:p>
          <a:p xmlns:a="http://schemas.openxmlformats.org/drawingml/2006/main">
            <a:r>
              <a:t>FFN 对各 token 独立计算</a:t>
            </a:r>
          </a:p>
          <a:p xmlns:a="http://schemas.openxmlformats.org/drawingml/2006/main">
            <a:r>
              <a:t>Attention 依赖其他 token 的 KV</a:t>
            </a:r>
          </a:p>
          <a:p xmlns:a="http://schemas.openxmlformats.org/drawingml/2006/main">
            <a:r>
              <a:t>必须获取全局可见上下文</a:t>
            </a:r>
          </a:p>
          <a:p xmlns:a="http://schemas.openxmlformats.org/drawingml/2006/main">
            <a:r>
              <a:t>不能把片段直接当独立请求</a:t>
            </a:r>
          </a:p>
          <a:p xmlns:a="http://schemas.openxmlformats.org/drawingml/2006/main">
            <a:r>
              <a:t>CP 常用于长上下文。不同框架对 SP 的命名和实现可能不同。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https://docs.nvidia.com/megatron-core/developer-guide/latest/user-guide/parallelism-guide.html</a:t>
            </a:r>
          </a:p>
          <a:p xmlns:a="http://schemas.openxmlformats.org/drawingml/2006/main">
            <a:r>
              <a:t>https://huggingface.co/Qwen/Qwen3-VL-32B-Instruct/blob/main/config.json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不同模型可能有共享专家、冗余专家、不同router策略。通信和负载不均衡会影响性能。Qwen3-VL家族还有MoE型号，不能把它们的结构套到32B型号。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EP：仅在 MoE 专家层分发 token</a:t>
            </a:r>
          </a:p>
          <a:p xmlns:a="http://schemas.openxmlformats.org/drawingml/2006/main">
            <a:r>
              <a:t>专家并行与 Attention 头并行解决不同问题</a:t>
            </a:r>
          </a:p>
          <a:p xmlns:a="http://schemas.openxmlformats.org/drawingml/2006/main">
            <a:r>
              <a:t>21</a:t>
            </a:r>
          </a:p>
          <a:p xmlns:a="http://schemas.openxmlformats.org/drawingml/2006/main">
            <a:r>
              <a:t>步骤</a:t>
            </a:r>
          </a:p>
          <a:p xmlns:a="http://schemas.openxmlformats.org/drawingml/2006/main">
            <a:r>
              <a:t>计算内容</a:t>
            </a:r>
          </a:p>
          <a:p xmlns:a="http://schemas.openxmlformats.org/drawingml/2006/main">
            <a:r>
              <a:t>主要通信</a:t>
            </a:r>
          </a:p>
          <a:p xmlns:a="http://schemas.openxmlformats.org/drawingml/2006/main">
            <a:r>
              <a:t>Router 路由</a:t>
            </a:r>
          </a:p>
          <a:p xmlns:a="http://schemas.openxmlformats.org/drawingml/2006/main">
            <a:r>
              <a:t>为每个 token 选择专家</a:t>
            </a:r>
          </a:p>
          <a:p xmlns:a="http://schemas.openxmlformats.org/drawingml/2006/main">
            <a:r>
              <a:t>通常为 top-k 专家</a:t>
            </a:r>
          </a:p>
          <a:p xmlns:a="http://schemas.openxmlformats.org/drawingml/2006/main">
            <a:r>
              <a:t>产生路由索引与计数</a:t>
            </a:r>
          </a:p>
          <a:p xmlns:a="http://schemas.openxmlformats.org/drawingml/2006/main">
            <a:r>
              <a:t>Dispatch 分发</a:t>
            </a:r>
          </a:p>
          <a:p xmlns:a="http://schemas.openxmlformats.org/drawingml/2006/main">
            <a:r>
              <a:t>将 token 送到专家所在 GPU</a:t>
            </a:r>
          </a:p>
          <a:p xmlns:a="http://schemas.openxmlformats.org/drawingml/2006/main">
            <a:r>
              <a:t>常见 All-to-All / 专用通信</a:t>
            </a:r>
          </a:p>
          <a:p xmlns:a="http://schemas.openxmlformats.org/drawingml/2006/main">
            <a:r>
              <a:t>Expert FFN</a:t>
            </a:r>
          </a:p>
          <a:p xmlns:a="http://schemas.openxmlformats.org/drawingml/2006/main">
            <a:r>
              <a:t>各专家计算自己收到的 token</a:t>
            </a:r>
          </a:p>
          <a:p xmlns:a="http://schemas.openxmlformats.org/drawingml/2006/main">
            <a:r>
              <a:t>专家内部还可结合 TP</a:t>
            </a:r>
          </a:p>
          <a:p xmlns:a="http://schemas.openxmlformats.org/drawingml/2006/main">
            <a:r>
              <a:t>Combine 汇回</a:t>
            </a:r>
          </a:p>
          <a:p xmlns:a="http://schemas.openxmlformats.org/drawingml/2006/main">
            <a:r>
              <a:t>返回结果并按路由权重合并</a:t>
            </a:r>
          </a:p>
          <a:p xmlns:a="http://schemas.openxmlformats.org/drawingml/2006/main">
            <a:r>
              <a:t>反向 All-to-All / 专用通信</a:t>
            </a:r>
          </a:p>
          <a:p xmlns:a="http://schemas.openxmlformats.org/drawingml/2006/main">
            <a:r>
              <a:t>Qwen3-VL-32B 是稠密版本，没有可按 EP 分布的 MoE 专家。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https://docs.nvidia.com/megatron-core/developer-guide/latest/user-guide/parallelism-guide.html</a:t>
            </a:r>
          </a:p>
          <a:p xmlns:a="http://schemas.openxmlformats.org/drawingml/2006/main">
            <a:r>
              <a:t>https://docs.nvidia.com/megatron-core/developer-guide/latest/user-guide/features/context_parallel.html</a:t>
            </a:r>
          </a:p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模态分离是服务部署策略，不等同Transformer层PP。Embedding和LM Head也可按词表TP。独立并行轴才可直接按乘积算总卡数；DP Attention在本项目复用TP组，不能按普通DP×TP计算。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https://arxiv.org/abs/2104.04473</a:t>
            </a:r>
          </a:p>
          <a:p xmlns:a="http://schemas.openxmlformats.org/drawingml/2006/main">
            <a:r>
              <a:t>https://docs.nvidia.com/deeplearning/nccl/user-guide/docs/usage/collectives.html</a:t>
            </a:r>
          </a:p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该时间公式省略collective算法、拓扑、链路争用和重叠因素，仅为理解成本。通信与计算overlap须满足依赖关系且不造成资源争用，异步调用不保证通信被完全隐藏。后续DPA章节用本项目双卡实例说明。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SGLang v0.5.6.post2 源码：https://github.com/sgl-project/sglang/blob/v0.5.6.post2/python/sglang/srt/layers/dp_attention.py</a:t>
            </a:r>
          </a:p>
          <a:p xmlns:a="http://schemas.openxmlformats.org/drawingml/2006/main">
            <a:r>
              <a:t>SGLang 概念文档：https://github.com/sgl-project/sglang/blob/main/docs/docs/advanced_features/dp_dpa_smg_guide.mdx</a:t>
            </a:r>
          </a:p>
          <a:p xmlns:a="http://schemas.openxmlformats.org/drawingml/2006/main">
            <a:r>
              <a:t>SGLang 团队设计说明：https://www.lmsys.org/blog/2024-12-04-sglang-v0-4/#data-parallelism-attention-for-deepseek-models</a:t>
            </a:r>
          </a:p>
          <a:p xmlns:a="http://schemas.openxmlformats.org/drawingml/2006/main">
            <a:r>
              <a:t>项目证据：docs/dp-attention-compatibility.md；docs/optimization-report.md；versions/dp-attention-fixed/config.json；benchmarks/results/benchmark-summary.json</a:t>
            </a:r>
          </a:p>
          <a:p xmlns:a="http://schemas.openxmlformats.org/drawingml/2006/main">
            <a:r>
              <a:t>补充日期：2026-09-20。框架运行版本仍为 0.5.6.post2。当前上游文档只用于一般概念，部署参数按项目快照说明。</a:t>
            </a:r>
          </a:p>
          <a:p xmlns:a="http://schemas.openxmlformats.org/drawingml/2006/main">
            <a:r>
              <a:t>Attention 使用请求维度的数据并行，每组处理自己分配的请求和KV状态。在本项目的稠密模型中，FFN仍以全TP组分片执行，因此组之间存在逐层协作，不能理解成两个完全独立的服务。MoE模型还可以在FFN部分结合EP，但DP Attention本身并不要求MoE或EP。Attention内部仍可保留小规模TP，具体取决于TP/DP配置。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DP Attention 按层选择并行方式</a:t>
            </a:r>
          </a:p>
          <a:p xmlns:a="http://schemas.openxmlformats.org/drawingml/2006/main">
            <a:r>
              <a:t>Data Parallelism Attention，简称 DPA</a:t>
            </a:r>
          </a:p>
          <a:p xmlns:a="http://schemas.openxmlformats.org/drawingml/2006/main">
            <a:r>
              <a:t>33</a:t>
            </a:r>
          </a:p>
          <a:p xmlns:a="http://schemas.openxmlformats.org/drawingml/2006/main">
            <a:r>
              <a:t>Attention 按请求分工，FFN 按权重分片协作。</a:t>
            </a:r>
          </a:p>
          <a:p xmlns:a="http://schemas.openxmlformats.org/drawingml/2006/main">
            <a:r>
              <a:t>组件</a:t>
            </a:r>
          </a:p>
          <a:p xmlns:a="http://schemas.openxmlformats.org/drawingml/2006/main">
            <a:r>
              <a:t>本项目采用的并行方式</a:t>
            </a:r>
          </a:p>
          <a:p xmlns:a="http://schemas.openxmlformats.org/drawingml/2006/main">
            <a:r>
              <a:t>处理的数据</a:t>
            </a:r>
          </a:p>
          <a:p xmlns:a="http://schemas.openxmlformats.org/drawingml/2006/main">
            <a:r>
              <a:t>Attention</a:t>
            </a:r>
          </a:p>
          <a:p xmlns:a="http://schemas.openxmlformats.org/drawingml/2006/main">
            <a:r>
              <a:t>DP：各组处理不同请求</a:t>
            </a:r>
          </a:p>
          <a:p xmlns:a="http://schemas.openxmlformats.org/drawingml/2006/main">
            <a:r>
              <a:t>各组自己的 token 与 KV cache</a:t>
            </a:r>
          </a:p>
          <a:p xmlns:a="http://schemas.openxmlformats.org/drawingml/2006/main">
            <a:r>
              <a:t>稠密 FFN</a:t>
            </a:r>
          </a:p>
          <a:p xmlns:a="http://schemas.openxmlformats.org/drawingml/2006/main">
            <a:r>
              <a:t>TP：两卡各持一部分权重</a:t>
            </a:r>
          </a:p>
          <a:p xmlns:a="http://schemas.openxmlformats.org/drawingml/2006/main">
            <a:r>
              <a:t>汇集后的 token</a:t>
            </a:r>
          </a:p>
          <a:p xmlns:a="http://schemas.openxmlformats.org/drawingml/2006/main">
            <a:r>
              <a:t>层间衔接</a:t>
            </a:r>
          </a:p>
          <a:p xmlns:a="http://schemas.openxmlformats.org/drawingml/2006/main">
            <a:r>
              <a:t>通信与布局转换</a:t>
            </a:r>
          </a:p>
          <a:p xmlns:a="http://schemas.openxmlformats.org/drawingml/2006/main">
            <a:r>
              <a:t>汇集结果，再恢复请求归属</a:t>
            </a:r>
          </a:p>
          <a:p xmlns:a="http://schemas.openxmlformats.org/drawingml/2006/main">
            <a:r>
              <a:t>DP Attention 是运行时并行策略，Qwen3-VL-32B 仍是稠密模型。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SGLang v0.5.6.post2 源码：https://github.com/sgl-project/sglang/blob/v0.5.6.post2/python/sglang/srt/layers/dp_attention.py</a:t>
            </a:r>
          </a:p>
          <a:p xmlns:a="http://schemas.openxmlformats.org/drawingml/2006/main">
            <a:r>
              <a:t>SGLang 概念文档：https://github.com/sgl-project/sglang/blob/main/docs/docs/advanced_features/dp_dpa_smg_guide.mdx</a:t>
            </a:r>
          </a:p>
          <a:p xmlns:a="http://schemas.openxmlformats.org/drawingml/2006/main">
            <a:r>
              <a:t>SGLang 团队设计说明：https://www.lmsys.org/blog/2024-12-04-sglang-v0-4/#data-parallelism-attention-for-deepseek-models</a:t>
            </a:r>
          </a:p>
          <a:p xmlns:a="http://schemas.openxmlformats.org/drawingml/2006/main">
            <a:r>
              <a:t>项目证据：docs/dp-attention-compatibility.md；docs/optimization-report.md；versions/dp-attention-fixed/config.json；benchmarks/results/benchmark-summary.json</a:t>
            </a:r>
          </a:p>
          <a:p xmlns:a="http://schemas.openxmlformats.org/drawingml/2006/main">
            <a:r>
              <a:t>补充日期：2026-09-20。框架运行版本仍为 0.5.6.post2。当前上游文档只用于一般概念，部署参数按项目快照说明。</a:t>
            </a:r>
          </a:p>
          <a:p xmlns:a="http://schemas.openxmlformats.org/drawingml/2006/main">
            <a:r>
              <a:t>完整模型DP是复制完整逻辑模型副本，每个副本也可在自己的GPU组内部使用TP。简单DP副本之间不需要每层collective；这与DP Attention共享FFN并同步的模式不同。普通TP中同一批请求的attention和FFN都由TP组分工，KV按支持的维度分片或复制，不能断言普通TP必然复制所有KV。表中只描述本项目的稠密FFN，不展开MoE EP和PD分离。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SGLang v0.5.6.post2 源码：https://github.com/sgl-project/sglang/blob/v0.5.6.post2/python/sglang/srt/layers/dp_attention.py</a:t>
            </a:r>
          </a:p>
          <a:p xmlns:a="http://schemas.openxmlformats.org/drawingml/2006/main">
            <a:r>
              <a:t>SGLang 概念文档：https://github.com/sgl-project/sglang/blob/main/docs/docs/advanced_features/dp_dpa_smg_guide.mdx</a:t>
            </a:r>
          </a:p>
          <a:p xmlns:a="http://schemas.openxmlformats.org/drawingml/2006/main">
            <a:r>
              <a:t>SGLang 团队设计说明：https://www.lmsys.org/blog/2024-12-04-sglang-v0-4/#data-parallelism-attention-for-deepseek-models</a:t>
            </a:r>
          </a:p>
          <a:p xmlns:a="http://schemas.openxmlformats.org/drawingml/2006/main">
            <a:r>
              <a:t>项目证据：docs/dp-attention-compatibility.md；docs/optimization-report.md；versions/dp-attention-fixed/config.json；benchmarks/results/benchmark-summary.json</a:t>
            </a:r>
          </a:p>
          <a:p xmlns:a="http://schemas.openxmlformats.org/drawingml/2006/main">
            <a:r>
              <a:t>补充日期：2026-09-20。框架运行版本仍为 0.5.6.post2。当前上游文档只用于一般概念，部署参数按项目快照说明。</a:t>
            </a:r>
          </a:p>
          <a:p xmlns:a="http://schemas.openxmlformats.org/drawingml/2006/main">
            <a:r>
              <a:t>compute_dp_attention_world_info 给出 attn_tp_size=tp_size//dp_size。这里PP=1，TP=2，attention DP=2，attention TP=1，FFN TP=2，总共两卡，不是TP乘DP得到四卡。更一般的例子是TP8、attention DP2，则每个attention组TP4。普通完整模型DP的资源计算语义不同，不能混用。这些是本部署的并行组解释，不覆盖CP或特殊MoE拓扑。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本项目 TP2 与 DP2 共用两张 GPU</a:t>
            </a:r>
          </a:p>
          <a:p xmlns:a="http://schemas.openxmlformats.org/drawingml/2006/main">
            <a:r>
              <a:t>以下含义对应 SGLang 的 DP Attention 配置</a:t>
            </a:r>
          </a:p>
          <a:p xmlns:a="http://schemas.openxmlformats.org/drawingml/2006/main">
            <a:r>
              <a:t>35</a:t>
            </a:r>
          </a:p>
          <a:p xmlns:a="http://schemas.openxmlformats.org/drawingml/2006/main">
            <a:r>
              <a:t>--tp-size 2 --dp-size 2 --enable-dp-attention</a:t>
            </a:r>
          </a:p>
          <a:p xmlns:a="http://schemas.openxmlformats.org/drawingml/2006/main">
            <a:r>
              <a:t>attention TP = TP / attention DP = 2 / 2 = 1</a:t>
            </a:r>
          </a:p>
          <a:p xmlns:a="http://schemas.openxmlformats.org/drawingml/2006/main">
            <a:r>
              <a:t>并行组</a:t>
            </a:r>
          </a:p>
          <a:p xmlns:a="http://schemas.openxmlformats.org/drawingml/2006/main">
            <a:r>
              <a:t>成员</a:t>
            </a:r>
          </a:p>
          <a:p xmlns:a="http://schemas.openxmlformats.org/drawingml/2006/main">
            <a:r>
              <a:t>作用</a:t>
            </a:r>
          </a:p>
          <a:p xmlns:a="http://schemas.openxmlformats.org/drawingml/2006/main">
            <a:r>
              <a:t>Attention 组 0</a:t>
            </a:r>
          </a:p>
          <a:p xmlns:a="http://schemas.openxmlformats.org/drawingml/2006/main">
            <a:r>
              <a:t>GPU 0</a:t>
            </a:r>
          </a:p>
          <a:p xmlns:a="http://schemas.openxmlformats.org/drawingml/2006/main">
            <a:r>
              <a:t>处理分配给 rank 0 的请求</a:t>
            </a:r>
          </a:p>
          <a:p xmlns:a="http://schemas.openxmlformats.org/drawingml/2006/main">
            <a:r>
              <a:t>Attention 组 1</a:t>
            </a:r>
          </a:p>
          <a:p xmlns:a="http://schemas.openxmlformats.org/drawingml/2006/main">
            <a:r>
              <a:t>GPU 1</a:t>
            </a:r>
          </a:p>
          <a:p xmlns:a="http://schemas.openxmlformats.org/drawingml/2006/main">
            <a:r>
              <a:t>处理分配给 rank 1 的请求</a:t>
            </a:r>
          </a:p>
          <a:p xmlns:a="http://schemas.openxmlformats.org/drawingml/2006/main">
            <a:r>
              <a:t>FFN 的 TP 组</a:t>
            </a:r>
          </a:p>
          <a:p xmlns:a="http://schemas.openxmlformats.org/drawingml/2006/main">
            <a:r>
              <a:t>GPU 0 和 GPU 1</a:t>
            </a:r>
          </a:p>
          <a:p xmlns:a="http://schemas.openxmlformats.org/drawingml/2006/main">
            <a:r>
              <a:t>两卡共同计算 FFN</a:t>
            </a:r>
          </a:p>
          <a:p xmlns:a="http://schemas.openxmlformats.org/drawingml/2006/main">
            <a:r>
              <a:t>attention 组可以继续包含 TP，例如 TP8 / DP2 对应每组 attention TP4。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SGLang v0.5.6.post2 源码：https://github.com/sgl-project/sglang/blob/v0.5.6.post2/python/sglang/srt/layers/dp_attention.py</a:t>
            </a:r>
          </a:p>
          <a:p xmlns:a="http://schemas.openxmlformats.org/drawingml/2006/main">
            <a:r>
              <a:t>SGLang 概念文档：https://github.com/sgl-project/sglang/blob/main/docs/docs/advanced_features/dp_dpa_smg_guide.mdx</a:t>
            </a:r>
          </a:p>
          <a:p xmlns:a="http://schemas.openxmlformats.org/drawingml/2006/main">
            <a:r>
              <a:t>SGLang 团队设计说明：https://www.lmsys.org/blog/2024-12-04-sglang-v0-4/#data-parallelism-attention-for-deepseek-models</a:t>
            </a:r>
          </a:p>
          <a:p xmlns:a="http://schemas.openxmlformats.org/drawingml/2006/main">
            <a:r>
              <a:t>项目证据：docs/dp-attention-compatibility.md；docs/optimization-report.md；versions/dp-attention-fixed/config.json；benchmarks/results/benchmark-summary.json</a:t>
            </a:r>
          </a:p>
          <a:p xmlns:a="http://schemas.openxmlformats.org/drawingml/2006/main">
            <a:r>
              <a:t>补充日期：2026-09-20。框架运行版本仍为 0.5.6.post2。当前上游文档只用于一般概念，部署参数按项目快照说明。</a:t>
            </a:r>
          </a:p>
          <a:p xmlns:a="http://schemas.openxmlformats.org/drawingml/2006/main">
            <a:r>
              <a:t>这是本项目稠密FFN的逻辑执行示意。Attention输出汇集到共享TP布局，每个GPU使用自己持有的FFN权重分片对汇集的token计算，随后组合并恢复每个DP rank的数据归属。实际all-gather、all-reduce、reduce-scatter组合由padding与后端决定。此页按max_len路径解释，省略layernorm、residual和底层融合。请求A和B各自的KV状态保留在所属attention组。DP rank为idle时仍可能需要参加FFN同步，这也引出后续padding问题。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两个请求如何经过一层计算</a:t>
            </a:r>
          </a:p>
          <a:p xmlns:a="http://schemas.openxmlformats.org/drawingml/2006/main">
            <a:r>
              <a:t>双卡 TP2 / DP2，示例中请求 A 分给 GPU 0，请求 B 分给 GPU 1</a:t>
            </a:r>
          </a:p>
          <a:p xmlns:a="http://schemas.openxmlformats.org/drawingml/2006/main">
            <a:r>
              <a:t>36</a:t>
            </a:r>
          </a:p>
          <a:p xmlns:a="http://schemas.openxmlformats.org/drawingml/2006/main">
            <a:r>
              <a:t>阶段</a:t>
            </a:r>
          </a:p>
          <a:p xmlns:a="http://schemas.openxmlformats.org/drawingml/2006/main">
            <a:r>
              <a:t>GPU 0</a:t>
            </a:r>
          </a:p>
          <a:p xmlns:a="http://schemas.openxmlformats.org/drawingml/2006/main">
            <a:r>
              <a:t>GPU 1</a:t>
            </a:r>
          </a:p>
          <a:p xmlns:a="http://schemas.openxmlformats.org/drawingml/2006/main">
            <a:r>
              <a:t>1  Attention</a:t>
            </a:r>
          </a:p>
          <a:p xmlns:a="http://schemas.openxmlformats.org/drawingml/2006/main">
            <a:r>
              <a:t>计算请求 A</a:t>
            </a:r>
          </a:p>
          <a:p xmlns:a="http://schemas.openxmlformats.org/drawingml/2006/main">
            <a:r>
              <a:t>访问 A 的 KV</a:t>
            </a:r>
          </a:p>
          <a:p xmlns:a="http://schemas.openxmlformats.org/drawingml/2006/main">
            <a:r>
              <a:t>计算请求 B</a:t>
            </a:r>
          </a:p>
          <a:p xmlns:a="http://schemas.openxmlformats.org/drawingml/2006/main">
            <a:r>
              <a:t>访问 B 的 KV</a:t>
            </a:r>
          </a:p>
          <a:p xmlns:a="http://schemas.openxmlformats.org/drawingml/2006/main">
            <a:r>
              <a:t>2  数据汇集</a:t>
            </a:r>
          </a:p>
          <a:p xmlns:a="http://schemas.openxmlformats.org/drawingml/2006/main">
            <a:r>
              <a:t>获得 A 和 B 的</a:t>
            </a:r>
          </a:p>
          <a:p xmlns:a="http://schemas.openxmlformats.org/drawingml/2006/main">
            <a:r>
              <a:t>attention 输出</a:t>
            </a:r>
          </a:p>
          <a:p xmlns:a="http://schemas.openxmlformats.org/drawingml/2006/main">
            <a:r>
              <a:t>获得 A 和 B 的</a:t>
            </a:r>
          </a:p>
          <a:p xmlns:a="http://schemas.openxmlformats.org/drawingml/2006/main">
            <a:r>
              <a:t>attention 输出</a:t>
            </a:r>
          </a:p>
          <a:p xmlns:a="http://schemas.openxmlformats.org/drawingml/2006/main">
            <a:r>
              <a:t>3  稠密 FFN</a:t>
            </a:r>
          </a:p>
          <a:p xmlns:a="http://schemas.openxmlformats.org/drawingml/2006/main">
            <a:r>
              <a:t>用权重分片 0</a:t>
            </a:r>
          </a:p>
          <a:p xmlns:a="http://schemas.openxmlformats.org/drawingml/2006/main">
            <a:r>
              <a:t>计算 A 和 B</a:t>
            </a:r>
          </a:p>
          <a:p xmlns:a="http://schemas.openxmlformats.org/drawingml/2006/main">
            <a:r>
              <a:t>用权重分片 1</a:t>
            </a:r>
          </a:p>
          <a:p xmlns:a="http://schemas.openxmlformats.org/drawingml/2006/main">
            <a:r>
              <a:t>计算 A 和 B</a:t>
            </a:r>
          </a:p>
          <a:p xmlns:a="http://schemas.openxmlformats.org/drawingml/2006/main">
            <a:r>
              <a:t>4  结果组合与分发</a:t>
            </a:r>
          </a:p>
          <a:p xmlns:a="http://schemas.openxmlformats.org/drawingml/2006/main">
            <a:r>
              <a:t>保留 A 的结果</a:t>
            </a:r>
          </a:p>
          <a:p xmlns:a="http://schemas.openxmlformats.org/drawingml/2006/main">
            <a:r>
              <a:t>进入下一层</a:t>
            </a:r>
          </a:p>
          <a:p xmlns:a="http://schemas.openxmlformats.org/drawingml/2006/main">
            <a:r>
              <a:t>保留 B 的结果</a:t>
            </a:r>
          </a:p>
          <a:p xmlns:a="http://schemas.openxmlformats.org/drawingml/2006/main">
            <a:r>
              <a:t>进入下一层</a:t>
            </a:r>
          </a:p>
          <a:p xmlns:a="http://schemas.openxmlformats.org/drawingml/2006/main">
            <a:r>
              <a:t>跨卡通信依然存在。图中汇集和分发的具体实现取决于后端与 padding 模式。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SGLang v0.5.6.post2 源码：https://github.com/sgl-project/sglang/blob/v0.5.6.post2/python/sglang/srt/layers/dp_attention.py</a:t>
            </a:r>
          </a:p>
          <a:p xmlns:a="http://schemas.openxmlformats.org/drawingml/2006/main">
            <a:r>
              <a:t>SGLang 概念文档：https://github.com/sgl-project/sglang/blob/main/docs/docs/advanced_features/dp_dpa_smg_guide.mdx</a:t>
            </a:r>
          </a:p>
          <a:p xmlns:a="http://schemas.openxmlformats.org/drawingml/2006/main">
            <a:r>
              <a:t>SGLang 团队设计说明：https://www.lmsys.org/blog/2024-12-04-sglang-v0-4/#data-parallelism-attention-for-deepseek-models</a:t>
            </a:r>
          </a:p>
          <a:p xmlns:a="http://schemas.openxmlformats.org/drawingml/2006/main">
            <a:r>
              <a:t>项目证据：docs/dp-attention-compatibility.md；docs/optimization-report.md；versions/dp-attention-fixed/config.json；benchmarks/results/benchmark-summary.json</a:t>
            </a:r>
          </a:p>
          <a:p xmlns:a="http://schemas.openxmlformats.org/drawingml/2006/main">
            <a:r>
              <a:t>补充日期：2026-09-20。框架运行版本仍为 0.5.6.post2。当前上游文档只用于一般概念，部署参数按项目快照说明。</a:t>
            </a:r>
          </a:p>
          <a:p xmlns:a="http://schemas.openxmlformats.org/drawingml/2006/main">
            <a:r>
              <a:t>DP Attention最初针对DeepSeek MLA中较大TP下的KV重复问题。将请求分配到独立attention组，减少在不同组存储同一请求KV的需求。若确实减少冗余，腾出的KV空间可承载更多并发token并改善吞吐。若模型原本能有效切分KV，则不保证KV总量下降。减小attention TP组可减少该组件内部的同步，但层间布局通信可能抵消收益。相对完整模型DP，FFN仍分片可降低FFN权重复制需求，这不等于相对普通TP的总显存一定更低。这里不引用DeepSeek的历史倍数作为Qwen的预期收益。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SGLang v0.5.6.post2 源码：https://github.com/sgl-project/sglang/blob/v0.5.6.post2/python/sglang/srt/layers/dp_attention.py</a:t>
            </a:r>
          </a:p>
          <a:p xmlns:a="http://schemas.openxmlformats.org/drawingml/2006/main">
            <a:r>
              <a:t>SGLang 概念文档：https://github.com/sgl-project/sglang/blob/main/docs/docs/advanced_features/dp_dpa_smg_guide.mdx</a:t>
            </a:r>
          </a:p>
          <a:p xmlns:a="http://schemas.openxmlformats.org/drawingml/2006/main">
            <a:r>
              <a:t>SGLang 团队设计说明：https://www.lmsys.org/blog/2024-12-04-sglang-v0-4/#data-parallelism-attention-for-deepseek-models</a:t>
            </a:r>
          </a:p>
          <a:p xmlns:a="http://schemas.openxmlformats.org/drawingml/2006/main">
            <a:r>
              <a:t>项目证据：docs/dp-attention-compatibility.md；docs/optimization-report.md；versions/dp-attention-fixed/config.json；benchmarks/results/benchmark-summary.json</a:t>
            </a:r>
          </a:p>
          <a:p xmlns:a="http://schemas.openxmlformats.org/drawingml/2006/main">
            <a:r>
              <a:t>补充日期：2026-09-20。框架运行版本仍为 0.5.6.post2。当前上游文档只用于一般概念，部署参数按项目快照说明。</a:t>
            </a:r>
          </a:p>
          <a:p xmlns:a="http://schemas.openxmlformats.org/drawingml/2006/main">
            <a:r>
              <a:t>配置选择应测量可用KV容量、权重与通信缓冲区显存、吞吐、TTFT/TPOT及不同长度请求混合时的尾延迟。长prefill与decode或idle rank不均衡时，FFN同步可能等待慢rank，max_len模式还产生token padding。attention TP组缩小导致attention权重复制范围扩大，可能增加权重占用。视觉分支额外的collective路径也需要验证。完整模型能放入单副本且追求副本隔离时，可对照完整模型DP。这些是选择标准，不是本项目新增性能测量。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第3章：性能工具与测量方法。</a:t>
            </a:r>
          </a:p>
          <a:p xmlns:a="http://schemas.openxmlformats.org/drawingml/2006/main">
            <a:r>
              <a:t>torch.compile、算子融合与 CUDA Graph</a:t>
            </a:r>
          </a:p>
          <a:p xmlns:a="http://schemas.openxmlformats.org/drawingml/2006/main">
            <a:r>
              <a:t>torch.profiler 时间线及运行空泡</a:t>
            </a:r>
          </a:p>
          <a:p xmlns:a="http://schemas.openxmlformats.org/drawingml/2006/main">
            <a:r>
              <a:t>测试环境、测量口径与基线热点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https://docs.pytorch.org/docs/2.9/torch.compiler_dynamo_overview.html</a:t>
            </a:r>
          </a:p>
          <a:p xmlns:a="http://schemas.openxmlformats.org/drawingml/2006/main">
            <a:r>
              <a:t>https://docs.pytorch.org/docs/2.9/compile/programming_model.dynamo_core_concepts.html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Inductor常生成Triton内核，也会调用已有库实现，不是把全部运算变成一个kernel。训练场景还涉及AOTAutograd，推理无需训练反向计算。Graph break导致分段编译；guard failure可能重编译，两者不同。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torch.compile 的作用与执行过程</a:t>
            </a:r>
          </a:p>
          <a:p xmlns:a="http://schemas.openxmlformats.org/drawingml/2006/main">
            <a:r>
              <a:t>在本项目中使用 PyTorch 2.9 系列编译栈</a:t>
            </a:r>
          </a:p>
          <a:p xmlns:a="http://schemas.openxmlformats.org/drawingml/2006/main">
            <a:r>
              <a:t>24</a:t>
            </a:r>
          </a:p>
          <a:p xmlns:a="http://schemas.openxmlformats.org/drawingml/2006/main">
            <a:r>
              <a:t>阶段</a:t>
            </a:r>
          </a:p>
          <a:p xmlns:a="http://schemas.openxmlformats.org/drawingml/2006/main">
            <a:r>
              <a:t>做什么</a:t>
            </a:r>
          </a:p>
          <a:p xmlns:a="http://schemas.openxmlformats.org/drawingml/2006/main">
            <a:r>
              <a:t>可能带来的收益</a:t>
            </a:r>
          </a:p>
          <a:p xmlns:a="http://schemas.openxmlformats.org/drawingml/2006/main">
            <a:r>
              <a:t>TorchDynamo 捕获</a:t>
            </a:r>
          </a:p>
          <a:p xmlns:a="http://schemas.openxmlformats.org/drawingml/2006/main">
            <a:r>
              <a:t>从 Python 执行中获取张量计算</a:t>
            </a:r>
          </a:p>
          <a:p xmlns:a="http://schemas.openxmlformats.org/drawingml/2006/main">
            <a:r>
              <a:t>形成 FX 图，并建立 guards</a:t>
            </a:r>
          </a:p>
          <a:p xmlns:a="http://schemas.openxmlformats.org/drawingml/2006/main">
            <a:r>
              <a:t>减少重复解释与调度工作</a:t>
            </a:r>
          </a:p>
          <a:p xmlns:a="http://schemas.openxmlformats.org/drawingml/2006/main">
            <a:r>
              <a:t>图处理与 TorchInductor</a:t>
            </a:r>
          </a:p>
          <a:p xmlns:a="http://schemas.openxmlformats.org/drawingml/2006/main">
            <a:r>
              <a:t>分析依赖、选择实现</a:t>
            </a:r>
          </a:p>
          <a:p xmlns:a="http://schemas.openxmlformats.org/drawingml/2006/main">
            <a:r>
              <a:t>生成或调用 GPU 内核</a:t>
            </a:r>
          </a:p>
          <a:p xmlns:a="http://schemas.openxmlformats.org/drawingml/2006/main">
            <a:r>
              <a:t>算子融合、减少中间读写</a:t>
            </a:r>
          </a:p>
          <a:p xmlns:a="http://schemas.openxmlformats.org/drawingml/2006/main">
            <a:r>
              <a:t>改善计算调度</a:t>
            </a:r>
          </a:p>
          <a:p xmlns:a="http://schemas.openxmlformats.org/drawingml/2006/main">
            <a:r>
              <a:t>缓存与后续调用</a:t>
            </a:r>
          </a:p>
          <a:p xmlns:a="http://schemas.openxmlformats.org/drawingml/2006/main">
            <a:r>
              <a:t>符合 guards 时复用已编译代码</a:t>
            </a:r>
          </a:p>
          <a:p xmlns:a="http://schemas.openxmlformats.org/drawingml/2006/main">
            <a:r>
              <a:t>否则可能重编译或回退</a:t>
            </a:r>
          </a:p>
          <a:p xmlns:a="http://schemas.openxmlformats.org/drawingml/2006/main">
            <a:r>
              <a:t>稳定形状下摊薄编译成本</a:t>
            </a:r>
          </a:p>
          <a:p xmlns:a="http://schemas.openxmlformats.org/drawingml/2006/main">
            <a:r>
              <a:t>编译会有启动成本，收益取决于模型路径、输入形状和后端覆盖范围。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https://docs.pytorch.org/docs/2.9/torch.compiler_dynamo_overview.html</a:t>
            </a:r>
          </a:p>
          <a:p xmlns:a="http://schemas.openxmlformats.org/drawingml/2006/main">
            <a:r>
              <a:t>https://docs.pytorch.org/docs/2.9/compile/programming_model.dynamo_core_concepts.html</a:t>
            </a:r>
          </a:p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公式是教学例子，不声称项目生成了这个精确内核。TORCH_LOGS=graph_breaks,recompiles可帮助定位。fullgraph=True用于暴露图断点，不能理解为自动保证单CUDA kernel。融合可能改变数值舍入，必须做精度检查。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算子融合、图断点与重编译</a:t>
            </a:r>
          </a:p>
          <a:p xmlns:a="http://schemas.openxmlformats.org/drawingml/2006/main">
            <a:r>
              <a:t>以相邻的逐元素算子作为融合示例</a:t>
            </a:r>
          </a:p>
          <a:p xmlns:a="http://schemas.openxmlformats.org/drawingml/2006/main">
            <a:r>
              <a:t>25</a:t>
            </a:r>
          </a:p>
          <a:p xmlns:a="http://schemas.openxmlformats.org/drawingml/2006/main">
            <a:r>
              <a:t>融合示例：y = SiLU(x + b) × z，可在兼容条件下合成一个内核。</a:t>
            </a:r>
          </a:p>
          <a:p xmlns:a="http://schemas.openxmlformats.org/drawingml/2006/main">
            <a:r>
              <a:t>直接收益：减少中间张量写回与读取，以及多次 kernel launch。</a:t>
            </a:r>
          </a:p>
          <a:p xmlns:a="http://schemas.openxmlformats.org/drawingml/2006/main">
            <a:r>
              <a:t>图断点：不支持的 Python 行为或数据相关控制流将计算分成多段。</a:t>
            </a:r>
          </a:p>
          <a:p xmlns:a="http://schemas.openxmlformats.org/drawingml/2006/main">
            <a:r>
              <a:t>重编译：形状、类型等 guards 失效，需要为新条件生成代码。</a:t>
            </a:r>
          </a:p>
          <a:p xmlns:a="http://schemas.openxmlformats.org/drawingml/2006/main">
            <a:r>
              <a:t>已有高效 GEMM、外部算子和通信边界，可能限制进一步融合。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https://docs.pytorch.org/docs/2.9/notes/cuda.html#cuda-graphs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这里解释PyTorch常规CUDA Graph capture/replay语义。底层CUDA有图更新能力，但不能将其等同PyTorch任意动态形状支持。CPU逻辑不会在replay中重新执行，.item()之类同步和数据相关分支不适合直接捕获。Graph有内存池与多桶存储开销。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CUDA Graph 的作用与工作过程</a:t>
            </a:r>
          </a:p>
          <a:p xmlns:a="http://schemas.openxmlformats.org/drawingml/2006/main">
            <a:r>
              <a:t>把重复的 CUDA 工作及依赖记录下来，然后重放</a:t>
            </a:r>
          </a:p>
          <a:p xmlns:a="http://schemas.openxmlformats.org/drawingml/2006/main">
            <a:r>
              <a:t>26</a:t>
            </a:r>
          </a:p>
          <a:p xmlns:a="http://schemas.openxmlformats.org/drawingml/2006/main">
            <a:r>
              <a:t>阶段</a:t>
            </a:r>
          </a:p>
          <a:p xmlns:a="http://schemas.openxmlformats.org/drawingml/2006/main">
            <a:r>
              <a:t>操作</a:t>
            </a:r>
          </a:p>
          <a:p xmlns:a="http://schemas.openxmlformats.org/drawingml/2006/main">
            <a:r>
              <a:t>作用</a:t>
            </a:r>
          </a:p>
          <a:p xmlns:a="http://schemas.openxmlformats.org/drawingml/2006/main">
            <a:r>
              <a:t>Warmup 预热</a:t>
            </a:r>
          </a:p>
          <a:p xmlns:a="http://schemas.openxmlformats.org/drawingml/2006/main">
            <a:r>
              <a:t>初始化内核、分配稳定缓冲区</a:t>
            </a:r>
          </a:p>
          <a:p xmlns:a="http://schemas.openxmlformats.org/drawingml/2006/main">
            <a:r>
              <a:t>减少捕获过程中的临时工作</a:t>
            </a:r>
          </a:p>
          <a:p xmlns:a="http://schemas.openxmlformats.org/drawingml/2006/main">
            <a:r>
              <a:t>Capture 捕获</a:t>
            </a:r>
          </a:p>
          <a:p xmlns:a="http://schemas.openxmlformats.org/drawingml/2006/main">
            <a:r>
              <a:t>记录 kernel、拷贝和依赖关系</a:t>
            </a:r>
          </a:p>
          <a:p xmlns:a="http://schemas.openxmlformats.org/drawingml/2006/main">
            <a:r>
              <a:t>形成可重用的 CUDA 执行图</a:t>
            </a:r>
          </a:p>
          <a:p xmlns:a="http://schemas.openxmlformats.org/drawingml/2006/main">
            <a:r>
              <a:t>Replay 重放</a:t>
            </a:r>
          </a:p>
          <a:p xmlns:a="http://schemas.openxmlformats.org/drawingml/2006/main">
            <a:r>
              <a:t>将新数据写入固定输入缓冲区</a:t>
            </a:r>
          </a:p>
          <a:p xmlns:a="http://schemas.openxmlformats.org/drawingml/2006/main">
            <a:r>
              <a:t>一次提交整段图执行</a:t>
            </a:r>
          </a:p>
          <a:p xmlns:a="http://schemas.openxmlformats.org/drawingml/2006/main">
            <a:r>
              <a:t>减少 CPU 逐算子发射开销</a:t>
            </a:r>
          </a:p>
          <a:p xmlns:a="http://schemas.openxmlformats.org/drawingml/2006/main">
            <a:r>
              <a:t>形状分桶</a:t>
            </a:r>
          </a:p>
          <a:p xmlns:a="http://schemas.openxmlformats.org/drawingml/2006/main">
            <a:r>
              <a:t>为多个 batch / token 桶建图</a:t>
            </a:r>
          </a:p>
          <a:p xmlns:a="http://schemas.openxmlformats.org/drawingml/2006/main">
            <a:r>
              <a:t>请求选择适配的桶</a:t>
            </a:r>
          </a:p>
          <a:p xmlns:a="http://schemas.openxmlformats.org/drawingml/2006/main">
            <a:r>
              <a:t>支持变化负载，代价是 padding</a:t>
            </a:r>
          </a:p>
          <a:p xmlns:a="http://schemas.openxmlformats.org/drawingml/2006/main">
            <a:r>
              <a:t>重放时数据可以变化，捕获图通常要求形状、布局和内存地址稳定。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https://docs.pytorch.org/docs/2.9/torch.compiler_dynamo_overview.html</a:t>
            </a:r>
          </a:p>
          <a:p xmlns:a="http://schemas.openxmlformats.org/drawingml/2006/main">
            <a:r>
              <a:t>https://docs.pytorch.org/docs/2.9/notes/cuda.html#cuda-graphs</a:t>
            </a:r>
          </a:p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一些torch.compile模式内部启用CUDA Graph，但二者概念仍不同，SGLang也有自己的graph runner。CUDA Graph不会自动把多个内核融合成单内核，减少launch不代表减小每个kernel的GPU执行时间。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torch.compile 与 CUDA Graph 的关系</a:t>
            </a:r>
          </a:p>
          <a:p xmlns:a="http://schemas.openxmlformats.org/drawingml/2006/main">
            <a:r>
              <a:t>两者可以组合，也可以各自使用</a:t>
            </a:r>
          </a:p>
          <a:p xmlns:a="http://schemas.openxmlformats.org/drawingml/2006/main">
            <a:r>
              <a:t>27</a:t>
            </a:r>
          </a:p>
          <a:p xmlns:a="http://schemas.openxmlformats.org/drawingml/2006/main">
            <a:r>
              <a:t>对比项</a:t>
            </a:r>
          </a:p>
          <a:p xmlns:a="http://schemas.openxmlformats.org/drawingml/2006/main">
            <a:r>
              <a:t>torch.compile</a:t>
            </a:r>
          </a:p>
          <a:p xmlns:a="http://schemas.openxmlformats.org/drawingml/2006/main">
            <a:r>
              <a:t>CUDA Graph</a:t>
            </a:r>
          </a:p>
          <a:p xmlns:a="http://schemas.openxmlformats.org/drawingml/2006/main">
            <a:r>
              <a:t>主要优化对象</a:t>
            </a:r>
          </a:p>
          <a:p xmlns:a="http://schemas.openxmlformats.org/drawingml/2006/main">
            <a:r>
              <a:t>张量计算图与内核实现</a:t>
            </a:r>
          </a:p>
          <a:p xmlns:a="http://schemas.openxmlformats.org/drawingml/2006/main">
            <a:r>
              <a:t>CUDA 工作提交与依赖执行</a:t>
            </a:r>
          </a:p>
          <a:p xmlns:a="http://schemas.openxmlformats.org/drawingml/2006/main">
            <a:r>
              <a:t>可能减少什么</a:t>
            </a:r>
          </a:p>
          <a:p xmlns:a="http://schemas.openxmlformats.org/drawingml/2006/main">
            <a:r>
              <a:t>算子数、中间读写</a:t>
            </a:r>
          </a:p>
          <a:p xmlns:a="http://schemas.openxmlformats.org/drawingml/2006/main">
            <a:r>
              <a:t>Python / dispatcher 开销</a:t>
            </a:r>
          </a:p>
          <a:p xmlns:a="http://schemas.openxmlformats.org/drawingml/2006/main">
            <a:r>
              <a:t>每步 CPU launch 开销</a:t>
            </a:r>
          </a:p>
          <a:p xmlns:a="http://schemas.openxmlformats.org/drawingml/2006/main">
            <a:r>
              <a:t>由发射造成的间隙</a:t>
            </a:r>
          </a:p>
          <a:p xmlns:a="http://schemas.openxmlformats.org/drawingml/2006/main">
            <a:r>
              <a:t>不会自动解决什么</a:t>
            </a:r>
          </a:p>
          <a:p xmlns:a="http://schemas.openxmlformats.org/drawingml/2006/main">
            <a:r>
              <a:t>所有通信、排队或传输成本</a:t>
            </a:r>
          </a:p>
          <a:p xmlns:a="http://schemas.openxmlformats.org/drawingml/2006/main">
            <a:r>
              <a:t>算子本身低效</a:t>
            </a:r>
          </a:p>
          <a:p xmlns:a="http://schemas.openxmlformats.org/drawingml/2006/main">
            <a:r>
              <a:t>大矩阵计算与显存带宽成本</a:t>
            </a:r>
          </a:p>
          <a:p xmlns:a="http://schemas.openxmlformats.org/drawingml/2006/main">
            <a:r>
              <a:t>本项目用法</a:t>
            </a:r>
          </a:p>
          <a:p xmlns:a="http://schemas.openxmlformats.org/drawingml/2006/main">
            <a:r>
              <a:t>编译 decode 计算路径</a:t>
            </a:r>
          </a:p>
          <a:p xmlns:a="http://schemas.openxmlformats.org/drawingml/2006/main">
            <a:r>
              <a:t>捕获 batch 1 / 2 / 4 / 8</a:t>
            </a:r>
          </a:p>
          <a:p xmlns:a="http://schemas.openxmlformats.org/drawingml/2006/main">
            <a:r>
              <a:t>一个优化计算实现，一个优化重复执行的提交方式，收益需要组合复测。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https://docs.pytorch.org/docs/2.9/profiler.html</a:t>
            </a:r>
          </a:p>
          <a:p xmlns:a="http://schemas.openxmlformats.org/drawingml/2006/main">
            <a:r>
              <a:t>https://github.com/pytorch/kineto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CPU侧事件通过PyTorch instrumentation/RecordFunction等收集；CUDA活动常由Kineto的CUPTI后端获取。设备计时是异步事件时间线，不能用CPU调用时长替代kernel耗时。并非所有自定义算子/graph节点都保留完整高层对应关系，取决于版本和配置。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torch.profiler 的原理与用途</a:t>
            </a:r>
          </a:p>
          <a:p xmlns:a="http://schemas.openxmlformats.org/drawingml/2006/main">
            <a:r>
              <a:t>记录 CPU 操作和 GPU 活动，再关联到同一条执行时间线</a:t>
            </a:r>
          </a:p>
          <a:p xmlns:a="http://schemas.openxmlformats.org/drawingml/2006/main">
            <a:r>
              <a:t>28</a:t>
            </a:r>
          </a:p>
          <a:p xmlns:a="http://schemas.openxmlformats.org/drawingml/2006/main">
            <a:r>
              <a:t>数据来源</a:t>
            </a:r>
          </a:p>
          <a:p xmlns:a="http://schemas.openxmlformats.org/drawingml/2006/main">
            <a:r>
              <a:t>记录的内容</a:t>
            </a:r>
          </a:p>
          <a:p xmlns:a="http://schemas.openxmlformats.org/drawingml/2006/main">
            <a:r>
              <a:t>能回答的问题</a:t>
            </a:r>
          </a:p>
          <a:p xmlns:a="http://schemas.openxmlformats.org/drawingml/2006/main">
            <a:r>
              <a:t>PyTorch CPU 事件</a:t>
            </a:r>
          </a:p>
          <a:p xmlns:a="http://schemas.openxmlformats.org/drawingml/2006/main">
            <a:r>
              <a:t>算子范围、调用时间</a:t>
            </a:r>
          </a:p>
          <a:p xmlns:a="http://schemas.openxmlformats.org/drawingml/2006/main">
            <a:r>
              <a:t>可选 shape、stack、内存信息</a:t>
            </a:r>
          </a:p>
          <a:p xmlns:a="http://schemas.openxmlformats.org/drawingml/2006/main">
            <a:r>
              <a:t>CPU 在做什么，哪些操作频繁</a:t>
            </a:r>
          </a:p>
          <a:p xmlns:a="http://schemas.openxmlformats.org/drawingml/2006/main">
            <a:r>
              <a:t>Kineto 与 CUDA / CUPTI</a:t>
            </a:r>
          </a:p>
          <a:p xmlns:a="http://schemas.openxmlformats.org/drawingml/2006/main">
            <a:r>
              <a:t>kernel、memcpy、运行时事件</a:t>
            </a:r>
          </a:p>
          <a:p xmlns:a="http://schemas.openxmlformats.org/drawingml/2006/main">
            <a:r>
              <a:t>GPU 时间戳和 stream 信息</a:t>
            </a:r>
          </a:p>
          <a:p xmlns:a="http://schemas.openxmlformats.org/drawingml/2006/main">
            <a:r>
              <a:t>GPU 执行了什么，何时执行</a:t>
            </a:r>
          </a:p>
          <a:p xmlns:a="http://schemas.openxmlformats.org/drawingml/2006/main">
            <a:r>
              <a:t>关联与导出</a:t>
            </a:r>
          </a:p>
          <a:p xmlns:a="http://schemas.openxmlformats.org/drawingml/2006/main">
            <a:r>
              <a:t>用 correlation 等关联调用</a:t>
            </a:r>
          </a:p>
          <a:p xmlns:a="http://schemas.openxmlformats.org/drawingml/2006/main">
            <a:r>
              <a:t>输出统计表和 trace</a:t>
            </a:r>
          </a:p>
          <a:p xmlns:a="http://schemas.openxmlformats.org/drawingml/2006/main">
            <a:r>
              <a:t>CPU 发射对应哪个 GPU 工作</a:t>
            </a:r>
          </a:p>
          <a:p xmlns:a="http://schemas.openxmlformats.org/drawingml/2006/main">
            <a:r>
              <a:t>哪里出现等待或重叠</a:t>
            </a:r>
          </a:p>
          <a:p xmlns:a="http://schemas.openxmlformats.org/drawingml/2006/main">
            <a:r>
              <a:t>正确工具名是 torch.profiler。它负责观察和定位，不直接加速模型。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https://docs.pytorch.org/docs/2.9/profiler.html</a:t>
            </a:r>
          </a:p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schedule通过wait/warmup/active控制采集，prof.step推进逻辑step。record_shapes和with_stack会增加开销。硬件占用率、内存吞吐和单核stall需要Nsight Compute等额外工具。本项目没有采集该类硬件计数器。</a:t>
            </a:r>
          </a:p>
          <a:p xmlns:a="http://schemas.openxmlformats.org/drawingml/2006/main">
            <a:r>
              <a:t>本页为概念结构示意，2026-09-21补充。时间槽和块宽不代表实测时长。</a:t>
            </a:r>
          </a:p>
          <a:p xmlns:a="http://schemas.openxmlformats.org/drawingml/2006/main">
            <a:r>
              <a:t>原页详细说明：</a:t>
            </a:r>
          </a:p>
          <a:p xmlns:a="http://schemas.openxmlformats.org/drawingml/2006/main">
            <a:r>
              <a:t>如何采集与阅读性能时间线</a:t>
            </a:r>
          </a:p>
          <a:p xmlns:a="http://schemas.openxmlformats.org/drawingml/2006/main">
            <a:r>
              <a:t>先区分编译启动、稳态推理和完整服务路径</a:t>
            </a:r>
          </a:p>
          <a:p xmlns:a="http://schemas.openxmlformats.org/drawingml/2006/main">
            <a:r>
              <a:t>29</a:t>
            </a:r>
          </a:p>
          <a:p xmlns:a="http://schemas.openxmlformats.org/drawingml/2006/main">
            <a:r>
              <a:t>动作</a:t>
            </a:r>
          </a:p>
          <a:p xmlns:a="http://schemas.openxmlformats.org/drawingml/2006/main">
            <a:r>
              <a:t>实践方法</a:t>
            </a:r>
          </a:p>
          <a:p xmlns:a="http://schemas.openxmlformats.org/drawingml/2006/main">
            <a:r>
              <a:t>避免误判</a:t>
            </a:r>
          </a:p>
          <a:p xmlns:a="http://schemas.openxmlformats.org/drawingml/2006/main">
            <a:r>
              <a:t>采集代表性窗口</a:t>
            </a:r>
          </a:p>
          <a:p xmlns:a="http://schemas.openxmlformats.org/drawingml/2006/main">
            <a:r>
              <a:t>预热后采 CPU + CUDA</a:t>
            </a:r>
          </a:p>
          <a:p xmlns:a="http://schemas.openxmlformats.org/drawingml/2006/main">
            <a:r>
              <a:t>用 record_function 标记阶段</a:t>
            </a:r>
          </a:p>
          <a:p xmlns:a="http://schemas.openxmlformats.org/drawingml/2006/main">
            <a:r>
              <a:t>编译和首次分配不混入稳态</a:t>
            </a:r>
          </a:p>
          <a:p xmlns:a="http://schemas.openxmlformats.org/drawingml/2006/main">
            <a:r>
              <a:t>多卡与多进程分析</a:t>
            </a:r>
          </a:p>
          <a:p xmlns:a="http://schemas.openxmlformats.org/drawingml/2006/main">
            <a:r>
              <a:t>每个 rank 分别采集</a:t>
            </a:r>
          </a:p>
          <a:p xmlns:a="http://schemas.openxmlformats.org/drawingml/2006/main">
            <a:r>
              <a:t>检查通信与前处理进程</a:t>
            </a:r>
          </a:p>
          <a:p xmlns:a="http://schemas.openxmlformats.org/drawingml/2006/main">
            <a:r>
              <a:t>单 rank trace 不代表整条 pipeline</a:t>
            </a:r>
          </a:p>
          <a:p xmlns:a="http://schemas.openxmlformats.org/drawingml/2006/main">
            <a:r>
              <a:t>查看耗时和空白</a:t>
            </a:r>
          </a:p>
          <a:p xmlns:a="http://schemas.openxmlformats.org/drawingml/2006/main">
            <a:r>
              <a:t>结合 kernel / copy 区间</a:t>
            </a:r>
          </a:p>
          <a:p xmlns:a="http://schemas.openxmlformats.org/drawingml/2006/main">
            <a:r>
              <a:t>观察 CPU 发射、通信和等待</a:t>
            </a:r>
          </a:p>
          <a:p xmlns:a="http://schemas.openxmlformats.org/drawingml/2006/main">
            <a:r>
              <a:t>时间求和不等于端到端时长</a:t>
            </a:r>
          </a:p>
          <a:p xmlns:a="http://schemas.openxmlformats.org/drawingml/2006/main">
            <a:r>
              <a:t>多 stream 可能重叠</a:t>
            </a:r>
          </a:p>
          <a:p xmlns:a="http://schemas.openxmlformats.org/drawingml/2006/main">
            <a:r>
              <a:t>验证优化收益</a:t>
            </a:r>
          </a:p>
          <a:p xmlns:a="http://schemas.openxmlformats.org/drawingml/2006/main">
            <a:r>
              <a:t>关闭 profiler，重复同负载</a:t>
            </a:r>
          </a:p>
          <a:p xmlns:a="http://schemas.openxmlformats.org/drawingml/2006/main">
            <a:r>
              <a:t>测 TTFT、TPOT 和吞吐</a:t>
            </a:r>
          </a:p>
          <a:p xmlns:a="http://schemas.openxmlformats.org/drawingml/2006/main">
            <a:r>
              <a:t>profiling 本身会引入额外开销</a:t>
            </a:r>
          </a:p>
          <a:p xmlns:a="http://schemas.openxmlformats.org/drawingml/2006/main">
            <a:r>
              <a:t>trace 的“无 GPU 活动区间”不等于 SM 空闲率或已证实的带宽瓶颈。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项目证据：publish/docs/optimization-report.md；publish/docs/dp-attention-compatibility.md</a:t>
            </a:r>
          </a:p>
          <a:p xmlns:a="http://schemas.openxmlformats.org/drawingml/2006/main">
            <a:r>
              <a:t>讲解补充日期：2026-09-20。一般原理与本项目已测结论分开说明。</a:t>
            </a:r>
          </a:p>
          <a:p xmlns:a="http://schemas.openxmlformats.org/drawingml/2006/main">
            <a:r>
              <a:t>本次只补充PPT讲解，没有再次启动远程模型或运行新实验。原始测试口径和数字保留。Piecewise CUDA Graph实测回退未部署，自定义QK融合与FP8仍为实验候选。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来源：environment/validated.json; docs/profiling-report.md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来源：benchmarks/opt_probe.py; benchmarks/analyze_traces.py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来源：evidence/profiling/analysis/trace-summary.json; evidence/optimization/analysis/trace-summary.json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第4章：DP Attention 兼容性修复。</a:t>
            </a:r>
          </a:p>
          <a:p xmlns:a="http://schemas.openxmlformats.org/drawingml/2006/main">
            <a:r>
              <a:t>MRoPE 补齐错误及具体张量示例</a:t>
            </a:r>
          </a:p>
          <a:p xmlns:a="http://schemas.openxmlformats.org/drawingml/2006/main">
            <a:r>
              <a:t>视觉与语言模型的通信错位</a:t>
            </a:r>
          </a:p>
          <a:p xmlns:a="http://schemas.openxmlformats.org/drawingml/2006/main">
            <a:r>
              <a:t>两个修复的实现方式与验证范围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SGLang v0.5.6.post2 源码：https://github.com/sgl-project/sglang/blob/v0.5.6.post2/python/sglang/srt/layers/dp_attention.py</a:t>
            </a:r>
          </a:p>
          <a:p xmlns:a="http://schemas.openxmlformats.org/drawingml/2006/main">
            <a:r>
              <a:t>SGLang 概念文档：https://github.com/sgl-project/sglang/blob/main/docs/docs/advanced_features/dp_dpa_smg_guide.mdx</a:t>
            </a:r>
          </a:p>
          <a:p xmlns:a="http://schemas.openxmlformats.org/drawingml/2006/main">
            <a:r>
              <a:t>SGLang 团队设计说明：https://www.lmsys.org/blog/2024-12-04-sglang-v0-4/#data-parallelism-attention-for-deepseek-models</a:t>
            </a:r>
          </a:p>
          <a:p xmlns:a="http://schemas.openxmlformats.org/drawingml/2006/main">
            <a:r>
              <a:t>项目证据：docs/dp-attention-compatibility.md；docs/optimization-report.md；versions/dp-attention-fixed/config.json；benchmarks/results/benchmark-summary.json</a:t>
            </a:r>
          </a:p>
          <a:p xmlns:a="http://schemas.openxmlformats.org/drawingml/2006/main">
            <a:r>
              <a:t>补充日期：2026-09-20。框架运行版本仍为 0.5.6.post2。当前上游文档只用于一般概念，部署参数按项目快照说明。</a:t>
            </a:r>
          </a:p>
          <a:p xmlns:a="http://schemas.openxmlformats.org/drawingml/2006/main">
            <a:r>
              <a:t>本项目希望验证在Qwen3-VL-32B多模态服务上，attention按请求分工是否改善资源使用和吞吐，因此先修复框架兼容问题再建立基线。并非因为模型使用MoE或GDN才尝试，实际两者都不是。受控双卡布局对比中，DP2短文本TPOT约15.07、8并发吞吐约447.0；普通TP2约12.35和521.0。候选通常3轮、DP初始基线5轮，这组结果不同于最终同卡组合前后5轮的25.1%、27.8%结果。后续compile、融合和IPC收益不能全部归因于切换TP。下一章节的MRoPE padding和视觉collective分别解决token布局契约和通信参与集合的问题。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来源：docs/dp-attention-compatibility.md；patches/dp-attention.patch；tests/test_dp_mrope_padding.py。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补充讲解日期：2026-09-20。示意数据用于说明张量维度，不是新增性能测试。</a:t>
            </a:r>
          </a:p>
          <a:p xmlns:a="http://schemas.openxmlformats.org/drawingml/2006/main">
            <a:r>
              <a:t>示例有两个请求：A 本轮处理 3 个 token，B 本轮处理 2 个 token，因此 batch size=2，token 总数=5。SGLang 在这个调用点将本轮 token 展平，request 边界另有元数据记录。MRoPE 的 [3,N] 保存时间、高度、宽度三个方向的位置编号，不是 embedding，也不是 [batch,sequence]。实际坐标与模态、网格和上下文偏移有关，表内使用符号示意。普通 decode 每个请求通常只处理一个新 token，N 不代表完整 KV 上下文长度。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来源：docs/dp-attention-compatibility.md；patches/dp-attention.patch；tests/test_dp_mrope_padding.py。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补充讲解日期：2026-09-20。示意数据用于说明张量维度，不是新增性能测试。</a:t>
            </a:r>
          </a:p>
          <a:p xmlns:a="http://schemas.openxmlformats.org/drawingml/2006/main">
            <a:r>
              <a:t>prepare_mlp_sync_batch 根据 global_num_tokens 选择对齐目标。max_len 模式将各 rank 的 token 数补到共同最大值，适配 all_gather_into_tensor 和后续 reduce-scatter。其他 padding 模式不一定补到全局最大长度。本例 rank 0 有两个请求、5 个 token，rank 1 有8个 token，rank 0 的 token 目标为8。prefill 下请求级元数据的目标 bs 仍可为2。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来源：patches/dp-attention.patch; tests/test_dp_mrope_padding.py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来源：docs/dp-attention-compatibility.md；patches/dp-attention.patch；tests/test_dp_mrope_padding.py。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补充讲解日期：2026-09-20。示意数据用于说明张量维度，不是新增性能测试。</a:t>
            </a:r>
          </a:p>
          <a:p xmlns:a="http://schemas.openxmlformats.org/drawingml/2006/main">
            <a:r>
              <a:t>旧辅助函数沿 dim=0 拼接，创建 tensor.new_zeros(size - tensor.shape[0], *tensor.shape[1:])。原调用传入 size=bs。输入 shape=[3,78]，所以尝试创建 new_zeros(-2,78)，负数维度导致异常。即便目标 token 数已经等于原 token 数，完全无需扩展 token，也会触发这个错误。根因是维度和目标语义不匹配，不是上下文太长或显存不足。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来源：docs/dp-attention-compatibility.md；patches/dp-attention.patch；tests/test_dp_mrope_padding.py。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补充讲解日期：2026-09-20。示意数据用于说明张量维度，不是新增性能测试。</a:t>
            </a:r>
          </a:p>
          <a:p xmlns:a="http://schemas.openxmlformats.org/drawingml/2006/main">
            <a:r>
              <a:t>旧辅助函数把第0维从3补到4，输出[4,1]，依然只有一个token。正确输出是[3,4]，保留三个坐标轴，每个占位token有一列位置坐标。只将bs改成num_tokens仍会沿错误轴补齐；只改变轴却保留bs也无法支持prefill请求数和token数不同的情况，两处必须同时纠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来源：versions/dp-attention-fixed/src/sglang/srt/model_executor/forward_batch_info.py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来源：docs/dp-attention-compatibility.md；patches/dp-attention.patch；tests/test_dp_mrope_padding.py。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补充讲解日期：2026-09-20。示意数据用于说明张量维度，不是新增性能测试。</a:t>
            </a:r>
          </a:p>
          <a:p xmlns:a="http://schemas.openxmlformats.org/drawingml/2006/main">
            <a:r>
              <a:t>F.pad 的两个 padding 数从最后一维解释：(left,right)=(0,3)，默认 constant=0。num_tokens - shape[1]=8-5=3。表中的t0..w4是示意位置编号，不是实际请求测得的坐标值。保持 mrope_positions[:, :N] 完全不变。填零的是占位位置编号，零本身不构成 attention mask；有效长度、attention 后端和输出处理必须遵守框架的 padding 契约。调用方需保证 num_tokens &gt;= 当前token数，不能借负 padding 裁剪真实 token。PyTorch 文档：https://docs.pytorch.org/docs/2.14/generated/torch.nn.functional.pad.html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来源：docs/dp-attention-compatibility.md；patches/dp-attention.patch；tests/test_dp_mrope_padding.py。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补充讲解日期：2026-09-20。示意数据用于说明张量维度，不是新增性能测试。</a:t>
            </a:r>
          </a:p>
          <a:p xmlns:a="http://schemas.openxmlformats.org/drawingml/2006/main">
            <a:r>
              <a:t>五个回归用例来自 tests/test_dp_mrope_padding.py。原代码：bs=1或2时申请负维度；decode和idle的bs=4会得到错误的[4,N]；三请求bs=3虽不增加坐标轴但未补token列。修复后五项通过。断言不仅检查shape，还检查原值、新区域为0以及dtype保持。MRoPE这五项属于总体10项源码回归的一部分，另五项是视觉dispatch。此修复解决正确性，不能单独归因最终25.1%的解码延迟改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来源：docs/dp-attention-compatibility.md; patches/dp-attention.patch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来源：versions/dp-attention-fixed/src/sglang/srt/models/qwen3_vl.py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来源：tests/test_dp_mrope_padding.py; tests/test_dp_vision_dispatch.py; benchmarks/results/DP-Attention验证结果.json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第5章：已采用的性能优化。</a:t>
            </a:r>
          </a:p>
          <a:p xmlns:a="http://schemas.openxmlformats.org/drawingml/2006/main">
            <a:r>
              <a:t>普通 TP2 与 torch.compile</a:t>
            </a:r>
          </a:p>
          <a:p xmlns:a="http://schemas.openxmlformats.org/drawingml/2006/main">
            <a:r>
              <a:t>FlashInfer 通信融合</a:t>
            </a:r>
          </a:p>
          <a:p xmlns:a="http://schemas.openxmlformats.org/drawingml/2006/main">
            <a:r>
              <a:t>显式 CUDA IPC 的数据流、配置与收益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来源：benchmarks/results/benchmark-summary.json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https://github.com/justsoloking-blip/qwen-vl-32B-project/blob/main/evidence/optimization/deployment.patch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候选通常3轮，GPU未锁频。数字来自普通TP2和TP2+compile候选，不是最终组合5轮的数据。部署代码将config.env注入进程环境。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来源：evidence/optimization/analysis/trace-summary.json; evidence/profiling/analysis/trace-summary.json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开关--enable-flashinfer-allreduce-fusion。框架融合可支持的通信与邻近后处理，实际融合边界由版本和后端决定，不能声称所有层或所有Norm都融合。trace确认fusion kernel实际运行。普通TP2单独启用通信融合时decode12.35→12.23，收益小；compile组合11.29。原1353与1289来自前后trace口径，不能据内核数等比例推算延迟。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https://docs.nvidia.com/cuda/cuda-programming-guide/04-special-topics/inter-process-communication.html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CUDA指针通常只在创建它的进程中有效。CUDA IPC使用可跨进程交换的句柄，在另一个进程中导入可访问的设备内存。图是机制示意，并不声称项目Python代码直接调用了cudaIpcGetMemHandle；框架传输层封装底层API。IPC不自动完成所有同步和生命周期管理。显式是指设置开关明确选择此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原scheduler trace有24MiB H→D。前处理CPU往返的解释依据keep-device/IPC执行路径，未做全进程统一trace。改后scheduler rank1出现24MiB P2P，rank0仍有设备内部复制。不能把TTFT改善全部归因于单次DMA，也不能说缓存的是ViT最终embedding。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https://github.com/justsoloking-blip/qwen-vl-32B-project/blob/main/evidence/optimization/configs/compile_ipc.json</a:t>
            </a:r>
          </a:p>
          <a:p xmlns:a="http://schemas.openxmlformats.org/drawingml/2006/main">
            <a:r>
              <a:t>https://github.com/justsoloking-blip/qwen-vl-32B-project/blob/main/evidence/optimization/deployment.patch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参数名换行仅为排版。memcpy记录H→D变成264012bytes，rank1仍P2P24MiB。keep-device候选289.7与IPC109.2均三轮候选，最终BF16组合为110.92ms，避免混淆归因。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来源：benchmarks/results/benchmark-summary.json; evidence/optimization/analysis/memcpy-summary.json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第6章：实验优化与采用边界。</a:t>
            </a:r>
          </a:p>
          <a:p xmlns:a="http://schemas.openxmlformats.org/drawingml/2006/main">
            <a:r>
              <a:t>Piecewise Graph 的修复与性能回退</a:t>
            </a:r>
          </a:p>
          <a:p xmlns:a="http://schemas.openxmlformats.org/drawingml/2006/main">
            <a:r>
              <a:t>手写 Triton 的 QK Norm + MRoPE 融合</a:t>
            </a:r>
          </a:p>
          <a:p xmlns:a="http://schemas.openxmlformats.org/drawingml/2006/main">
            <a:r>
              <a:t>重编译、精度验证与 FP8 实验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https://github.com/sgl-project/sglang/blob/v0.5.6.post2/python/sglang/srt/compilation/cuda_piecewise_backend.py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SGLang 0.5.6.post2 cuda_piecewise_backend维护每个分段各尺寸ConcreteSizeEntry，首次通用编译执行，后续按尺寸预热/捕获/replay。边界可能包含动态操作或需独立执行算子。示意不宣称实际模型只有三段。Piecewise用于扩大图覆盖，尤其token数量变化的路径，不是简单把整个decoder变成一个静态graph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https://github.com/justsoloking-blip/qwen-vl-32B-project/blob/main/patches/piecewise-static-shape.patch</a:t>
            </a:r>
          </a:p>
          <a:p xmlns:a="http://schemas.openxmlformats.org/drawingml/2006/main">
            <a:r>
              <a:t>https://github.com/justsoloking-blip/qwen-vl-32B-project/blob/main/experiments/piecewise-initial-failure.txt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原文件__call__首次执行通用图，后续直接args[self.sym_shape_indices[0]]。空列表发生IndexError，补丁在读取runtime_shape前判断并返回compiled_graph_for_general_shape。这个回退是已编译通用图，不是直接退回未编译Python eager。被该条件命中的分区不经过后续本backend的尺寸专用cudagraph replay分支。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来源：patches/piecewise-static-shape.patch; benchmarks/results/benchmark-summary.json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https://github.com/justsoloking-blip/qwen-vl-32B-project/blob/main/evidence/optimization/configs/tp_piecewise.json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基线是普通TP2，不是TP2+compile。数据是三轮候选，小幅吞吐差异不视为显著结论。例1075若选择2048桶则可能有973个padding token，这是机制假设示例而非本轮实际路径测量。未来可对比精确桶、不同桶、回退覆盖率与分段trace，未执行这些追加实验。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https://github.com/justsoloking-blip/qwen-vl-32B-project/blob/main/experiments/fused_qk_mrope.py</a:t>
            </a:r>
          </a:p>
          <a:p xmlns:a="http://schemas.openxmlformats.org/drawingml/2006/main">
            <a:r>
              <a:t>https://github.com/justsoloking-blip/qwen-vl-32B-project/blob/main/patches/qk-fusion.patch</a:t>
            </a:r>
          </a:p>
          <a:p xmlns:a="http://schemas.openxmlformats.org/drawingml/2006/main">
            <a:r>
              <a:t>https://github.com/justsoloking-blip/qwen-vl-32B-project/blob/main/experiments/test_fused_qk_mrope.py</a:t>
            </a:r>
          </a:p>
          <a:p xmlns:a="http://schemas.openxmlformats.org/drawingml/2006/main">
            <a:r>
              <a:t>https://triton-lang.org/main/programming-guide/chapter-1/introduction.html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源码experiments/fused_qk_mrope.py约30行核心实现，@triton.jit修饰_qk_norm_mrope。补丁将其以sglang.srt.layers.fused_qk_mrope_local导入qwen3.py的forward_prepare_native。不是模型原生权重，也不是Inductor自动产物或从官方示例原封使用的现成Qwen融合算子。测试参考采用FlashInfer rmsnorm和SGLang MRotaryEmbedding。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https://github.com/justsoloking-blip/qwen-vl-32B-project/blob/main/experiments/fused_qk_mrope.py</a:t>
            </a:r>
          </a:p>
          <a:p xmlns:a="http://schemas.openxmlformats.org/drawingml/2006/main">
            <a:r>
              <a:t>https://github.com/justsoloking-blip/qwen-vl-32B-project/blob/main/patches/qk-fusion.patch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旧路径_apply_qk_norm后rotary_emb。参考测试将非连续Q/K显式contiguous再分别rmsnorm。新kernel按输入stride读Q/K、计算RMSNorm和旋转、直接写连续输出。没有融合QKV GEMM、QK点积/softmax或KV cache写入。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https://github.com/justsoloking-blip/qwen-vl-32B-project/blob/main/experiments/fused_qk_mrope.py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二维grid=(N,NQ+NK)，program_id(0)是token，program_id(1)选择Q/K头。TP2下NQ32 NK4，所以N×36个program，program不是单CUDA thread。num_warps=4。x0/x1各64元素FP32读取；用128维RMS归约。输入QKVsplit是视图，用QS/KS跨token寻址，避免输入contiguous拷贝；输出新分配连续oq/ok。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https://github.com/justsoloking-blip/qwen-vl-32B-project/blob/main/experiments/fused_qk_mrope.py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d0..63，x0=x[d]，x1=x[d+64]。inv=rsqrt(sum(x0²+x1²)/128+eps)。Norm后转BF16以接近原中间舍入，加载cache的cos/sin再旋转。ax=(d%3==1 and d&lt;=60)?1:((d%3==2 and d&lt;=60)?2:0)，计数t24 h20 w20。位置读取为POS[ax,t]，扁平地址公式ax*N+t。cache[pos,0:64]cos，64:128sin。enable_fp_fusion=False减少表达式融合改变舍入，但仍非逐位一致。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https://github.com/justsoloking-blip/qwen-vl-32B-project/blob/main/patches/qk-fusion.patch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接入源码严格见patch。新helper使用q_norm.variance_epsilon，两套Norm在本模型共享相同配置。条件检查不是通用算子完整输入验证器。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来源：experiments/fused_qk_mrope.py; benchmarks/results/fused-kernel-test.json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https://github.com/justsoloking-blip/qwen-vl-32B-project/blob/main/experiments/test_fused_qk_mrope.py</a:t>
            </a:r>
          </a:p>
          <a:p xmlns:a="http://schemas.openxmlformats.org/drawingml/2006/main">
            <a:r>
              <a:t>https://github.com/justsoloking-blip/qwen-vl-32B-project/blob/main/evidence/optimization/fused-kernel-test.json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atol0.03125 rtol0.015625。16组为8种token数×2种Q/K头数组合；不是16组真实业务数据集。单token约5.58倍局部加速不能推广到32B整模型。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来源：patches/fp8-scale-layout.patch; benchmarks/results/fp8-fixed-baseline.json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https://github.com/justsoloking-blip/qwen-vl-32B-project/blob/main/docs/optimization-report.md</a:t>
            </a:r>
          </a:p>
          <a:p xmlns:a="http://schemas.openxmlformats.org/drawingml/2006/main">
            <a:r>
              <a:t>https://github.com/justsoloking-blip/qwen-vl-32B-project/blob/main/patches/fp8-scale-layout.patch</a:t>
            </a:r>
          </a:p>
          <a:p xmlns:a="http://schemas.openxmlformats.org/drawingml/2006/main">
            <a:r>
              <a:t>实现说明补充日期：2026-09-21。性能数字引用2026-09-17已有实验，未新增运行实验。</a:t>
            </a:r>
          </a:p>
          <a:p xmlns:a="http://schemas.openxmlformats.org/drawingml/2006/main">
            <a:r>
              <a:t>FP8候选的启动失败和补丁见归档，未在本轮重新运行。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第7章：最终部署与项目交付。</a:t>
            </a:r>
          </a:p>
          <a:p xmlns:a="http://schemas.openxmlformats.org/drawingml/2006/main">
            <a:r>
              <a:t>最终 BF16 配置与组合性能</a:t>
            </a:r>
          </a:p>
          <a:p xmlns:a="http://schemas.openxmlformats.org/drawingml/2006/main">
            <a:r>
              <a:t>性能结论和质量验证的边界</a:t>
            </a:r>
          </a:p>
          <a:p xmlns:a="http://schemas.openxmlformats.org/drawingml/2006/main">
            <a:r>
              <a:t>工程版本、交付物及下一步验证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来源：versions/optimized/config.json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来源：benchmarks/results/before_cutover-baseline.json; benchmarks/results/deployed-baseline.json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来源：benchmarks/results/deployed-functional.json; benchmarks/results/deployed-pipeline.json; benchmarks/results/deployed-quality.json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来源：versions/provenance.json; README.md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来源：README.md; scripts/prepare_runtime.py; docs/dp-attention-compatibility.md</a:t>
            </a:r>
          </a:p>
          <a:p xmlns:a="http://schemas.openxmlformats.org/drawingml/2006/main">
            <a:r>
              <a:t>仓库：https://github.com/justsoloking-blip/qwen-vl-32B-project</a:t>
            </a:r>
          </a:p>
          <a:p xmlns:a="http://schemas.openxmlformats.org/drawingml/2006/main">
            <a:r>
              <a:t>测试日期：2026-09-17。结论范围见仓库报告。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课程安排每次3小时，课后完成实验。GPU部分已于2026-09-22在H200双卡执行，详见验证记录。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https://huggingface.co/Qwen/Qwen3-VL-32B-Instruct</a:t>
            </a:r>
          </a:p>
          <a:p xmlns:a="http://schemas.openxmlformats.org/drawingml/2006/main">
            <a:r>
              <a:t>https://huggingface.co/Qwen/Qwen3-VL-32B-Instruct/tree/0cfaf48183f594c314753d30a4c4974bc75f3ccb</a:t>
            </a:r>
          </a:p>
          <a:p xmlns:a="http://schemas.openxmlformats.org/drawingml/2006/main">
            <a:r>
              <a:t>链接检查记录：qwen-vl-course-answers/verification/model-links.json。2026-09-22返回HTTP200，权重Range读取返回206。远端已下载约66.7GB完整权重，14个分片LFS SHA256全部通过，并实际加载模型。</a:t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https://huggingface.co/Qwen/Qwen3-VL-32B-Instruct/tree/0cfaf48183f594c314753d30a4c4974bc75f3ccb</a:t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来源：04_fusion/check_position_stride_gpu.py；verification/gpu/position-stride-gpu.json。SGLang cuda_graph_runner.py使用buffers.mrope_positions[:, :num_tokens]。</a:t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来源：03_profiling/results/fresh-gpu/candidate_metrics.json；verification/gpu/candidates。TPOT和TTFT为中位数，并发吞吐为总输出token/总批次耗时。顺序运行、随机请求盐、同主机另有GPU6任务，细小差异需追加交错复测。</a:t>
            </a:r>
          </a:p>
          <a:p xmlns:a="http://schemas.openxmlformats.org/drawingml/2006/main">
            <a:r>
              <a:t>课程来源：项目差异与四次实验课程.md；qwen-vl-course-answers/各课ASSIGNMENT.md与ANSWER.md。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全部链接逐项执行实际HTTP GET，并读取对应原始文件核对关键内容。核验时间仅代表记录时刻的可访问性。项目文档固定到3c40b65提交；SGLang/PyTorch/FlashInfer源码链接固定版本；Qwen项目、PyTorch教程和Triton教程使用main，后续内容可能变化。Triton教程说明融合方法，不是本项目自定义QK内核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本项目工程与版本</a:t>
            </a:r>
          </a:p>
          <a:p xmlns:a="http://schemas.openxmlformats.org/drawingml/2006/main">
            <a:r>
              <a:t>用途：原始版、DP修复版、优化版与补丁</a:t>
            </a:r>
          </a:p>
          <a:p xmlns:a="http://schemas.openxmlformats.org/drawingml/2006/main">
            <a:r>
              <a:t>URL：https://github.com/justsoloking-blip/qwen-vl-32B-project</a:t>
            </a:r>
          </a:p>
          <a:p xmlns:a="http://schemas.openxmlformats.org/drawingml/2006/main">
            <a:r>
              <a:t>核验：2026-09-22T09:21:07.429604+00:00；页面200；源码200；关键词DP Attention已找到；源码SHA256=6a513aa9ae94868a87bdca2a68ae2c602e60b4cab0eaaf92ca58733c37d4ab32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DP Attention 兼容性修复</a:t>
            </a:r>
          </a:p>
          <a:p xmlns:a="http://schemas.openxmlformats.org/drawingml/2006/main">
            <a:r>
              <a:t>用途：MRoPE补齐与视觉通信范围</a:t>
            </a:r>
          </a:p>
          <a:p xmlns:a="http://schemas.openxmlformats.org/drawingml/2006/main">
            <a:r>
              <a:t>URL：https://github.com/justsoloking-blip/qwen-vl-32B-project/blob/3c40b65f843f8db6cc83aadcafb8b7372582d2d0/docs/dp-attention-compatibility.md</a:t>
            </a:r>
          </a:p>
          <a:p xmlns:a="http://schemas.openxmlformats.org/drawingml/2006/main">
            <a:r>
              <a:t>核验：2026-09-22T09:21:07.429966+00:00；页面200；源码200；关键词MRoPE已找到；源码SHA256=25a6bae1f6531e4a7f0ee35f88fd159c57e02bbcb9e7b52ca15f6dacc823738e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四课答案与本次实测</a:t>
            </a:r>
          </a:p>
          <a:p xmlns:a="http://schemas.openxmlformats.org/drawingml/2006/main">
            <a:r>
              <a:t>用途：复现脚本、trace、质量结果及反例</a:t>
            </a:r>
          </a:p>
          <a:p xmlns:a="http://schemas.openxmlformats.org/drawingml/2006/main">
            <a:r>
              <a:t>URL：https://github.com/justsoloking-blip/qwen-vl-32B-project/tree/3c40b65f843f8db6cc83aadcafb8b7372582d2d0/courses/qwen-vl-course-answers</a:t>
            </a:r>
          </a:p>
          <a:p xmlns:a="http://schemas.openxmlformats.org/drawingml/2006/main">
            <a:r>
              <a:t>核验：2026-09-22T09:21:07.430075+00:00；页面200；源码200；关键词39/40已找到；源码SHA256=7d79a70756c732fb3efaa2c7e814142ba5d52c4e293d82b8420b2147315b04cc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Qwen3-VL 官方项目</a:t>
            </a:r>
          </a:p>
          <a:p xmlns:a="http://schemas.openxmlformats.org/drawingml/2006/main">
            <a:r>
              <a:t>用途：模型结构、图文输入与推理示例</a:t>
            </a:r>
          </a:p>
          <a:p xmlns:a="http://schemas.openxmlformats.org/drawingml/2006/main">
            <a:r>
              <a:t>URL：https://github.com/QwenLM/Qwen3-VL</a:t>
            </a:r>
          </a:p>
          <a:p xmlns:a="http://schemas.openxmlformats.org/drawingml/2006/main">
            <a:r>
              <a:t>核验：2026-09-22T09:21:07.430160+00:00；页面200；源码200；关键词DeepStack已找到；源码SHA256=fc21106258c51e0b91a652eef12f5925becb146ea8b8c79a4251ac2e89a2f1ac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SGLang 多模态模型实现</a:t>
            </a:r>
          </a:p>
          <a:p xmlns:a="http://schemas.openxmlformats.org/drawingml/2006/main">
            <a:r>
              <a:t>用途：Qwen3-VL视觉编码与语言模型接入</a:t>
            </a:r>
          </a:p>
          <a:p xmlns:a="http://schemas.openxmlformats.org/drawingml/2006/main">
            <a:r>
              <a:t>URL：https://github.com/sgl-project/sglang/blob/v0.5.6.post2/python/sglang/srt/models/qwen3_vl.py</a:t>
            </a:r>
          </a:p>
          <a:p xmlns:a="http://schemas.openxmlformats.org/drawingml/2006/main">
            <a:r>
              <a:t>核验：2026-09-22T09:21:09.482713+00:00；页面200；源码200；关键词Qwen3VL已找到；源码SHA256=a651bdef3e2f3ef7b99831a0f2a96c4bdc28c0263b6c9823d1a19addace0008d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PyTorch Profiler 源码</a:t>
            </a:r>
          </a:p>
          <a:p xmlns:a="http://schemas.openxmlformats.org/drawingml/2006/main">
            <a:r>
              <a:t>用途：CPU/CUDA事件采集与trace导出</a:t>
            </a:r>
          </a:p>
          <a:p xmlns:a="http://schemas.openxmlformats.org/drawingml/2006/main">
            <a:r>
              <a:t>URL：https://github.com/pytorch/pytorch/blob/v2.9.1/torch/profiler/profiler.py</a:t>
            </a:r>
          </a:p>
          <a:p xmlns:a="http://schemas.openxmlformats.org/drawingml/2006/main">
            <a:r>
              <a:t>核验：2026-09-22T09:21:09.502995+00:00；页面200；源码200；关键词export_chrome_trace已找到；源码SHA256=2c35f649219fb912728819b7dc0be5a5f1bd54c1efcd9502b62d976aeb278d22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torch.compile 官方教程</a:t>
            </a:r>
          </a:p>
          <a:p xmlns:a="http://schemas.openxmlformats.org/drawingml/2006/main">
            <a:r>
              <a:t>用途：编译执行、图捕获与性能对照</a:t>
            </a:r>
          </a:p>
          <a:p xmlns:a="http://schemas.openxmlformats.org/drawingml/2006/main">
            <a:r>
              <a:t>URL：https://github.com/pytorch/tutorials/blob/main/intermediate_source/torch_compile_tutorial.py</a:t>
            </a:r>
          </a:p>
          <a:p xmlns:a="http://schemas.openxmlformats.org/drawingml/2006/main">
            <a:r>
              <a:t>核验：2026-09-22T09:21:09.548581+00:00；页面200；源码200；关键词torch.compile已找到；源码SHA256=6cbbf9de72b1acca550416f3f5d86d689cac97c6e67b0a09b04f2393ac9a7f54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PyTorch CUDA Graph 源码</a:t>
            </a:r>
          </a:p>
          <a:p xmlns:a="http://schemas.openxmlformats.org/drawingml/2006/main">
            <a:r>
              <a:t>用途：capture、replay与静态内存约束</a:t>
            </a:r>
          </a:p>
          <a:p xmlns:a="http://schemas.openxmlformats.org/drawingml/2006/main">
            <a:r>
              <a:t>URL：https://github.com/pytorch/pytorch/blob/v2.9.1/torch/cuda/graphs.py</a:t>
            </a:r>
          </a:p>
          <a:p xmlns:a="http://schemas.openxmlformats.org/drawingml/2006/main">
            <a:r>
              <a:t>核验：2026-09-22T09:21:09.553626+00:00；页面200；源码200；关键词replay已找到；源码SHA256=5154431e245a22f4f321257f6a98f901d144e673b60a1a9aa8a22561ca4008e8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FlashInfer RMSNorm 源码</a:t>
            </a:r>
          </a:p>
          <a:p xmlns:a="http://schemas.openxmlformats.org/drawingml/2006/main">
            <a:r>
              <a:t>用途：融合QK内核的Norm参考实现</a:t>
            </a:r>
          </a:p>
          <a:p xmlns:a="http://schemas.openxmlformats.org/drawingml/2006/main">
            <a:r>
              <a:t>URL：https://github.com/flashinfer-ai/flashinfer/blob/v0.5.3/flashinfer/norm.py</a:t>
            </a:r>
          </a:p>
          <a:p xmlns:a="http://schemas.openxmlformats.org/drawingml/2006/main">
            <a:r>
              <a:t>核验：2026-09-22T09:21:11.669835+00:00；页面200；源码200；关键词rmsnorm已找到；源码SHA256=88f03567ffa4612632c98deb4494f0671eda4c51bc079f3b3c1854ab32ea8f79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Triton 官方融合教程</a:t>
            </a:r>
          </a:p>
          <a:p xmlns:a="http://schemas.openxmlformats.org/drawingml/2006/main">
            <a:r>
              <a:t>用途：融合与微基准范式；项目内核为手写</a:t>
            </a:r>
          </a:p>
          <a:p xmlns:a="http://schemas.openxmlformats.org/drawingml/2006/main">
            <a:r>
              <a:t>URL：https://github.com/triton-lang/triton/blob/main/python/tutorials/02-fused-softmax.py</a:t>
            </a:r>
          </a:p>
          <a:p xmlns:a="http://schemas.openxmlformats.org/drawingml/2006/main">
            <a:r>
              <a:t>核验：2026-09-22T09:21:11.686835+00:00；页面200；源码200；关键词softmax已找到；源码SHA256=8a65b696d5b02a3900380395ecd883671afeb66328db108f55622ed8853a05da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梳理SGLang中DP Attention及其Padding问题</a:t>
            </a:r>
          </a:p>
          <a:p xmlns:a="http://schemas.openxmlformats.org/drawingml/2006/main">
            <a:r>
              <a:t>作者：wxzhou</a:t>
            </a:r>
          </a:p>
          <a:p xmlns:a="http://schemas.openxmlformats.org/drawingml/2006/main">
            <a:r>
              <a:t>https://zhuanlan.zhihu.com/p/1938017616435320355</a:t>
            </a:r>
          </a:p>
          <a:p xmlns:a="http://schemas.openxmlformats.org/drawingml/2006/main">
            <a:r>
              <a:t>对应：DP Attention、批次补齐、通信与 CUDA Graph。</a:t>
            </a:r>
          </a:p>
          <a:p xmlns:a="http://schemas.openxmlformats.org/drawingml/2006/main">
            <a:r>
              <a:t>文章以旧版 SGLang / MoE 为例；本项目为 Dense 模型。</a:t>
            </a:r>
          </a:p>
          <a:p xmlns:a="http://schemas.openxmlformats.org/drawingml/2006/main">
            <a:r>
              <a:t>核验：2026-09-22，浏览器逐个打开，核对标题、作者及正文；未遇到登录或验证码阻拦。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一文搞懂 TorchDynamo 原理</a:t>
            </a:r>
          </a:p>
          <a:p xmlns:a="http://schemas.openxmlformats.org/drawingml/2006/main">
            <a:r>
              <a:t>作者：吾乃阿尔法</a:t>
            </a:r>
          </a:p>
          <a:p xmlns:a="http://schemas.openxmlformats.org/drawingml/2006/main">
            <a:r>
              <a:t>https://zhuanlan.zhihu.com/p/630933479</a:t>
            </a:r>
          </a:p>
          <a:p xmlns:a="http://schemas.openxmlformats.org/drawingml/2006/main">
            <a:r>
              <a:t>对应：torch.compile 的计算图捕获与编译机制。</a:t>
            </a:r>
          </a:p>
          <a:p xmlns:a="http://schemas.openxmlformats.org/drawingml/2006/main">
            <a:r>
              <a:t>PyTorch 2.0 原理入门；具体 API 以项目锁定版本为准。</a:t>
            </a:r>
          </a:p>
          <a:p xmlns:a="http://schemas.openxmlformats.org/drawingml/2006/main">
            <a:r>
              <a:t>核验：2026-09-22，浏览器逐个打开，核对标题、作者及正文；未遇到登录或验证码阻拦。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（万字长文）说说大模型中的推理加速技术</a:t>
            </a:r>
          </a:p>
          <a:p xmlns:a="http://schemas.openxmlformats.org/drawingml/2006/main">
            <a:r>
              <a:t>作者：爱吃牛油果的璐璐</a:t>
            </a:r>
          </a:p>
          <a:p xmlns:a="http://schemas.openxmlformats.org/drawingml/2006/main">
            <a:r>
              <a:t>https://zhuanlan.zhihu.com/p/25708488005</a:t>
            </a:r>
          </a:p>
          <a:p xmlns:a="http://schemas.openxmlformats.org/drawingml/2006/main">
            <a:r>
              <a:t>对应：Prefill / Decode、KV Cache 与推理优化背景。</a:t>
            </a:r>
          </a:p>
          <a:p xmlns:a="http://schemas.openxmlformats.org/drawingml/2006/main">
            <a:r>
              <a:t>帮助理解优化位置；并非本项目实测收益的来源。</a:t>
            </a:r>
          </a:p>
          <a:p xmlns:a="http://schemas.openxmlformats.org/drawingml/2006/main">
            <a:r>
              <a:t>核验：2026-09-22，浏览器逐个打开，核对标题、作者及正文；未遇到登录或验证码阻拦。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LLM 确定性推理</a:t>
            </a:r>
          </a:p>
          <a:p xmlns:a="http://schemas.openxmlformats.org/drawingml/2006/main">
            <a:r>
              <a:t>作者：吃果冻不吐果冻皮</a:t>
            </a:r>
          </a:p>
          <a:p xmlns:a="http://schemas.openxmlformats.org/drawingml/2006/main">
            <a:r>
              <a:t>https://zhuanlan.zhihu.com/p/1961192621759242664</a:t>
            </a:r>
          </a:p>
          <a:p xmlns:a="http://schemas.openxmlformats.org/drawingml/2006/main">
            <a:r>
              <a:t>对应：批次变化、浮点误差与优化后的正确性验证。</a:t>
            </a:r>
          </a:p>
          <a:p xmlns:a="http://schemas.openxmlformats.org/drawingml/2006/main">
            <a:r>
              <a:t>一致性背景阅读；不能替代本项目 stride 错误的定位。</a:t>
            </a:r>
          </a:p>
          <a:p xmlns:a="http://schemas.openxmlformats.org/drawingml/2006/main">
            <a:r>
              <a:t>核验：2026-09-22，浏览器逐个打开，核对标题、作者及正文；未遇到登录或验证码阻拦。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343457c1d849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608fca1e184203" /><Relationship Type="http://schemas.openxmlformats.org/officeDocument/2006/relationships/slideLayout" Target="/ppt/slideLayouts/slideLayout1.xml" Id="R134e78595c5242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4e78595c5242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d576fe9134748" /><Relationship Type="http://schemas.openxmlformats.org/officeDocument/2006/relationships/notesSlide" Target="/ppt/notesSlides/notesSlide1.xml" Id="Re8f4fd08dd2743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45e63a29c4c12" /><Relationship Type="http://schemas.openxmlformats.org/officeDocument/2006/relationships/notesSlide" Target="/ppt/notesSlides/notesSlide2.xml" Id="R13204027fdd147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de90294914f49" /><Relationship Type="http://schemas.openxmlformats.org/officeDocument/2006/relationships/notesSlide" Target="/ppt/notesSlides/notesSlide3.xml" Id="R29a0762b4e2b4b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0bdc585684966" /><Relationship Type="http://schemas.openxmlformats.org/officeDocument/2006/relationships/notesSlide" Target="/ppt/notesSlides/notesSlide4.xml" Id="Rf936c2a95a0746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e5cff15844073" /><Relationship Type="http://schemas.openxmlformats.org/officeDocument/2006/relationships/notesSlide" Target="/ppt/notesSlides/notesSlide5.xml" Id="R3a642a9ecc2147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c6d899bbda4767" /><Relationship Type="http://schemas.openxmlformats.org/officeDocument/2006/relationships/notesSlide" Target="/ppt/notesSlides/notesSlide6.xml" Id="Radec111ce6cb4b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d52c85b834284" /><Relationship Type="http://schemas.openxmlformats.org/officeDocument/2006/relationships/notesSlide" Target="/ppt/notesSlides/notesSlide7.xml" Id="R80734481fa6c4b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df7e6f28c45d5" /><Relationship Type="http://schemas.openxmlformats.org/officeDocument/2006/relationships/notesSlide" Target="/ppt/notesSlides/notesSlide8.xml" Id="Rf0cfd9b1ce2c4f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107c4dafa444b" /><Relationship Type="http://schemas.openxmlformats.org/officeDocument/2006/relationships/notesSlide" Target="/ppt/notesSlides/notesSlide9.xml" Id="Re69b613e527b41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08d0188274120" /><Relationship Type="http://schemas.openxmlformats.org/officeDocument/2006/relationships/notesSlide" Target="/ppt/notesSlides/notesSlide10.xml" Id="R204ecec8d46045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b486ceba944dc" /><Relationship Type="http://schemas.openxmlformats.org/officeDocument/2006/relationships/notesSlide" Target="/ppt/notesSlides/notesSlide11.xml" Id="Rc70b6bcfd2b546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fba75001d471e" /><Relationship Type="http://schemas.openxmlformats.org/officeDocument/2006/relationships/notesSlide" Target="/ppt/notesSlides/notesSlide12.xml" Id="R8f0aa1ae19164ec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605faac214b26" /><Relationship Type="http://schemas.openxmlformats.org/officeDocument/2006/relationships/notesSlide" Target="/ppt/notesSlides/notesSlide13.xml" Id="Rcb6bb2266c30431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962ad88a34006" /><Relationship Type="http://schemas.openxmlformats.org/officeDocument/2006/relationships/notesSlide" Target="/ppt/notesSlides/notesSlide14.xml" Id="Rad1505914133449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48231f77a4b63" /><Relationship Type="http://schemas.openxmlformats.org/officeDocument/2006/relationships/notesSlide" Target="/ppt/notesSlides/notesSlide15.xml" Id="Rca37e8349c924d5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58b9b8f8a476a" /><Relationship Type="http://schemas.openxmlformats.org/officeDocument/2006/relationships/notesSlide" Target="/ppt/notesSlides/notesSlide16.xml" Id="R59746f851b974f5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24bb1b61948cf" /><Relationship Type="http://schemas.openxmlformats.org/officeDocument/2006/relationships/notesSlide" Target="/ppt/notesSlides/notesSlide17.xml" Id="R9181158449db4b0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f83e5460a418a" /><Relationship Type="http://schemas.openxmlformats.org/officeDocument/2006/relationships/notesSlide" Target="/ppt/notesSlides/notesSlide18.xml" Id="Rc759ebe4b29343e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1beea3401427d" /><Relationship Type="http://schemas.openxmlformats.org/officeDocument/2006/relationships/notesSlide" Target="/ppt/notesSlides/notesSlide19.xml" Id="Rf901a7d390314d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979712f3574530" /><Relationship Type="http://schemas.openxmlformats.org/officeDocument/2006/relationships/notesSlide" Target="/ppt/notesSlides/notesSlide20.xml" Id="R190be64a4517465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428a38a974f73" /><Relationship Type="http://schemas.openxmlformats.org/officeDocument/2006/relationships/notesSlide" Target="/ppt/notesSlides/notesSlide21.xml" Id="R38c11121ea6e43f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101c21b6a4fbc" /><Relationship Type="http://schemas.openxmlformats.org/officeDocument/2006/relationships/notesSlide" Target="/ppt/notesSlides/notesSlide22.xml" Id="Rcd7be9c4b6684a5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1d2c621c64b98" /><Relationship Type="http://schemas.openxmlformats.org/officeDocument/2006/relationships/notesSlide" Target="/ppt/notesSlides/notesSlide23.xml" Id="R74a2d4cbadfd445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8e0e6f0954115" /><Relationship Type="http://schemas.openxmlformats.org/officeDocument/2006/relationships/notesSlide" Target="/ppt/notesSlides/notesSlide24.xml" Id="R7e233cb9a06248e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f2d6490ba48a1" /><Relationship Type="http://schemas.openxmlformats.org/officeDocument/2006/relationships/notesSlide" Target="/ppt/notesSlides/notesSlide25.xml" Id="R0a178ebe1bc9411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7d3c6ded14834" /><Relationship Type="http://schemas.openxmlformats.org/officeDocument/2006/relationships/notesSlide" Target="/ppt/notesSlides/notesSlide26.xml" Id="R930314b3bffd487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d65ffbc69a448a" /><Relationship Type="http://schemas.openxmlformats.org/officeDocument/2006/relationships/notesSlide" Target="/ppt/notesSlides/notesSlide27.xml" Id="R24ef4e26222b46c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c2f8270004782" /><Relationship Type="http://schemas.openxmlformats.org/officeDocument/2006/relationships/notesSlide" Target="/ppt/notesSlides/notesSlide28.xml" Id="Ra72bddbdb6ba43f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d6d6f12854f1b" /><Relationship Type="http://schemas.openxmlformats.org/officeDocument/2006/relationships/notesSlide" Target="/ppt/notesSlides/notesSlide29.xml" Id="R1e8ffb0f3dbe417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d500ad8a9409d" /><Relationship Type="http://schemas.openxmlformats.org/officeDocument/2006/relationships/notesSlide" Target="/ppt/notesSlides/notesSlide30.xml" Id="R1fcb8c27c61946b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e4abd35344e20" /><Relationship Type="http://schemas.openxmlformats.org/officeDocument/2006/relationships/notesSlide" Target="/ppt/notesSlides/notesSlide31.xml" Id="Rfc2cd29b713f457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e3b88bc2c4d51" /><Relationship Type="http://schemas.openxmlformats.org/officeDocument/2006/relationships/notesSlide" Target="/ppt/notesSlides/notesSlide32.xml" Id="R31de183690cd4ac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ba6523dd14cbe" /><Relationship Type="http://schemas.openxmlformats.org/officeDocument/2006/relationships/notesSlide" Target="/ppt/notesSlides/notesSlide33.xml" Id="R95947a51516845d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8a23d19f8459a" /><Relationship Type="http://schemas.openxmlformats.org/officeDocument/2006/relationships/notesSlide" Target="/ppt/notesSlides/notesSlide34.xml" Id="R0ebc9e2abe8f4a3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2c8c83ec294349" /><Relationship Type="http://schemas.openxmlformats.org/officeDocument/2006/relationships/notesSlide" Target="/ppt/notesSlides/notesSlide35.xml" Id="Rf576b593ce6949d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2ee923ce44971" /><Relationship Type="http://schemas.openxmlformats.org/officeDocument/2006/relationships/notesSlide" Target="/ppt/notesSlides/notesSlide36.xml" Id="Reba1832b934c4b0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5b64bd9904ffb" /><Relationship Type="http://schemas.openxmlformats.org/officeDocument/2006/relationships/notesSlide" Target="/ppt/notesSlides/notesSlide37.xml" Id="R418f825c0fed4cd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c1f3df0314d10" /><Relationship Type="http://schemas.openxmlformats.org/officeDocument/2006/relationships/notesSlide" Target="/ppt/notesSlides/notesSlide38.xml" Id="R4b2e7f2893d1495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779956665a4d42" /><Relationship Type="http://schemas.openxmlformats.org/officeDocument/2006/relationships/notesSlide" Target="/ppt/notesSlides/notesSlide39.xml" Id="Rc28788c8611b47a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4018bc222417f" /><Relationship Type="http://schemas.openxmlformats.org/officeDocument/2006/relationships/notesSlide" Target="/ppt/notesSlides/notesSlide40.xml" Id="R4fe0f7530a80421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43d97dfecb4990" /><Relationship Type="http://schemas.openxmlformats.org/officeDocument/2006/relationships/notesSlide" Target="/ppt/notesSlides/notesSlide41.xml" Id="Rbcdfb753fdcd465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eb84e39ca4671" /><Relationship Type="http://schemas.openxmlformats.org/officeDocument/2006/relationships/notesSlide" Target="/ppt/notesSlides/notesSlide42.xml" Id="R6aacb7ab4ece42e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61effb7d743ee" /><Relationship Type="http://schemas.openxmlformats.org/officeDocument/2006/relationships/chart" Target="/ppt/slides/charts/chart1.xml" Id="R966ed90b75764869" /><Relationship Type="http://schemas.openxmlformats.org/officeDocument/2006/relationships/notesSlide" Target="/ppt/notesSlides/notesSlide43.xml" Id="R7d3f089772654fd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f3017f7054a31" /><Relationship Type="http://schemas.openxmlformats.org/officeDocument/2006/relationships/notesSlide" Target="/ppt/notesSlides/notesSlide44.xml" Id="Rfb5a26520a7048cf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7b3d1e7334f4c" /><Relationship Type="http://schemas.openxmlformats.org/officeDocument/2006/relationships/notesSlide" Target="/ppt/notesSlides/notesSlide45.xml" Id="Rc0c18a5cf346415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d54111b43454c" /><Relationship Type="http://schemas.openxmlformats.org/officeDocument/2006/relationships/notesSlide" Target="/ppt/notesSlides/notesSlide46.xml" Id="R129800810e9e4e9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8968284a445c8" /><Relationship Type="http://schemas.openxmlformats.org/officeDocument/2006/relationships/notesSlide" Target="/ppt/notesSlides/notesSlide47.xml" Id="Rfe37e3796bb8426d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cc07c7b5749e0" /><Relationship Type="http://schemas.openxmlformats.org/officeDocument/2006/relationships/notesSlide" Target="/ppt/notesSlides/notesSlide48.xml" Id="Rfaa6fd60698c476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ba1a8a35e4091" /><Relationship Type="http://schemas.openxmlformats.org/officeDocument/2006/relationships/notesSlide" Target="/ppt/notesSlides/notesSlide49.xml" Id="Reae72bf09aa1469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461d0a6b74d27" /><Relationship Type="http://schemas.openxmlformats.org/officeDocument/2006/relationships/notesSlide" Target="/ppt/notesSlides/notesSlide50.xml" Id="Re1a2074968a64ba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6021d97f145f9" /><Relationship Type="http://schemas.openxmlformats.org/officeDocument/2006/relationships/notesSlide" Target="/ppt/notesSlides/notesSlide51.xml" Id="R527c0c5983a94e0c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41361af794eff" /><Relationship Type="http://schemas.openxmlformats.org/officeDocument/2006/relationships/notesSlide" Target="/ppt/notesSlides/notesSlide52.xml" Id="R5d7828aae1254616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506c6871d4889" /><Relationship Type="http://schemas.openxmlformats.org/officeDocument/2006/relationships/notesSlide" Target="/ppt/notesSlides/notesSlide53.xml" Id="Rf0b7befb32864f51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3ac67f877d4670" /><Relationship Type="http://schemas.openxmlformats.org/officeDocument/2006/relationships/notesSlide" Target="/ppt/notesSlides/notesSlide54.xml" Id="R3463a607a30145b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69fdffdce4b69" /><Relationship Type="http://schemas.openxmlformats.org/officeDocument/2006/relationships/notesSlide" Target="/ppt/notesSlides/notesSlide55.xml" Id="R4e591b09be4c4dc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34d2b05c34c42" /><Relationship Type="http://schemas.openxmlformats.org/officeDocument/2006/relationships/notesSlide" Target="/ppt/notesSlides/notesSlide56.xml" Id="R752f45024d7c4f6f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86cce6eb04d4e" /><Relationship Type="http://schemas.openxmlformats.org/officeDocument/2006/relationships/notesSlide" Target="/ppt/notesSlides/notesSlide57.xml" Id="R3a6790f9dd6d414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22d75cc4e4280" /><Relationship Type="http://schemas.openxmlformats.org/officeDocument/2006/relationships/chart" Target="/ppt/slides/charts/chart2.xml" Id="R6b22cfde14cf40f0" /><Relationship Type="http://schemas.openxmlformats.org/officeDocument/2006/relationships/notesSlide" Target="/ppt/notesSlides/notesSlide58.xml" Id="R62cfd151b2e946dc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9b59981244f47" /><Relationship Type="http://schemas.openxmlformats.org/officeDocument/2006/relationships/notesSlide" Target="/ppt/notesSlides/notesSlide59.xml" Id="Ree996ca03ff9467a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3d646ed7643f2" /><Relationship Type="http://schemas.openxmlformats.org/officeDocument/2006/relationships/chart" Target="/ppt/slides/charts/chart3.xml" Id="R6ed134e37a024078" /><Relationship Type="http://schemas.openxmlformats.org/officeDocument/2006/relationships/notesSlide" Target="/ppt/notesSlides/notesSlide60.xml" Id="R539a973db2a2400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9a25b1cb041c2" /><Relationship Type="http://schemas.openxmlformats.org/officeDocument/2006/relationships/notesSlide" Target="/ppt/notesSlides/notesSlide61.xml" Id="Rff02394b21a64ba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2566ef0eb4ac7" /><Relationship Type="http://schemas.openxmlformats.org/officeDocument/2006/relationships/notesSlide" Target="/ppt/notesSlides/notesSlide62.xml" Id="Rebc6b262f6544dc2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d93400e524c15" /><Relationship Type="http://schemas.openxmlformats.org/officeDocument/2006/relationships/notesSlide" Target="/ppt/notesSlides/notesSlide63.xml" Id="R8421a17710e54c15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86de54b6340b1" /><Relationship Type="http://schemas.openxmlformats.org/officeDocument/2006/relationships/notesSlide" Target="/ppt/notesSlides/notesSlide64.xml" Id="R99c9bcc98c5648ca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13a262faa4776" /><Relationship Type="http://schemas.openxmlformats.org/officeDocument/2006/relationships/chart" Target="/ppt/slides/charts/chart4.xml" Id="R0355c59a42ee4d8b" /><Relationship Type="http://schemas.openxmlformats.org/officeDocument/2006/relationships/notesSlide" Target="/ppt/notesSlides/notesSlide65.xml" Id="Rbaa734d4da004484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6ff286c4c42cb" /><Relationship Type="http://schemas.openxmlformats.org/officeDocument/2006/relationships/notesSlide" Target="/ppt/notesSlides/notesSlide66.xml" Id="Re524b40bb3ac4b4e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970ebf2c6448a" /><Relationship Type="http://schemas.openxmlformats.org/officeDocument/2006/relationships/notesSlide" Target="/ppt/notesSlides/notesSlide67.xml" Id="R8d5abbdf24aa41c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e9f0a79d44d57" /><Relationship Type="http://schemas.openxmlformats.org/officeDocument/2006/relationships/notesSlide" Target="/ppt/notesSlides/notesSlide68.xml" Id="Rc755c92e9aea4e22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639f69b194652" /><Relationship Type="http://schemas.openxmlformats.org/officeDocument/2006/relationships/notesSlide" Target="/ppt/notesSlides/notesSlide69.xml" Id="Rfc99cc0583864757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4c7aca3ba4867" /><Relationship Type="http://schemas.openxmlformats.org/officeDocument/2006/relationships/notesSlide" Target="/ppt/notesSlides/notesSlide70.xml" Id="Rf6b998e577724e7a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3e2e4b73b4145" /><Relationship Type="http://schemas.openxmlformats.org/officeDocument/2006/relationships/notesSlide" Target="/ppt/notesSlides/notesSlide71.xml" Id="Readd0c2cc5fc482a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c679478b3473b" /><Relationship Type="http://schemas.openxmlformats.org/officeDocument/2006/relationships/notesSlide" Target="/ppt/notesSlides/notesSlide72.xml" Id="R39fff08aa0d64616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2e71dbdf348bf" /><Relationship Type="http://schemas.openxmlformats.org/officeDocument/2006/relationships/notesSlide" Target="/ppt/notesSlides/notesSlide73.xml" Id="R1f24b895aa994e23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1faaa3bcc48a8" /><Relationship Type="http://schemas.openxmlformats.org/officeDocument/2006/relationships/notesSlide" Target="/ppt/notesSlides/notesSlide74.xml" Id="Rdafab5e1c7bf4f1b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5e2e6f5494474" /><Relationship Type="http://schemas.openxmlformats.org/officeDocument/2006/relationships/notesSlide" Target="/ppt/notesSlides/notesSlide75.xml" Id="R63ee0a2c8a02415d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cfd94d402458b" /><Relationship Type="http://schemas.openxmlformats.org/officeDocument/2006/relationships/chart" Target="/ppt/slides/charts/chart5.xml" Id="Rf9f1e27945d24e5a" /><Relationship Type="http://schemas.openxmlformats.org/officeDocument/2006/relationships/notesSlide" Target="/ppt/notesSlides/notesSlide76.xml" Id="R1beae4fabfbd42e5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4a137fdcf49a7" /><Relationship Type="http://schemas.openxmlformats.org/officeDocument/2006/relationships/notesSlide" Target="/ppt/notesSlides/notesSlide77.xml" Id="R14d88629a94f486f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d90f332dc404f" /><Relationship Type="http://schemas.openxmlformats.org/officeDocument/2006/relationships/notesSlide" Target="/ppt/notesSlides/notesSlide78.xml" Id="Ref7ead72e605491f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55819a26548cb" /><Relationship Type="http://schemas.openxmlformats.org/officeDocument/2006/relationships/notesSlide" Target="/ppt/notesSlides/notesSlide79.xml" Id="R8163ea749346468b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c730268494a42" /><Relationship Type="http://schemas.openxmlformats.org/officeDocument/2006/relationships/notesSlide" Target="/ppt/notesSlides/notesSlide80.xml" Id="R5f13a00e88594c37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5cbf442354db5" /><Relationship Type="http://schemas.openxmlformats.org/officeDocument/2006/relationships/notesSlide" Target="/ppt/notesSlides/notesSlide81.xml" Id="Rb2f6d6ae8c304667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037d6150f41b0" /><Relationship Type="http://schemas.openxmlformats.org/officeDocument/2006/relationships/notesSlide" Target="/ppt/notesSlides/notesSlide82.xml" Id="R09e30a68ea964eba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c2069382354c49" /><Relationship Type="http://schemas.openxmlformats.org/officeDocument/2006/relationships/notesSlide" Target="/ppt/notesSlides/notesSlide83.xml" Id="Rf43194b23e9f4f31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89791390d24ed3" /><Relationship Type="http://schemas.openxmlformats.org/officeDocument/2006/relationships/notesSlide" Target="/ppt/notesSlides/notesSlide84.xml" Id="Rdd4be9f5e6314fd7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6d9ff38a14888" /><Relationship Type="http://schemas.openxmlformats.org/officeDocument/2006/relationships/notesSlide" Target="/ppt/notesSlides/notesSlide85.xml" Id="Raef6d31607d74835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e26d494924a75" /><Relationship Type="http://schemas.openxmlformats.org/officeDocument/2006/relationships/notesSlide" Target="/ppt/notesSlides/notesSlide86.xml" Id="R1cfe386dac784b5b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ff5435cb94c4b" /><Relationship Type="http://schemas.openxmlformats.org/officeDocument/2006/relationships/hyperlink" Target="https://huggingface.co/Qwen/Qwen3-VL-32B-Instruct" TargetMode="External" Id="R4a8fb21688b443a2" /><Relationship Type="http://schemas.openxmlformats.org/officeDocument/2006/relationships/hyperlink" Target="https://huggingface.co/Qwen/Qwen3-VL-32B-Instruct/tree/0cfaf48183f594c314753d30a4c4974bc75f3ccb" TargetMode="External" Id="R5b5cc9f677c94bb1" /><Relationship Type="http://schemas.openxmlformats.org/officeDocument/2006/relationships/hyperlink" Target="https://huggingface.co/Qwen/Qwen3-VL-32B-Instruct/resolve/0cfaf48183f594c314753d30a4c4974bc75f3ccb/model.safetensors.index.json" TargetMode="External" Id="R780c237aa90649f5" /><Relationship Type="http://schemas.openxmlformats.org/officeDocument/2006/relationships/hyperlink" Target="https://huggingface.co/Qwen/Qwen3-VL-32B-Instruct/resolve/0cfaf48183f594c314753d30a4c4974bc75f3ccb/config.json" TargetMode="External" Id="R4c84b5e21dd94d42" /><Relationship Type="http://schemas.openxmlformats.org/officeDocument/2006/relationships/notesSlide" Target="/ppt/notesSlides/notesSlide87.xml" Id="R592b2ed7a2b1488d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75ed150154660" /><Relationship Type="http://schemas.openxmlformats.org/officeDocument/2006/relationships/notesSlide" Target="/ppt/notesSlides/notesSlide88.xml" Id="R52b7e2473e85426c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caefacd03431f" /><Relationship Type="http://schemas.openxmlformats.org/officeDocument/2006/relationships/notesSlide" Target="/ppt/notesSlides/notesSlide89.xml" Id="R9d3bd77424c14f63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9ef66c44f40f8" /><Relationship Type="http://schemas.openxmlformats.org/officeDocument/2006/relationships/notesSlide" Target="/ppt/notesSlides/notesSlide90.xml" Id="Re3fa12419cdb4274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cd45ebd9440a6" /><Relationship Type="http://schemas.openxmlformats.org/officeDocument/2006/relationships/notesSlide" Target="/ppt/notesSlides/notesSlide91.xml" Id="R4be5b3aae2304d31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a440c22474fad" /><Relationship Type="http://schemas.openxmlformats.org/officeDocument/2006/relationships/notesSlide" Target="/ppt/notesSlides/notesSlide92.xml" Id="Rd0bba5f6d1d74d55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819c474cf4431" /><Relationship Type="http://schemas.openxmlformats.org/officeDocument/2006/relationships/notesSlide" Target="/ppt/notesSlides/notesSlide93.xml" Id="Rd43914e750e949a5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ed9e981284c2a" /><Relationship Type="http://schemas.openxmlformats.org/officeDocument/2006/relationships/notesSlide" Target="/ppt/notesSlides/notesSlide94.xml" Id="R9aec2f2a594948a6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4cb2be9d14294" /><Relationship Type="http://schemas.openxmlformats.org/officeDocument/2006/relationships/notesSlide" Target="/ppt/notesSlides/notesSlide95.xml" Id="Rf8aa5268bb78435e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e73c65950404f" /><Relationship Type="http://schemas.openxmlformats.org/officeDocument/2006/relationships/notesSlide" Target="/ppt/notesSlides/notesSlide96.xml" Id="R0b76dbd2138448cf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390acb99f4179" /><Relationship Type="http://schemas.openxmlformats.org/officeDocument/2006/relationships/notesSlide" Target="/ppt/notesSlides/notesSlide97.xml" Id="Rb9d1bc56e01a48fd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465c7a7dd4f9f" /><Relationship Type="http://schemas.openxmlformats.org/officeDocument/2006/relationships/notesSlide" Target="/ppt/notesSlides/notesSlide98.xml" Id="Ree6cf7d3a6984c68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ca749be0054afe" /><Relationship Type="http://schemas.openxmlformats.org/officeDocument/2006/relationships/notesSlide" Target="/ppt/notesSlides/notesSlide99.xml" Id="R147c143771b24fad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fe51a94af4d86" /><Relationship Type="http://schemas.openxmlformats.org/officeDocument/2006/relationships/notesSlide" Target="/ppt/notesSlides/notesSlide100.xml" Id="Rc1aaf7ecb6a9437a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ffb2d1edf49aa" /><Relationship Type="http://schemas.openxmlformats.org/officeDocument/2006/relationships/notesSlide" Target="/ppt/notesSlides/notesSlide101.xml" Id="Rc9600a54a7304aeb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f532db982448a" /><Relationship Type="http://schemas.openxmlformats.org/officeDocument/2006/relationships/hyperlink" Target="https://github.com/justsoloking-blip/qwen-vl-32B-project" TargetMode="External" Id="Ra672c4f80f19420a" /><Relationship Type="http://schemas.openxmlformats.org/officeDocument/2006/relationships/hyperlink" Target="https://github.com/justsoloking-blip/qwen-vl-32B-project/blob/3c40b65f843f8db6cc83aadcafb8b7372582d2d0/docs/dp-attention-compatibility.md" TargetMode="External" Id="R24929c07385c4d8e" /><Relationship Type="http://schemas.openxmlformats.org/officeDocument/2006/relationships/hyperlink" Target="https://github.com/justsoloking-blip/qwen-vl-32B-project/tree/3c40b65f843f8db6cc83aadcafb8b7372582d2d0/courses/qwen-vl-course-answers" TargetMode="External" Id="Rc3cf4344379645bb" /><Relationship Type="http://schemas.openxmlformats.org/officeDocument/2006/relationships/hyperlink" Target="https://github.com/QwenLM/Qwen3-VL" TargetMode="External" Id="R2f34c9eb5886429a" /><Relationship Type="http://schemas.openxmlformats.org/officeDocument/2006/relationships/hyperlink" Target="https://github.com/sgl-project/sglang/blob/v0.5.6.post2/python/sglang/srt/models/qwen3_vl.py" TargetMode="External" Id="Re9805b8fe51947bd" /><Relationship Type="http://schemas.openxmlformats.org/officeDocument/2006/relationships/hyperlink" Target="https://github.com/pytorch/pytorch/blob/v2.9.1/torch/profiler/profiler.py" TargetMode="External" Id="Rb61bc05d7b1844a3" /><Relationship Type="http://schemas.openxmlformats.org/officeDocument/2006/relationships/hyperlink" Target="https://github.com/pytorch/tutorials/blob/main/intermediate_source/torch_compile_tutorial.py" TargetMode="External" Id="Rf8ea9bb1cd7748e3" /><Relationship Type="http://schemas.openxmlformats.org/officeDocument/2006/relationships/hyperlink" Target="https://github.com/pytorch/pytorch/blob/v2.9.1/torch/cuda/graphs.py" TargetMode="External" Id="Re13a3ec8da524ad9" /><Relationship Type="http://schemas.openxmlformats.org/officeDocument/2006/relationships/hyperlink" Target="https://github.com/flashinfer-ai/flashinfer/blob/v0.5.3/flashinfer/norm.py" TargetMode="External" Id="Rce7bafff35b84749" /><Relationship Type="http://schemas.openxmlformats.org/officeDocument/2006/relationships/hyperlink" Target="https://github.com/triton-lang/triton/blob/main/python/tutorials/02-fused-softmax.py" TargetMode="External" Id="Ra2635e4c284e4447" /><Relationship Type="http://schemas.openxmlformats.org/officeDocument/2006/relationships/notesSlide" Target="/ppt/notesSlides/notesSlide102.xml" Id="R891b28e7d7224833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c869984ae4ed1" /><Relationship Type="http://schemas.openxmlformats.org/officeDocument/2006/relationships/hyperlink" Target="https://zhuanlan.zhihu.com/p/1938017616435320355" TargetMode="External" Id="R153d92938e444ffe" /><Relationship Type="http://schemas.openxmlformats.org/officeDocument/2006/relationships/hyperlink" Target="https://zhuanlan.zhihu.com/p/630933479" TargetMode="External" Id="Rd559937189a24249" /><Relationship Type="http://schemas.openxmlformats.org/officeDocument/2006/relationships/hyperlink" Target="https://zhuanlan.zhihu.com/p/25708488005" TargetMode="External" Id="R1829559c453048f5" /><Relationship Type="http://schemas.openxmlformats.org/officeDocument/2006/relationships/hyperlink" Target="https://zhuanlan.zhihu.com/p/1961192621759242664" TargetMode="External" Id="Rda7dcdb452ef48a1" /><Relationship Type="http://schemas.openxmlformats.org/officeDocument/2006/relationships/notesSlide" Target="/ppt/notesSlides/notesSlide103.xml" Id="R4c0c8bb8cd7e462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占比 %</c:v>
          </c:tx>
          <c:spPr>
            <a:solidFill xmlns:a="http://schemas.openxmlformats.org/drawingml/2006/main">
              <a:srgbClr val="0B7285"/>
            </a:solidFill>
          </c:spPr>
          <c:cat>
            <c:strRef>
              <c:f>'Chart Data'!$A$2:$A$4</c:f>
              <c:strCache>
                <c:ptCount val="3"/>
                <c:pt idx="0">
                  <c:v>GEMM</c:v>
                </c:pt>
                <c:pt idx="1">
                  <c:v>通信</c:v>
                </c:pt>
                <c:pt idx="2">
                  <c:v>其他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71.7</c:v>
                </c:pt>
                <c:pt idx="1">
                  <c:v>9.5</c:v>
                </c:pt>
                <c:pt idx="2">
                  <c:v>18.8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latin typeface="PingFang SC"/>
                  <a:ea typeface="PingFang SC"/>
                  <a:cs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ms/token</c:v>
          </c:tx>
          <c:spPr>
            <a:solidFill xmlns:a="http://schemas.openxmlformats.org/drawingml/2006/main">
              <a:srgbClr val="0B7285"/>
            </a:solidFill>
          </c:spPr>
          <c:cat>
            <c:strRef>
              <c:f>'Chart Data'!$A$2:$A$4</c:f>
              <c:strCache>
                <c:ptCount val="3"/>
                <c:pt idx="0">
                  <c:v>DP2 Attention</c:v>
                </c:pt>
                <c:pt idx="1">
                  <c:v>普通 TP2</c:v>
                </c:pt>
                <c:pt idx="2">
                  <c:v>TP2 + compile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15.07</c:v>
                </c:pt>
                <c:pt idx="1">
                  <c:v>12.35</c:v>
                </c:pt>
                <c:pt idx="2">
                  <c:v>11.88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latin typeface="PingFang SC"/>
                  <a:ea typeface="PingFang SC"/>
                  <a:cs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kernel / step</c:v>
          </c:tx>
          <c:spPr>
            <a:solidFill xmlns:a="http://schemas.openxmlformats.org/drawingml/2006/main">
              <a:srgbClr val="0B7285"/>
            </a:solidFill>
          </c:spPr>
          <c:cat>
            <c:strRef>
              <c:f>'Chart Data'!$A$2:$A$4</c:f>
              <c:strCache>
                <c:ptCount val="3"/>
                <c:pt idx="0">
                  <c:v>普通 TP2</c:v>
                </c:pt>
                <c:pt idx="1">
                  <c:v>通信融合</c:v>
                </c:pt>
                <c:pt idx="2">
                  <c:v>compile + 融合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1353</c:v>
                </c:pt>
                <c:pt idx="1">
                  <c:v>1289</c:v>
                </c:pt>
                <c:pt idx="2">
                  <c:v>1158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latin typeface="PingFang SC"/>
                  <a:ea typeface="PingFang SC"/>
                  <a:cs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TTFT ms</c:v>
          </c:tx>
          <c:spPr>
            <a:solidFill xmlns:a="http://schemas.openxmlformats.org/drawingml/2006/main">
              <a:srgbClr val="0B7285"/>
            </a:solidFill>
          </c:spPr>
          <c:cat>
            <c:strRef>
              <c:f>'Chart Data'!$A$2:$A$4</c:f>
              <c:strCache>
                <c:ptCount val="3"/>
                <c:pt idx="0">
                  <c:v>compile</c:v>
                </c:pt>
                <c:pt idx="1">
                  <c:v>仅 keep-device</c:v>
                </c:pt>
                <c:pt idx="2">
                  <c:v>显式 IPC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252.2</c:v>
                </c:pt>
                <c:pt idx="1">
                  <c:v>289.7</c:v>
                </c:pt>
                <c:pt idx="2">
                  <c:v>109.2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latin typeface="PingFang SC"/>
                  <a:ea typeface="PingFang SC"/>
                  <a:cs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μs</c:v>
          </c:tx>
          <c:spPr>
            <a:solidFill xmlns:a="http://schemas.openxmlformats.org/drawingml/2006/main">
              <a:srgbClr val="0B7285"/>
            </a:solidFill>
          </c:spPr>
          <c:cat>
            <c:strRef>
              <c:f>'Chart Data'!$A$2:$A$3</c:f>
              <c:strCache>
                <c:ptCount val="2"/>
                <c:pt idx="0">
                  <c:v>原实现</c:v>
                </c:pt>
                <c:pt idx="1">
                  <c:v>Triton 融合</c:v>
                </c:pt>
              </c:strCache>
            </c:strRef>
          </c:cat>
          <c:val>
            <c:numRef>
              <c:f>'Chart Data'!$B$2:$B$3</c:f>
              <c:numCache>
                <c:formatCode>0.00</c:formatCode>
                <c:ptCount val="2"/>
                <c:pt idx="0">
                  <c:v>9.55</c:v>
                </c:pt>
                <c:pt idx="1">
                  <c:v>1.71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latin typeface="PingFang SC"/>
                  <a:ea typeface="PingFang SC"/>
                  <a:cs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C1D5DC-B388-4D16-A2C7-C7414149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Qwen3-VL-32B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06B41-528A-4D62-80BA-D42C5BF7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EE6DB-ABED-41ED-A4AC-AD49D8C9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DP Attention 兼容性修复</a:t>
            </a:r>
          </a:p>
          <a:p xmlns:a="http://schemas.openxmlformats.org/drawingml/2006/main">
            <a:pPr>
              <a:buNone/>
              <a:defRPr sz="4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与推理性能优化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47E616-CF11-4798-98C9-1AB646A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C3D8E7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C3D8E7"/>
                </a:solidFill>
                <a:latin typeface="PingFang SC"/>
                <a:ea typeface="PingFang SC"/>
                <a:cs typeface="PingFang SC"/>
              </a:rPr>
              <a:t>实际部署、代码修复与 PyTorch Profiler 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C5403-E809-49B5-899C-C3F46488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C3D8E7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C3D8E7"/>
                </a:solidFill>
                <a:latin typeface="PingFang SC"/>
                <a:ea typeface="PingFang SC"/>
                <a:cs typeface="PingFang SC"/>
              </a:rPr>
              <a:t>SGLang 0.5.6.post2   H200 ×2   BF16</a:t>
            </a:r>
          </a:p>
          <a:p xmlns:a="http://schemas.openxmlformats.org/drawingml/2006/main">
            <a:pPr>
              <a:buNone/>
              <a:defRPr sz="1800" b="0">
                <a:solidFill>
                  <a:srgbClr val="C3D8E7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C3D8E7"/>
                </a:solidFill>
                <a:latin typeface="PingFang SC"/>
                <a:ea typeface="PingFang SC"/>
                <a:cs typeface="PingFang SC"/>
              </a:rPr>
              <a:t>2026 年 9 月</a:t>
            </a:r>
          </a:p>
        </p:txBody>
      </p:sp>
    </p:spTree>
    <p:extLst>
      <p:ext uri="{BB962C8B-B14F-4D97-AF65-F5344CB8AC3E}">
        <p14:creationId xmlns:p14="http://schemas.microsoft.com/office/powerpoint/2010/main" val="15475363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212FC4-9F78-4D90-80E1-1F7923E6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章节总览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E57A5-26A9-4B03-9B99-6421B330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从模型原理、兼容性修复到性能优化与最终部署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1F022-933E-478B-A780-60FFF67E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C6B37-EABA-43CC-8558-63D377DA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91F9E-B840-4FF3-B77A-E10D77AB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1752600"/>
            <a:ext cx="833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模型基础与 Qwen3-VL 结构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6C601-8C8F-4570-A83B-6596BEBC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781175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3–16 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2EDFBC-0475-443C-82D5-43DD20F5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903809-CF0D-4BCE-A44E-3556FA42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286000"/>
            <a:ext cx="833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模型并行与 DP Attention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9A056-CA89-4092-9CB2-2D38CAF4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14575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17–32 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458C2-EAD2-4A96-96F0-28763B03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2CE1F-C9A4-43C2-A1E4-71CF795E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819400"/>
            <a:ext cx="833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性能工具与测量方法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9A79C-1FEF-4B5C-8018-150C4427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847975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33–43 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4FAC2-430B-4C3A-A2EE-BA6D09E3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069A26-4E37-46D8-9158-2D474489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2800"/>
            <a:ext cx="833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DP Attention 兼容性修复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7FDF09-595E-45F4-AB3B-8C77E3A1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381375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44–56 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3B0DFA-1D54-4E59-BB7C-0EF283D8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7CD65B-7C9B-48EE-874A-B7389722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86200"/>
            <a:ext cx="833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已采用的性能优化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C07734-08C6-4481-97EF-F4AC02F3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57–65 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22B6A9-AD26-4876-AAB2-976C4A8E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1FDF08-4A04-4F54-A836-2C0674B1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19600"/>
            <a:ext cx="833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实验优化与采用边界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57380F-B400-4998-B28B-C4E9FE86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448175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66–79 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F7942A-7EFF-4630-A77D-6457F2D1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5FD786-91A5-490F-A7EA-8EAB6565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53000"/>
            <a:ext cx="833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最终部署与项目交付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B1DC19-07CC-42AE-A0F4-C237E352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981575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80–85 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43E4AF-1B26-4771-B866-3B556CA0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4FE761-8AEE-4FE1-99CA-8714F7E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486400"/>
            <a:ext cx="833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复现资源与四次实验作业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70652C-E15F-4382-BBAE-A073CDFF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514975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86–101 页</a:t>
            </a:r>
          </a:p>
        </p:txBody>
      </p:sp>
    </p:spTree>
    <p:extLst>
      <p:ext uri="{BB962C8B-B14F-4D97-AF65-F5344CB8AC3E}">
        <p14:creationId xmlns:p14="http://schemas.microsoft.com/office/powerpoint/2010/main" val="15341089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7BC30-3BEF-4DAE-ADF5-B87E80C6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第 1 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C2451-6071-4AE6-99BB-828473465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模型基础与 Qwen3-VL 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59D2A2-18E3-48EC-845D-0D251743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理解计算链、视觉输入和多模态结构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32B87-3B90-45D0-96AB-755B2948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1.1  Transformer、Attention 与 KV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87319C-229C-40F6-AC60-CE49AEA3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1.2  Qwen3-VL 的视觉编码器、DeepStack 与 MRoPE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96188-6F2C-42D2-8AB0-29790354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1.3  模型输入输出及对应的优化位置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536D22-2D5B-418F-8028-CC697BE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85334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4A4D5A-0F37-4BDC-9D7F-D040D67E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大模型的基本计算链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B01BB-4E87-4906-A9B4-63986371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从文字到下一个 token，再循环生成完整回答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B5AD8-DD1C-4A82-BF08-155EAF6D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Transformer 层更新上下文表示。采样得到的新 token 会进入下一步。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376F9-0D70-43B5-97FA-F6976C03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" name="输入文字">
            <a:extLst xmlns:a="http://schemas.openxmlformats.org/drawingml/2006/main">
              <a:ext uri="{FF2B5EF4-FFF2-40B4-BE49-F238E27FC236}">
                <a16:creationId xmlns:a16="http://schemas.microsoft.com/office/drawing/2014/main" id="{85934051-522E-4154-A9F6-12770540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80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输入文字</a:t>
            </a:r>
          </a:p>
        </p:txBody>
      </p:sp>
      <p:sp>
        <p:nvSpPr>
          <p:cNvPr id="6" name="Tokenizer 分词">
            <a:extLst xmlns:a="http://schemas.openxmlformats.org/drawingml/2006/main">
              <a:ext uri="{FF2B5EF4-FFF2-40B4-BE49-F238E27FC236}">
                <a16:creationId xmlns:a16="http://schemas.microsoft.com/office/drawing/2014/main" id="{A95D1285-4AD5-4625-AC56-7D9D45BC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62200"/>
            <a:ext cx="180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Tokenizer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分词</a:t>
            </a:r>
          </a:p>
        </p:txBody>
      </p:sp>
      <p:sp>
        <p:nvSpPr>
          <p:cNvPr id="7" name="Embedding 向量表示">
            <a:extLst xmlns:a="http://schemas.openxmlformats.org/drawingml/2006/main">
              <a:ext uri="{FF2B5EF4-FFF2-40B4-BE49-F238E27FC236}">
                <a16:creationId xmlns:a16="http://schemas.microsoft.com/office/drawing/2014/main" id="{7F753945-A6C9-4CA7-8F68-AF0BDDF9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62200"/>
            <a:ext cx="180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Embedding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向量表示</a:t>
            </a:r>
          </a:p>
        </p:txBody>
      </p:sp>
      <p:sp>
        <p:nvSpPr>
          <p:cNvPr id="8" name="Transformer 重复 N 层">
            <a:extLst xmlns:a="http://schemas.openxmlformats.org/drawingml/2006/main">
              <a:ext uri="{FF2B5EF4-FFF2-40B4-BE49-F238E27FC236}">
                <a16:creationId xmlns:a16="http://schemas.microsoft.com/office/drawing/2014/main" id="{56A4A63E-4B1F-426F-BB76-625AA435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80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Transformer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重复 N 层</a:t>
            </a:r>
          </a:p>
        </p:txBody>
      </p:sp>
      <p:sp>
        <p:nvSpPr>
          <p:cNvPr id="9" name="Norm + LM Head 词表 logits">
            <a:extLst xmlns:a="http://schemas.openxmlformats.org/drawingml/2006/main">
              <a:ext uri="{FF2B5EF4-FFF2-40B4-BE49-F238E27FC236}">
                <a16:creationId xmlns:a16="http://schemas.microsoft.com/office/drawing/2014/main" id="{9DEE2CED-0537-4588-9C87-268F6977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62200"/>
            <a:ext cx="180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Norm + LM Head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词表 logits</a:t>
            </a:r>
          </a:p>
        </p:txBody>
      </p:sp>
      <p:cxnSp>
        <p:nvCxnSpPr>
          <p:cNvPr id="10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476500" y="283845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0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743450" y="283845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0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010400" y="283845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07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277350" y="283845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4" name="采样 / 选取 下一个 token">
            <a:extLst xmlns:a="http://schemas.openxmlformats.org/drawingml/2006/main">
              <a:ext uri="{FF2B5EF4-FFF2-40B4-BE49-F238E27FC236}">
                <a16:creationId xmlns:a16="http://schemas.microsoft.com/office/drawing/2014/main" id="{19A9C51E-6A39-4C97-9398-5114A523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105275"/>
            <a:ext cx="18097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采样 / 选取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下一个 token</a:t>
            </a:r>
          </a:p>
        </p:txBody>
      </p:sp>
      <p:cxnSp>
        <p:nvCxnSpPr>
          <p:cNvPr id="109" name=""/>
          <p:cNvCxnSpPr>
            <a:stCxn xmlns:a="http://schemas.openxmlformats.org/drawingml/2006/main" id="9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10639425" y="3314700"/>
            <a:ext cx="0" cy="7905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6" name="新增 token 的 Embedding">
            <a:extLst xmlns:a="http://schemas.openxmlformats.org/drawingml/2006/main">
              <a:ext uri="{FF2B5EF4-FFF2-40B4-BE49-F238E27FC236}">
                <a16:creationId xmlns:a16="http://schemas.microsoft.com/office/drawing/2014/main" id="{13AE5F86-345C-4B77-B2B4-547B16A4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105275"/>
            <a:ext cx="18097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新增 token 的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Embedding</a:t>
            </a:r>
          </a:p>
        </p:txBody>
      </p:sp>
      <p:cxnSp>
        <p:nvCxnSpPr>
          <p:cNvPr id="111" name=""/>
          <p:cNvCxnSpPr>
            <a:stCxn xmlns:a="http://schemas.openxmlformats.org/drawingml/2006/main" id="14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7000875" y="4510088"/>
            <a:ext cx="27336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16" idx="0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6096000" y="3314700"/>
            <a:ext cx="2276475" cy="7905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0B7285"/>
            </a:solidFill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5CB1F-8888-47EE-8250-7A1E6D94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861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第一次处理整段输入：prefill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4FCC4F-94D6-4BD5-ABAA-9359E55C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6725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后续逐步生成：decode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5E3382-EAB5-4DC4-AE41-F9476819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05400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历史 K / V 保留在各层缓存中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B7CFA7B-0A14-45FE-9339-77A225E8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6502249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23291A-98B9-4354-9F25-486C9162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一个 Transformer 层的内部结构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F5371-E5D9-401F-8D4B-CCB5F7B4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pre-norm 稠密 decoder，残差在两个子层分别相加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D12421-76F5-4064-A927-D4B76DC5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Attention 混合上下文信息，FFN 对每个 token 做非线性特征变换。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17415-BE28-40A0-8ABC-308728BC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5" name="输入 x">
            <a:extLst xmlns:a="http://schemas.openxmlformats.org/drawingml/2006/main">
              <a:ext uri="{FF2B5EF4-FFF2-40B4-BE49-F238E27FC236}">
                <a16:creationId xmlns:a16="http://schemas.microsoft.com/office/drawing/2014/main" id="{8E7C835B-B278-4726-A3BC-945ABFFD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输入 x</a:t>
            </a:r>
          </a:p>
        </p:txBody>
      </p:sp>
      <p:sp>
        <p:nvSpPr>
          <p:cNvPr id="6" name="Norm">
            <a:extLst xmlns:a="http://schemas.openxmlformats.org/drawingml/2006/main">
              <a:ext uri="{FF2B5EF4-FFF2-40B4-BE49-F238E27FC236}">
                <a16:creationId xmlns:a16="http://schemas.microsoft.com/office/drawing/2014/main" id="{9924CF74-8BA5-4DEA-A821-26393467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190875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Norm</a:t>
            </a:r>
          </a:p>
        </p:txBody>
      </p:sp>
      <p:sp>
        <p:nvSpPr>
          <p:cNvPr id="7" name="Attention">
            <a:extLst xmlns:a="http://schemas.openxmlformats.org/drawingml/2006/main">
              <a:ext uri="{FF2B5EF4-FFF2-40B4-BE49-F238E27FC236}">
                <a16:creationId xmlns:a16="http://schemas.microsoft.com/office/drawing/2014/main" id="{0D98DF04-883E-417C-AED1-8F5A42E1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90875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Attention</a:t>
            </a:r>
          </a:p>
        </p:txBody>
      </p:sp>
      <p:sp>
        <p:nvSpPr>
          <p:cNvPr id="8" name="＋">
            <a:extLst xmlns:a="http://schemas.openxmlformats.org/drawingml/2006/main">
              <a:ext uri="{FF2B5EF4-FFF2-40B4-BE49-F238E27FC236}">
                <a16:creationId xmlns:a16="http://schemas.microsoft.com/office/drawing/2014/main" id="{79C2525D-7C49-48A1-B9D1-5EAC539D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190875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＋</a:t>
            </a:r>
          </a:p>
        </p:txBody>
      </p:sp>
      <p:sp>
        <p:nvSpPr>
          <p:cNvPr id="9" name="Norm">
            <a:extLst xmlns:a="http://schemas.openxmlformats.org/drawingml/2006/main">
              <a:ext uri="{FF2B5EF4-FFF2-40B4-BE49-F238E27FC236}">
                <a16:creationId xmlns:a16="http://schemas.microsoft.com/office/drawing/2014/main" id="{EEA096CF-F101-4EC7-B7E4-809F39A2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90875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Norm</a:t>
            </a:r>
          </a:p>
        </p:txBody>
      </p:sp>
      <p:sp>
        <p:nvSpPr>
          <p:cNvPr id="10" name="FFN">
            <a:extLst xmlns:a="http://schemas.openxmlformats.org/drawingml/2006/main">
              <a:ext uri="{FF2B5EF4-FFF2-40B4-BE49-F238E27FC236}">
                <a16:creationId xmlns:a16="http://schemas.microsoft.com/office/drawing/2014/main" id="{62A2D0BD-CD1C-4791-8385-4D0F51CC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90875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FFN</a:t>
            </a:r>
          </a:p>
        </p:txBody>
      </p:sp>
      <p:sp>
        <p:nvSpPr>
          <p:cNvPr id="11" name="＋">
            <a:extLst xmlns:a="http://schemas.openxmlformats.org/drawingml/2006/main">
              <a:ext uri="{FF2B5EF4-FFF2-40B4-BE49-F238E27FC236}">
                <a16:creationId xmlns:a16="http://schemas.microsoft.com/office/drawing/2014/main" id="{20E9E71F-783C-421A-95EF-FACE5ADD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90875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＋</a:t>
            </a:r>
          </a:p>
        </p:txBody>
      </p:sp>
      <p:cxnSp>
        <p:nvCxnSpPr>
          <p:cNvPr id="1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1828800" y="35528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400425" y="35528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972050" y="35528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6543675" y="35528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115300" y="35528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686925" y="35528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9C4B56-6925-4D80-A434-ECC7E7FD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76450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残差支路：保留输入 x</a:t>
            </a:r>
          </a:p>
        </p:txBody>
      </p:sp>
      <p:cxnSp>
        <p:nvCxnSpPr>
          <p:cNvPr id="127" name=""/>
          <p:cNvCxnSpPr>
            <a:stCxn xmlns:a="http://schemas.openxmlformats.org/drawingml/2006/main" id="5" idx="0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257300" y="2962275"/>
            <a:ext cx="4714875" cy="228600"/>
          </a:xfrm>
          <a:prstGeom xmlns:a="http://schemas.openxmlformats.org/drawingml/2006/main" prst="bentConnector4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FA1EA4-94DC-4999-89EF-56E75AFA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0764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残差支路：保留 attention 后的表示</a:t>
            </a:r>
          </a:p>
        </p:txBody>
      </p:sp>
      <p:cxnSp>
        <p:nvCxnSpPr>
          <p:cNvPr id="129" name=""/>
          <p:cNvCxnSpPr>
            <a:stCxn xmlns:a="http://schemas.openxmlformats.org/drawingml/2006/main" id="8" idx="2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5972175" y="3914775"/>
            <a:ext cx="4714875" cy="228600"/>
          </a:xfrm>
          <a:prstGeom xmlns:a="http://schemas.openxmlformats.org/drawingml/2006/main" prst="bentConnector4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47FF4E-CDAC-413B-A6BD-B6AF7D3A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3243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Q / K / V、位置编码、因果 mask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30A83A-ED39-4834-89B8-15006CAB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24350"/>
            <a:ext cx="3695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gate / up、SiLU、down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522D519-8808-44E7-B15B-EF48597F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1860348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3E97DF-6B27-4C85-85EF-8F86823A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Attention 的 Q、K、V 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F9B2B-9373-43D2-B76F-9F25D0B7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图中省略多头拼接，位置编码先作用于 Q / 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0ED43-D01C-45B9-A472-CAB5D8C1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Attention(Q,K,V) = softmax(QKᵀ / √d + mask)V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64025-9424-41FA-9AC0-506CBCE9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5" name="Q：当前查询">
            <a:extLst xmlns:a="http://schemas.openxmlformats.org/drawingml/2006/main">
              <a:ext uri="{FF2B5EF4-FFF2-40B4-BE49-F238E27FC236}">
                <a16:creationId xmlns:a16="http://schemas.microsoft.com/office/drawing/2014/main" id="{848E6CE2-6208-4DF2-8AA8-EC54049C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81225"/>
            <a:ext cx="2047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Q：当前查询</a:t>
            </a:r>
          </a:p>
        </p:txBody>
      </p:sp>
      <p:sp>
        <p:nvSpPr>
          <p:cNvPr id="6" name="K：匹配索引">
            <a:extLst xmlns:a="http://schemas.openxmlformats.org/drawingml/2006/main">
              <a:ext uri="{FF2B5EF4-FFF2-40B4-BE49-F238E27FC236}">
                <a16:creationId xmlns:a16="http://schemas.microsoft.com/office/drawing/2014/main" id="{551062A0-611B-488F-B24E-3D0A5341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95675"/>
            <a:ext cx="2047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K：匹配索引</a:t>
            </a:r>
          </a:p>
        </p:txBody>
      </p:sp>
      <p:sp>
        <p:nvSpPr>
          <p:cNvPr id="7" name="QKᵀ / √d 相似度分数">
            <a:extLst xmlns:a="http://schemas.openxmlformats.org/drawingml/2006/main">
              <a:ext uri="{FF2B5EF4-FFF2-40B4-BE49-F238E27FC236}">
                <a16:creationId xmlns:a16="http://schemas.microsoft.com/office/drawing/2014/main" id="{BC3E336A-ABDC-4C4D-9DB0-5AB7A704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724150"/>
            <a:ext cx="1952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QKᵀ / √d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相似度分数</a:t>
            </a:r>
          </a:p>
        </p:txBody>
      </p:sp>
      <p:sp>
        <p:nvSpPr>
          <p:cNvPr id="8" name="加因果 mask 再 softmax">
            <a:extLst xmlns:a="http://schemas.openxmlformats.org/drawingml/2006/main">
              <a:ext uri="{FF2B5EF4-FFF2-40B4-BE49-F238E27FC236}">
                <a16:creationId xmlns:a16="http://schemas.microsoft.com/office/drawing/2014/main" id="{22774EC4-4913-4F80-A2B1-523E7E6B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24150"/>
            <a:ext cx="2095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加因果 mask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再 softmax</a:t>
            </a:r>
          </a:p>
        </p:txBody>
      </p:sp>
      <p:sp>
        <p:nvSpPr>
          <p:cNvPr id="9" name="加权汇总 V 输出投影">
            <a:extLst xmlns:a="http://schemas.openxmlformats.org/drawingml/2006/main">
              <a:ext uri="{FF2B5EF4-FFF2-40B4-BE49-F238E27FC236}">
                <a16:creationId xmlns:a16="http://schemas.microsoft.com/office/drawing/2014/main" id="{7AB916EF-6DB6-448D-A395-3E969D9A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24150"/>
            <a:ext cx="2524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加权汇总 V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输出投影</a:t>
            </a:r>
          </a:p>
        </p:txBody>
      </p:sp>
      <p:cxnSp>
        <p:nvCxnSpPr>
          <p:cNvPr id="8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09875" y="2514600"/>
            <a:ext cx="704850" cy="6667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8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2809875" y="3181350"/>
            <a:ext cx="704850" cy="6477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8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467350" y="3181350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9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153400" y="3181350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4" name="V：上下文信息">
            <a:extLst xmlns:a="http://schemas.openxmlformats.org/drawingml/2006/main">
              <a:ext uri="{FF2B5EF4-FFF2-40B4-BE49-F238E27FC236}">
                <a16:creationId xmlns:a16="http://schemas.microsoft.com/office/drawing/2014/main" id="{26AB9A21-3132-4476-BBE4-9195D9A1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10075"/>
            <a:ext cx="2095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V：上下文信息</a:t>
            </a:r>
          </a:p>
        </p:txBody>
      </p:sp>
      <p:cxnSp>
        <p:nvCxnSpPr>
          <p:cNvPr id="92" name=""/>
          <p:cNvCxnSpPr>
            <a:stCxn xmlns:a="http://schemas.openxmlformats.org/drawingml/2006/main" id="14" idx="3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8153400" y="3638550"/>
            <a:ext cx="1919288" cy="1104900"/>
          </a:xfrm>
          <a:prstGeom xmlns:a="http://schemas.openxmlformats.org/drawingml/2006/main" prst="bentConnector2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444C6-ACD0-4E9D-822F-278634D6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5434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mask 控制哪些位置可见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734503-C91D-4329-AA3D-7AD6F302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1616400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FA73AC-73BF-4E85-B137-D9F37E5F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FFN、GQA 与 KV cache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94685A-2918-45EA-9837-B294CFEA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上方是计算结构，下方是注意力头和推理状态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D5985-B4D5-4B91-8C0B-650C318C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GQA 减少 KV 头数。KV cache 复用历史状态，FFN 仍对当前 token 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6D0DB-EE2A-413B-872A-3BAE931A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15EAA-765A-4B89-B91D-B29AD651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SwiGLU FFN</a:t>
            </a:r>
          </a:p>
        </p:txBody>
      </p:sp>
      <p:sp>
        <p:nvSpPr>
          <p:cNvPr id="6" name="x">
            <a:extLst xmlns:a="http://schemas.openxmlformats.org/drawingml/2006/main">
              <a:ext uri="{FF2B5EF4-FFF2-40B4-BE49-F238E27FC236}">
                <a16:creationId xmlns:a16="http://schemas.microsoft.com/office/drawing/2014/main" id="{DB71F8A7-843F-406E-B0E1-AC11FD1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809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x</a:t>
            </a:r>
          </a:p>
        </p:txBody>
      </p:sp>
      <p:sp>
        <p:nvSpPr>
          <p:cNvPr id="7" name="gate + SiLU">
            <a:extLst xmlns:a="http://schemas.openxmlformats.org/drawingml/2006/main">
              <a:ext uri="{FF2B5EF4-FFF2-40B4-BE49-F238E27FC236}">
                <a16:creationId xmlns:a16="http://schemas.microsoft.com/office/drawing/2014/main" id="{D3A79609-4846-4C7D-AB9B-969C27DB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143125"/>
            <a:ext cx="1857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gate + SiLU</a:t>
            </a:r>
          </a:p>
        </p:txBody>
      </p:sp>
      <p:sp>
        <p:nvSpPr>
          <p:cNvPr id="8" name="up 投影">
            <a:extLst xmlns:a="http://schemas.openxmlformats.org/drawingml/2006/main">
              <a:ext uri="{FF2B5EF4-FFF2-40B4-BE49-F238E27FC236}">
                <a16:creationId xmlns:a16="http://schemas.microsoft.com/office/drawing/2014/main" id="{28B4C109-83DD-48D8-8072-D15F7E33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152775"/>
            <a:ext cx="1857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up 投影</a:t>
            </a:r>
          </a:p>
        </p:txBody>
      </p:sp>
      <p:sp>
        <p:nvSpPr>
          <p:cNvPr id="9" name="逐元素 ×">
            <a:extLst xmlns:a="http://schemas.openxmlformats.org/drawingml/2006/main">
              <a:ext uri="{FF2B5EF4-FFF2-40B4-BE49-F238E27FC236}">
                <a16:creationId xmlns:a16="http://schemas.microsoft.com/office/drawing/2014/main" id="{2D29914A-86F7-41C1-9CF6-1B317ECF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19375"/>
            <a:ext cx="1543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逐元素 ×</a:t>
            </a:r>
          </a:p>
        </p:txBody>
      </p:sp>
      <p:sp>
        <p:nvSpPr>
          <p:cNvPr id="10" name="down 投影">
            <a:extLst xmlns:a="http://schemas.openxmlformats.org/drawingml/2006/main">
              <a:ext uri="{FF2B5EF4-FFF2-40B4-BE49-F238E27FC236}">
                <a16:creationId xmlns:a16="http://schemas.microsoft.com/office/drawing/2014/main" id="{84479B42-E27B-4553-BD56-A02821A8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19375"/>
            <a:ext cx="171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down 投影</a:t>
            </a:r>
          </a:p>
        </p:txBody>
      </p:sp>
      <p:sp>
        <p:nvSpPr>
          <p:cNvPr id="11" name="FFN 输出">
            <a:extLst xmlns:a="http://schemas.openxmlformats.org/drawingml/2006/main">
              <a:ext uri="{FF2B5EF4-FFF2-40B4-BE49-F238E27FC236}">
                <a16:creationId xmlns:a16="http://schemas.microsoft.com/office/drawing/2014/main" id="{F3DC6A92-0655-42CB-8FF3-C91D0D09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19375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FFN 输出</a:t>
            </a:r>
          </a:p>
        </p:txBody>
      </p:sp>
      <p:cxnSp>
        <p:nvCxnSpPr>
          <p:cNvPr id="11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1495425" y="2428875"/>
            <a:ext cx="552450" cy="4476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1495425" y="2876550"/>
            <a:ext cx="552450" cy="561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9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905250" y="2428875"/>
            <a:ext cx="666750" cy="4953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3905250" y="2924175"/>
            <a:ext cx="666750" cy="514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115050" y="2924175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477250" y="2924175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8" name="多个 Q 头">
            <a:extLst xmlns:a="http://schemas.openxmlformats.org/drawingml/2006/main">
              <a:ext uri="{FF2B5EF4-FFF2-40B4-BE49-F238E27FC236}">
                <a16:creationId xmlns:a16="http://schemas.microsoft.com/office/drawing/2014/main" id="{55BE5BC6-F160-4860-8543-5A9F0D84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19526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多个 Q 头</a:t>
            </a:r>
          </a:p>
        </p:txBody>
      </p:sp>
      <p:sp>
        <p:nvSpPr>
          <p:cNvPr id="19" name="共享一组 K / V">
            <a:extLst xmlns:a="http://schemas.openxmlformats.org/drawingml/2006/main">
              <a:ext uri="{FF2B5EF4-FFF2-40B4-BE49-F238E27FC236}">
                <a16:creationId xmlns:a16="http://schemas.microsoft.com/office/drawing/2014/main" id="{EA37889F-9462-4E90-B14E-B26CC147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43400"/>
            <a:ext cx="23336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共享一组 K / V</a:t>
            </a:r>
          </a:p>
        </p:txBody>
      </p:sp>
      <p:cxnSp>
        <p:nvCxnSpPr>
          <p:cNvPr id="125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67000" y="46529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3584CA-6B59-4CFE-A3CA-12A15B9A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GQA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3C4B3E-2B73-45DA-BCE1-AC067D10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624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逐层 KV cache</a:t>
            </a:r>
          </a:p>
        </p:txBody>
      </p:sp>
      <p:sp>
        <p:nvSpPr>
          <p:cNvPr id="23" name="历史 token 的 K / V">
            <a:extLst xmlns:a="http://schemas.openxmlformats.org/drawingml/2006/main">
              <a:ext uri="{FF2B5EF4-FFF2-40B4-BE49-F238E27FC236}">
                <a16:creationId xmlns:a16="http://schemas.microsoft.com/office/drawing/2014/main" id="{FA121BFD-A47C-4163-B843-ADE88427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43400"/>
            <a:ext cx="2857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历史 token 的 K / V</a:t>
            </a:r>
          </a:p>
        </p:txBody>
      </p:sp>
      <p:sp>
        <p:nvSpPr>
          <p:cNvPr id="24" name="追加新 K / V">
            <a:extLst xmlns:a="http://schemas.openxmlformats.org/drawingml/2006/main">
              <a:ext uri="{FF2B5EF4-FFF2-40B4-BE49-F238E27FC236}">
                <a16:creationId xmlns:a16="http://schemas.microsoft.com/office/drawing/2014/main" id="{F616D329-B787-45BA-A8FE-1C33F077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343400"/>
            <a:ext cx="17621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追加新 K / V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EA2D2D1-7795-4078-B27D-5757F49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8820775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2D0DB6-0624-4870-9754-7F4C10B1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Prefill 与 Decode 的执行差异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24918-4C03-4B43-B10C-ACEEA0AE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按时间从左向右看，块宽不代表实测耗时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15A78E-B653-4342-A8D6-87DC5792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TTFT 包括输入处理与排队。TPOT 关注 decode 步之间的 token 间隔。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9030D-7162-464E-9BD0-15FB23FA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1B335-AE71-4903-8020-F6780D1C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57400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Prefill</a:t>
            </a:r>
          </a:p>
        </p:txBody>
      </p:sp>
      <p:sp>
        <p:nvSpPr>
          <p:cNvPr id="6" name="输入 token 1…N">
            <a:extLst xmlns:a="http://schemas.openxmlformats.org/drawingml/2006/main">
              <a:ext uri="{FF2B5EF4-FFF2-40B4-BE49-F238E27FC236}">
                <a16:creationId xmlns:a16="http://schemas.microsoft.com/office/drawing/2014/main" id="{2A37F5FE-C491-4493-95F2-89B6A7F4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47875"/>
            <a:ext cx="18764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输入 token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1…N</a:t>
            </a:r>
          </a:p>
        </p:txBody>
      </p:sp>
      <p:sp>
        <p:nvSpPr>
          <p:cNvPr id="7" name="并行处理多个 新 token">
            <a:extLst xmlns:a="http://schemas.openxmlformats.org/drawingml/2006/main">
              <a:ext uri="{FF2B5EF4-FFF2-40B4-BE49-F238E27FC236}">
                <a16:creationId xmlns:a16="http://schemas.microsoft.com/office/drawing/2014/main" id="{CBEC3465-A0D4-4192-9DC6-D9BC0901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47875"/>
            <a:ext cx="18764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并行处理多个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新 token</a:t>
            </a:r>
          </a:p>
        </p:txBody>
      </p:sp>
      <p:sp>
        <p:nvSpPr>
          <p:cNvPr id="8" name="建立各层 KV cache">
            <a:extLst xmlns:a="http://schemas.openxmlformats.org/drawingml/2006/main">
              <a:ext uri="{FF2B5EF4-FFF2-40B4-BE49-F238E27FC236}">
                <a16:creationId xmlns:a16="http://schemas.microsoft.com/office/drawing/2014/main" id="{73FB9698-8649-4368-AEA5-F181C915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047875"/>
            <a:ext cx="18764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建立各层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KV cache</a:t>
            </a:r>
          </a:p>
        </p:txBody>
      </p:sp>
      <p:sp>
        <p:nvSpPr>
          <p:cNvPr id="9" name="首个输出 token">
            <a:extLst xmlns:a="http://schemas.openxmlformats.org/drawingml/2006/main">
              <a:ext uri="{FF2B5EF4-FFF2-40B4-BE49-F238E27FC236}">
                <a16:creationId xmlns:a16="http://schemas.microsoft.com/office/drawing/2014/main" id="{D45D6F0B-3AEA-4040-8E7C-72FE1250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47875"/>
            <a:ext cx="18764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首个输出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token</a:t>
            </a:r>
          </a:p>
        </p:txBody>
      </p:sp>
      <p:cxnSp>
        <p:nvCxnSpPr>
          <p:cNvPr id="1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410075" y="241935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696075" y="241935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982075" y="241935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4861BF-9435-478B-8CFF-0A6D347D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037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一次处理输入上下文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31CB9D-483E-45B6-AA97-781AD0A8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86200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15" name="新增 1 个 token">
            <a:extLst xmlns:a="http://schemas.openxmlformats.org/drawingml/2006/main">
              <a:ext uri="{FF2B5EF4-FFF2-40B4-BE49-F238E27FC236}">
                <a16:creationId xmlns:a16="http://schemas.microsoft.com/office/drawing/2014/main" id="{D72DA3AB-47C2-40F1-A891-DBA4741A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76675"/>
            <a:ext cx="18764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新增 1 个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token</a:t>
            </a:r>
          </a:p>
        </p:txBody>
      </p:sp>
      <p:sp>
        <p:nvSpPr>
          <p:cNvPr id="16" name="读取历史 KV 执行当前步">
            <a:extLst xmlns:a="http://schemas.openxmlformats.org/drawingml/2006/main">
              <a:ext uri="{FF2B5EF4-FFF2-40B4-BE49-F238E27FC236}">
                <a16:creationId xmlns:a16="http://schemas.microsoft.com/office/drawing/2014/main" id="{8055C857-F60C-4753-9F03-F38FDBFC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876675"/>
            <a:ext cx="18764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读取历史 KV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执行当前步</a:t>
            </a:r>
          </a:p>
        </p:txBody>
      </p:sp>
      <p:sp>
        <p:nvSpPr>
          <p:cNvPr id="17" name="追加当前 K / V">
            <a:extLst xmlns:a="http://schemas.openxmlformats.org/drawingml/2006/main">
              <a:ext uri="{FF2B5EF4-FFF2-40B4-BE49-F238E27FC236}">
                <a16:creationId xmlns:a16="http://schemas.microsoft.com/office/drawing/2014/main" id="{EF639B8F-BEC1-4B17-8BA0-4C6D5FDB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76675"/>
            <a:ext cx="18764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追加当前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 / V</a:t>
            </a:r>
          </a:p>
        </p:txBody>
      </p:sp>
      <p:sp>
        <p:nvSpPr>
          <p:cNvPr id="18" name="下一个输出 token">
            <a:extLst xmlns:a="http://schemas.openxmlformats.org/drawingml/2006/main">
              <a:ext uri="{FF2B5EF4-FFF2-40B4-BE49-F238E27FC236}">
                <a16:creationId xmlns:a16="http://schemas.microsoft.com/office/drawing/2014/main" id="{0E246048-5AF9-427D-BC9D-517762C3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76675"/>
            <a:ext cx="18764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下一个输出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token</a:t>
            </a:r>
          </a:p>
        </p:txBody>
      </p:sp>
      <p:cxnSp>
        <p:nvCxnSpPr>
          <p:cNvPr id="131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410075" y="424815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32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696075" y="424815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33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982075" y="424815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34" name=""/>
          <p:cNvCxnSpPr>
            <a:stCxn xmlns:a="http://schemas.openxmlformats.org/drawingml/2006/main" id="8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5757863" y="2790825"/>
            <a:ext cx="2286000" cy="1085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6E5731-AD61-40D4-8F8F-62D371CB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86350"/>
            <a:ext cx="857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连续批处理时，每步可同时服务多个请求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CDAC357-46BB-43BE-8650-804060D8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1408198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A01AAB-7E2D-41A1-A4A5-6FF2C61A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Qwen3-VL-32B 的整体结构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033B6-25C7-4FE5-891E-12C36882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文本和视觉在语言序列中融合，DeepStack 再向早期语言层补充视觉信息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9CF206-0DB3-4326-9DAE-4E59B2EE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语言主干为 64 层稠密 decoder，最终生成文本 token。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1C0B2A-6E10-489E-B46E-C7912DD4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5" name="文字 / 对话">
            <a:extLst xmlns:a="http://schemas.openxmlformats.org/drawingml/2006/main">
              <a:ext uri="{FF2B5EF4-FFF2-40B4-BE49-F238E27FC236}">
                <a16:creationId xmlns:a16="http://schemas.microsoft.com/office/drawing/2014/main" id="{32A3CCA8-2D01-4A78-B7B0-24692BB0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文字 / 对话</a:t>
            </a:r>
          </a:p>
        </p:txBody>
      </p:sp>
      <p:sp>
        <p:nvSpPr>
          <p:cNvPr id="6" name="Tokenizer Embedding">
            <a:extLst xmlns:a="http://schemas.openxmlformats.org/drawingml/2006/main">
              <a:ext uri="{FF2B5EF4-FFF2-40B4-BE49-F238E27FC236}">
                <a16:creationId xmlns:a16="http://schemas.microsoft.com/office/drawing/2014/main" id="{91EAEA0D-DCCB-4B82-87FC-DD6ACE20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076450"/>
            <a:ext cx="20478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Tokenizer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Embedding</a:t>
            </a:r>
          </a:p>
        </p:txBody>
      </p:sp>
      <p:sp>
        <p:nvSpPr>
          <p:cNvPr id="7" name="图片 / 视频帧">
            <a:extLst xmlns:a="http://schemas.openxmlformats.org/drawingml/2006/main">
              <a:ext uri="{FF2B5EF4-FFF2-40B4-BE49-F238E27FC236}">
                <a16:creationId xmlns:a16="http://schemas.microsoft.com/office/drawing/2014/main" id="{7C1AD0F9-DF62-4FAE-9B17-01C7525E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14775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图片 / 视频帧</a:t>
            </a:r>
          </a:p>
        </p:txBody>
      </p:sp>
      <p:sp>
        <p:nvSpPr>
          <p:cNvPr id="8" name="视觉编码器 ViT 27 层">
            <a:extLst xmlns:a="http://schemas.openxmlformats.org/drawingml/2006/main">
              <a:ext uri="{FF2B5EF4-FFF2-40B4-BE49-F238E27FC236}">
                <a16:creationId xmlns:a16="http://schemas.microsoft.com/office/drawing/2014/main" id="{08121E29-907E-4301-B6B6-0FA19966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790950"/>
            <a:ext cx="2047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视觉编码器 ViT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27 层</a:t>
            </a:r>
          </a:p>
        </p:txBody>
      </p:sp>
      <p:sp>
        <p:nvSpPr>
          <p:cNvPr id="9" name="主 Merger 2×2 合并">
            <a:extLst xmlns:a="http://schemas.openxmlformats.org/drawingml/2006/main">
              <a:ext uri="{FF2B5EF4-FFF2-40B4-BE49-F238E27FC236}">
                <a16:creationId xmlns:a16="http://schemas.microsoft.com/office/drawing/2014/main" id="{47264FCA-E9DD-411A-8CD8-D6D89E16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90950"/>
            <a:ext cx="2047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主 Merger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2×2 合并</a:t>
            </a:r>
          </a:p>
        </p:txBody>
      </p:sp>
      <p:sp>
        <p:nvSpPr>
          <p:cNvPr id="10" name="统一图文 token 序列">
            <a:extLst xmlns:a="http://schemas.openxmlformats.org/drawingml/2006/main">
              <a:ext uri="{FF2B5EF4-FFF2-40B4-BE49-F238E27FC236}">
                <a16:creationId xmlns:a16="http://schemas.microsoft.com/office/drawing/2014/main" id="{E4DCDCCD-A1A0-4A76-9649-6514CE55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76450"/>
            <a:ext cx="20478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统一图文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token 序列</a:t>
            </a:r>
          </a:p>
        </p:txBody>
      </p:sp>
      <p:sp>
        <p:nvSpPr>
          <p:cNvPr id="11" name="语言解码器 ＋ LM Head">
            <a:extLst xmlns:a="http://schemas.openxmlformats.org/drawingml/2006/main">
              <a:ext uri="{FF2B5EF4-FFF2-40B4-BE49-F238E27FC236}">
                <a16:creationId xmlns:a16="http://schemas.microsoft.com/office/drawing/2014/main" id="{240A97E4-4F27-46C5-925E-E555BE39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0764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语言解码器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＋ LM Head</a:t>
            </a:r>
          </a:p>
        </p:txBody>
      </p:sp>
      <p:cxnSp>
        <p:nvCxnSpPr>
          <p:cNvPr id="115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381250" y="2505075"/>
            <a:ext cx="6000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6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029200" y="250507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2381250" y="4243388"/>
            <a:ext cx="600075" cy="4763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8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29200" y="424338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9" name=""/>
          <p:cNvCxnSpPr>
            <a:stCxn xmlns:a="http://schemas.openxmlformats.org/drawingml/2006/main" id="9" idx="0"/>
            <a:endCxn xmlns:a="http://schemas.openxmlformats.org/drawingml/2006/main" id="10" idx="2"/>
          </p:cNvCxnSpPr>
          <p:nvPr/>
        </p:nvCxnSpPr>
        <p:spPr>
          <a:xfrm xmlns:a="http://schemas.openxmlformats.org/drawingml/2006/main" flipV="1">
            <a:off x="6643688" y="2933700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667625" y="25050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8" name="DeepStack 中间层特征">
            <a:extLst xmlns:a="http://schemas.openxmlformats.org/drawingml/2006/main">
              <a:ext uri="{FF2B5EF4-FFF2-40B4-BE49-F238E27FC236}">
                <a16:creationId xmlns:a16="http://schemas.microsoft.com/office/drawing/2014/main" id="{DB9C769B-8287-4562-8621-0263808D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90950"/>
            <a:ext cx="2571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DeepStack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中间层特征</a:t>
            </a:r>
          </a:p>
        </p:txBody>
      </p:sp>
      <p:cxnSp>
        <p:nvCxnSpPr>
          <p:cNvPr id="122" name=""/>
          <p:cNvCxnSpPr>
            <a:stCxn xmlns:a="http://schemas.openxmlformats.org/drawingml/2006/main" id="8" idx="2"/>
            <a:endCxn xmlns:a="http://schemas.openxmlformats.org/drawingml/2006/main" id="18" idx="2"/>
          </p:cNvCxnSpPr>
          <p:nvPr/>
        </p:nvCxnSpPr>
        <p:spPr>
          <a:xfrm xmlns:a="http://schemas.openxmlformats.org/drawingml/2006/main">
            <a:off x="4005263" y="4695825"/>
            <a:ext cx="6091238" cy="228600"/>
          </a:xfrm>
          <a:prstGeom xmlns:a="http://schemas.openxmlformats.org/drawingml/2006/main" prst="bentConnector4">
            <a:avLst/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18" idx="0"/>
            <a:endCxn xmlns:a="http://schemas.openxmlformats.org/drawingml/2006/main" id="11" idx="2"/>
          </p:cNvCxnSpPr>
          <p:nvPr/>
        </p:nvCxnSpPr>
        <p:spPr>
          <a:xfrm xmlns:a="http://schemas.openxmlformats.org/drawingml/2006/main" flipV="1">
            <a:off x="10096500" y="2933700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B99C8B-1BE2-43FF-9A47-826E45C1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08610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视觉 token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替换占位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EBC064-CABF-4A2E-8A14-D64C32D6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958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注入前 3 个语言层的视觉位置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34B268E-68F7-484D-B911-C9B89523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7638832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E7CD16-1FF3-4D92-AF45-6154D534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32B 版本的关键结构参数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425961-EA26-4D89-8F13-953D18FC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数值来自 Qwen3-VL-32B-Instruct 官方 config.json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BCD87-B24A-4BCF-AE51-88B3DB3E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66900"/>
          <a:ext xmlns:a="http://schemas.openxmlformats.org/drawingml/2006/main" cx="109347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09875"/>
                <a:gridCol w="4333875"/>
                <a:gridCol w="3790950"/>
              </a:tblGrid>
              <a:tr h="6858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部分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含义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语言模型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64 层，hidden size 5120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FFN intermediate size 25600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稠密 decoder，使用 SwiGLU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语言 Attention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64 个 Q 头，8 个 KV 头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head dimension 128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GQA，每 8 个 Q 头共享 1 组 KV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视觉模型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27 层，hidden size 1152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patch 16，空间合并 2×2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处理动态尺寸视觉输入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视觉与语言衔接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输出宽度 5120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DeepStack 索引 [8,16,24]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 路中间特征分别注入语言层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CF7C9-D899-45C4-A99B-B291B6DD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1081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这个 32B 版本不含 MoE 专家层，也不使用 GDN。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E7C544-3EA7-4BC2-927C-BD5109A0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20307194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7EB812-6100-4F8F-A038-9D74F7C0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纯文本 LLM 与 Qwen3-VL 的结构区别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87CA6-973E-4640-BFC0-D7246F87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共同保留语言解码器，多模态额外增加视觉入口和特征融合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0418B-A004-4326-9238-ABD7E12A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MRoPE 表达多维位置，文本时间戳表达视频事件时间。GQA 等结构并非 VL 独有。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C73AD-8A0B-4B86-A252-9934F24C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E64BF-99EB-4AB9-9EF1-676802B9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纯文本 LLM</a:t>
            </a:r>
          </a:p>
        </p:txBody>
      </p:sp>
      <p:sp>
        <p:nvSpPr>
          <p:cNvPr id="6" name="文字">
            <a:extLst xmlns:a="http://schemas.openxmlformats.org/drawingml/2006/main">
              <a:ext uri="{FF2B5EF4-FFF2-40B4-BE49-F238E27FC236}">
                <a16:creationId xmlns:a16="http://schemas.microsoft.com/office/drawing/2014/main" id="{96B4DD9C-7950-4169-B0C2-C943EB1F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0250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文字</a:t>
            </a:r>
          </a:p>
        </p:txBody>
      </p:sp>
      <p:sp>
        <p:nvSpPr>
          <p:cNvPr id="7" name="Embedding">
            <a:extLst xmlns:a="http://schemas.openxmlformats.org/drawingml/2006/main">
              <a:ext uri="{FF2B5EF4-FFF2-40B4-BE49-F238E27FC236}">
                <a16:creationId xmlns:a16="http://schemas.microsoft.com/office/drawing/2014/main" id="{52B6F8A1-060A-4389-BDA3-CE652507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000250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Embedding</a:t>
            </a:r>
          </a:p>
        </p:txBody>
      </p:sp>
      <p:sp>
        <p:nvSpPr>
          <p:cNvPr id="8" name="语言 decoder">
            <a:extLst xmlns:a="http://schemas.openxmlformats.org/drawingml/2006/main">
              <a:ext uri="{FF2B5EF4-FFF2-40B4-BE49-F238E27FC236}">
                <a16:creationId xmlns:a16="http://schemas.microsoft.com/office/drawing/2014/main" id="{DF92EDCF-D3FA-4E82-9E3B-C340666C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0250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语言 decoder</a:t>
            </a:r>
          </a:p>
        </p:txBody>
      </p:sp>
      <p:sp>
        <p:nvSpPr>
          <p:cNvPr id="9" name="文本输出">
            <a:extLst xmlns:a="http://schemas.openxmlformats.org/drawingml/2006/main">
              <a:ext uri="{FF2B5EF4-FFF2-40B4-BE49-F238E27FC236}">
                <a16:creationId xmlns:a16="http://schemas.microsoft.com/office/drawing/2014/main" id="{82A6E346-486C-4124-BD58-453453FC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000250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文本输出</a:t>
            </a:r>
          </a:p>
        </p:txBody>
      </p:sp>
      <p:cxnSp>
        <p:nvCxnSpPr>
          <p:cNvPr id="12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743450" y="2371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943725" y="2371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144000" y="2371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C2D987-6F50-4690-9400-22033972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Qwen3-VL</a:t>
            </a:r>
          </a:p>
        </p:txBody>
      </p:sp>
      <p:sp>
        <p:nvSpPr>
          <p:cNvPr id="14" name="文字向量 ＋视觉 token">
            <a:extLst xmlns:a="http://schemas.openxmlformats.org/drawingml/2006/main">
              <a:ext uri="{FF2B5EF4-FFF2-40B4-BE49-F238E27FC236}">
                <a16:creationId xmlns:a16="http://schemas.microsoft.com/office/drawing/2014/main" id="{5F540482-8C6C-43CB-9D29-074BFC81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文字向量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＋视觉 token</a:t>
            </a:r>
          </a:p>
        </p:txBody>
      </p:sp>
      <p:sp>
        <p:nvSpPr>
          <p:cNvPr id="15" name="位置坐标 t / h / w">
            <a:extLst xmlns:a="http://schemas.openxmlformats.org/drawingml/2006/main">
              <a:ext uri="{FF2B5EF4-FFF2-40B4-BE49-F238E27FC236}">
                <a16:creationId xmlns:a16="http://schemas.microsoft.com/office/drawing/2014/main" id="{9EC3450A-8FF6-479A-9E22-AF513A2F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819525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位置坐标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 / h / w</a:t>
            </a:r>
          </a:p>
        </p:txBody>
      </p:sp>
      <p:sp>
        <p:nvSpPr>
          <p:cNvPr id="16" name="语言 decoder ＋ DeepStack">
            <a:extLst xmlns:a="http://schemas.openxmlformats.org/drawingml/2006/main">
              <a:ext uri="{FF2B5EF4-FFF2-40B4-BE49-F238E27FC236}">
                <a16:creationId xmlns:a16="http://schemas.microsoft.com/office/drawing/2014/main" id="{9EF0C845-8B8D-46ED-933C-B0CB9D7C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19525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语言 decoder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＋ DeepStack</a:t>
            </a:r>
          </a:p>
        </p:txBody>
      </p:sp>
      <p:sp>
        <p:nvSpPr>
          <p:cNvPr id="17" name="文本输出">
            <a:extLst xmlns:a="http://schemas.openxmlformats.org/drawingml/2006/main">
              <a:ext uri="{FF2B5EF4-FFF2-40B4-BE49-F238E27FC236}">
                <a16:creationId xmlns:a16="http://schemas.microsoft.com/office/drawing/2014/main" id="{5B54E9E6-EC0A-4BF8-8ED7-E54B34B0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819525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文本输出</a:t>
            </a:r>
          </a:p>
        </p:txBody>
      </p:sp>
      <p:cxnSp>
        <p:nvCxnSpPr>
          <p:cNvPr id="131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743450" y="419100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32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6943725" y="419100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33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144000" y="4191000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21" name="图像 / 视频：ViT 与 Merger">
            <a:extLst xmlns:a="http://schemas.openxmlformats.org/drawingml/2006/main">
              <a:ext uri="{FF2B5EF4-FFF2-40B4-BE49-F238E27FC236}">
                <a16:creationId xmlns:a16="http://schemas.microsoft.com/office/drawing/2014/main" id="{6D0801AB-8D02-4781-94F6-C00501C5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67025"/>
            <a:ext cx="400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图像 / 视频：ViT 与 Merger</a:t>
            </a:r>
          </a:p>
        </p:txBody>
      </p:sp>
      <p:cxnSp>
        <p:nvCxnSpPr>
          <p:cNvPr id="135" name=""/>
          <p:cNvCxnSpPr>
            <a:stCxn xmlns:a="http://schemas.openxmlformats.org/drawingml/2006/main" id="21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3848100" y="3457575"/>
            <a:ext cx="1085850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4D8261-07AB-4BD3-9C89-0182A7B1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09900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新增视觉路径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336D57-E89D-4DB4-BA97-19F5232C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857750"/>
            <a:ext cx="819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MRoPE 在语言层 Attention 内作用于 Q / K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00CE984-6CB5-43CE-B188-7AB7A86C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21265193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BB41FE-4CF8-43C4-94C9-3644418E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DeepStack 的多层视觉特征注入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55DB5-E55A-41B2-9F90-140C4D1A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三个分支通过加法注入，不增加语言序列长度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0D853-5C5A-4716-84EB-00590CAC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主 Merger 提供初始视觉 token，DeepStack 额外保留不同层次的视觉表示。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A1EB8-361C-4BC7-B8C8-2D99EB9E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B2302-B675-4DA5-8711-5043632D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430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视觉编码器中间层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AF8F-59D0-4E8F-A6A5-312FAFD5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74307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独立 Merger / 投影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9A10B-2C65-41A3-82E3-0B431E62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174307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语言模型的早期层</a:t>
            </a:r>
          </a:p>
        </p:txBody>
      </p:sp>
      <p:sp>
        <p:nvSpPr>
          <p:cNvPr id="8" name="ViT block 索引 8">
            <a:extLst xmlns:a="http://schemas.openxmlformats.org/drawingml/2006/main">
              <a:ext uri="{FF2B5EF4-FFF2-40B4-BE49-F238E27FC236}">
                <a16:creationId xmlns:a16="http://schemas.microsoft.com/office/drawing/2014/main" id="{CE3CAB00-36F0-4A3A-B5F6-D93F479A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252412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ViT block 索引 8</a:t>
            </a:r>
          </a:p>
        </p:txBody>
      </p:sp>
      <p:sp>
        <p:nvSpPr>
          <p:cNvPr id="9" name="Merger 1 宽度对齐到 5120">
            <a:extLst xmlns:a="http://schemas.openxmlformats.org/drawingml/2006/main">
              <a:ext uri="{FF2B5EF4-FFF2-40B4-BE49-F238E27FC236}">
                <a16:creationId xmlns:a16="http://schemas.microsoft.com/office/drawing/2014/main" id="{62B43987-2C3A-4270-95B2-15B8B0BE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33625"/>
            <a:ext cx="252412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Merger 1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宽度对齐到 5120</a:t>
            </a:r>
          </a:p>
        </p:txBody>
      </p:sp>
      <p:sp>
        <p:nvSpPr>
          <p:cNvPr id="10" name="语言层 1 视觉位置相加 ＋">
            <a:extLst xmlns:a="http://schemas.openxmlformats.org/drawingml/2006/main">
              <a:ext uri="{FF2B5EF4-FFF2-40B4-BE49-F238E27FC236}">
                <a16:creationId xmlns:a16="http://schemas.microsoft.com/office/drawing/2014/main" id="{2E192A2D-61F9-4B9E-8D47-D97D2390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333625"/>
            <a:ext cx="338137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语言层 1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视觉位置相加 ＋</a:t>
            </a:r>
          </a:p>
        </p:txBody>
      </p:sp>
      <p:cxnSp>
        <p:nvCxnSpPr>
          <p:cNvPr id="144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228975" y="2662238"/>
            <a:ext cx="9810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45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734175" y="2662238"/>
            <a:ext cx="12001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3" name="ViT block 索引 16">
            <a:extLst xmlns:a="http://schemas.openxmlformats.org/drawingml/2006/main">
              <a:ext uri="{FF2B5EF4-FFF2-40B4-BE49-F238E27FC236}">
                <a16:creationId xmlns:a16="http://schemas.microsoft.com/office/drawing/2014/main" id="{A82E2FDF-2D0A-41E7-A9BB-59EF4C2A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9950"/>
            <a:ext cx="252412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ViT block 索引 16</a:t>
            </a:r>
          </a:p>
        </p:txBody>
      </p:sp>
      <p:sp>
        <p:nvSpPr>
          <p:cNvPr id="14" name="Merger 2 宽度对齐到 5120">
            <a:extLst xmlns:a="http://schemas.openxmlformats.org/drawingml/2006/main">
              <a:ext uri="{FF2B5EF4-FFF2-40B4-BE49-F238E27FC236}">
                <a16:creationId xmlns:a16="http://schemas.microsoft.com/office/drawing/2014/main" id="{DB69186D-4AE1-4B76-B960-BAE4A412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09950"/>
            <a:ext cx="252412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Merger 2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宽度对齐到 5120</a:t>
            </a:r>
          </a:p>
        </p:txBody>
      </p:sp>
      <p:sp>
        <p:nvSpPr>
          <p:cNvPr id="15" name="语言层 2 视觉位置相加 ＋">
            <a:extLst xmlns:a="http://schemas.openxmlformats.org/drawingml/2006/main">
              <a:ext uri="{FF2B5EF4-FFF2-40B4-BE49-F238E27FC236}">
                <a16:creationId xmlns:a16="http://schemas.microsoft.com/office/drawing/2014/main" id="{28FD97B2-C65D-481B-BAA2-1F80494E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409950"/>
            <a:ext cx="338137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语言层 2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视觉位置相加 ＋</a:t>
            </a:r>
          </a:p>
        </p:txBody>
      </p:sp>
      <p:cxnSp>
        <p:nvCxnSpPr>
          <p:cNvPr id="149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228975" y="3738563"/>
            <a:ext cx="9810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0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6734175" y="3738563"/>
            <a:ext cx="12001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1" name=""/>
          <p:cNvCxnSpPr>
            <a:stCxn xmlns:a="http://schemas.openxmlformats.org/drawingml/2006/main" id="8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1966913" y="299085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cxnSp>
        <p:nvCxnSpPr>
          <p:cNvPr id="152" name=""/>
          <p:cNvCxnSpPr>
            <a:stCxn xmlns:a="http://schemas.openxmlformats.org/drawingml/2006/main" id="10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9625013" y="299085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376BAC"/>
            </a:solidFill>
            <a:tailEnd type="triangle" w="sm" len="sm"/>
          </a:ln>
        </p:spPr>
      </p:cxnSp>
      <p:sp>
        <p:nvSpPr>
          <p:cNvPr id="20" name="ViT block 索引 24">
            <a:extLst xmlns:a="http://schemas.openxmlformats.org/drawingml/2006/main">
              <a:ext uri="{FF2B5EF4-FFF2-40B4-BE49-F238E27FC236}">
                <a16:creationId xmlns:a16="http://schemas.microsoft.com/office/drawing/2014/main" id="{5D0F43A1-E812-40AE-9EA0-51D8DFA2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86275"/>
            <a:ext cx="252412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ViT block 索引 24</a:t>
            </a:r>
          </a:p>
        </p:txBody>
      </p:sp>
      <p:sp>
        <p:nvSpPr>
          <p:cNvPr id="21" name="Merger 3 宽度对齐到 5120">
            <a:extLst xmlns:a="http://schemas.openxmlformats.org/drawingml/2006/main">
              <a:ext uri="{FF2B5EF4-FFF2-40B4-BE49-F238E27FC236}">
                <a16:creationId xmlns:a16="http://schemas.microsoft.com/office/drawing/2014/main" id="{985C3647-6C81-4A4F-A2C3-5A023158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486275"/>
            <a:ext cx="252412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Merger 3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宽度对齐到 5120</a:t>
            </a:r>
          </a:p>
        </p:txBody>
      </p:sp>
      <p:sp>
        <p:nvSpPr>
          <p:cNvPr id="22" name="语言层 3 视觉位置相加 ＋">
            <a:extLst xmlns:a="http://schemas.openxmlformats.org/drawingml/2006/main">
              <a:ext uri="{FF2B5EF4-FFF2-40B4-BE49-F238E27FC236}">
                <a16:creationId xmlns:a16="http://schemas.microsoft.com/office/drawing/2014/main" id="{223160F2-DBC9-471A-BCCF-257F4EDB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486275"/>
            <a:ext cx="3381375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语言层 3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视觉位置相加 ＋</a:t>
            </a:r>
          </a:p>
        </p:txBody>
      </p:sp>
      <p:cxnSp>
        <p:nvCxnSpPr>
          <p:cNvPr id="156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3228975" y="4814888"/>
            <a:ext cx="9810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7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6734175" y="4814888"/>
            <a:ext cx="12001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8" name=""/>
          <p:cNvCxnSpPr>
            <a:stCxn xmlns:a="http://schemas.openxmlformats.org/drawingml/2006/main" id="13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1966913" y="4067175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cxnSp>
        <p:nvCxnSpPr>
          <p:cNvPr id="159" name=""/>
          <p:cNvCxnSpPr>
            <a:stCxn xmlns:a="http://schemas.openxmlformats.org/drawingml/2006/main" id="15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625013" y="4067175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376BAC"/>
            </a:solidFill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4434C0-5DDC-463C-9091-EBAC177E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578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索引从 0 开始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A2E95F-8A63-41A4-8B97-49501859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52578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后续继续执行语言层 4…64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CBC8C0C-E555-4F2D-80FA-0D96A278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3595021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6DEF61-084A-4F62-B7A3-8C59E437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MRoPE 坐标、频率与视频时间戳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9EC8E-2440-49A7-910D-063A0DC3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三轴位置张量和时间戳承担不同职责，以下为概念示意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4D188-A37A-473F-AF9D-1FB236E6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MRoPE 张量保留 t / h / w 三轴，token 数位于另一维，后续补齐必须沿 token 维。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4BEF30-E120-459C-AD91-9AB755AF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4A3E44-ED91-4A63-BD25-22E7D26A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288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位置张量：3 × 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DB8F4-8B98-4DFE-A562-FD334CEB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571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t：时间轴</a:t>
            </a:r>
          </a:p>
        </p:txBody>
      </p:sp>
      <p:sp>
        <p:nvSpPr>
          <p:cNvPr id="7" name="·">
            <a:extLst xmlns:a="http://schemas.openxmlformats.org/drawingml/2006/main">
              <a:ext uri="{FF2B5EF4-FFF2-40B4-BE49-F238E27FC236}">
                <a16:creationId xmlns:a16="http://schemas.microsoft.com/office/drawing/2014/main" id="{09CE06C6-44C2-4C33-9C14-1447B441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19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8" name="·">
            <a:extLst xmlns:a="http://schemas.openxmlformats.org/drawingml/2006/main">
              <a:ext uri="{FF2B5EF4-FFF2-40B4-BE49-F238E27FC236}">
                <a16:creationId xmlns:a16="http://schemas.microsoft.com/office/drawing/2014/main" id="{1EB7656C-73DB-473B-A1DA-6FD346EF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419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9" name="·">
            <a:extLst xmlns:a="http://schemas.openxmlformats.org/drawingml/2006/main">
              <a:ext uri="{FF2B5EF4-FFF2-40B4-BE49-F238E27FC236}">
                <a16:creationId xmlns:a16="http://schemas.microsoft.com/office/drawing/2014/main" id="{354EEED0-382A-405D-8DE0-96EFAD3C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19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0" name="·">
            <a:extLst xmlns:a="http://schemas.openxmlformats.org/drawingml/2006/main">
              <a:ext uri="{FF2B5EF4-FFF2-40B4-BE49-F238E27FC236}">
                <a16:creationId xmlns:a16="http://schemas.microsoft.com/office/drawing/2014/main" id="{39B901E6-C617-4070-BAB6-E6AAC953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419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1" name="·">
            <a:extLst xmlns:a="http://schemas.openxmlformats.org/drawingml/2006/main">
              <a:ext uri="{FF2B5EF4-FFF2-40B4-BE49-F238E27FC236}">
                <a16:creationId xmlns:a16="http://schemas.microsoft.com/office/drawing/2014/main" id="{883A054C-C16D-40BE-B5BC-A2A5CEC5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419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2" name="·">
            <a:extLst xmlns:a="http://schemas.openxmlformats.org/drawingml/2006/main">
              <a:ext uri="{FF2B5EF4-FFF2-40B4-BE49-F238E27FC236}">
                <a16:creationId xmlns:a16="http://schemas.microsoft.com/office/drawing/2014/main" id="{AAD8B2A7-58A1-443D-BFE5-70816A4E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419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BD249E-9608-4C78-96E6-494125F1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90850"/>
            <a:ext cx="1571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h：行坐标</a:t>
            </a:r>
          </a:p>
        </p:txBody>
      </p:sp>
      <p:sp>
        <p:nvSpPr>
          <p:cNvPr id="14" name="·">
            <a:extLst xmlns:a="http://schemas.openxmlformats.org/drawingml/2006/main">
              <a:ext uri="{FF2B5EF4-FFF2-40B4-BE49-F238E27FC236}">
                <a16:creationId xmlns:a16="http://schemas.microsoft.com/office/drawing/2014/main" id="{144C5624-4BCF-4E63-9CCD-7FAD20D7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908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5" name="·">
            <a:extLst xmlns:a="http://schemas.openxmlformats.org/drawingml/2006/main">
              <a:ext uri="{FF2B5EF4-FFF2-40B4-BE49-F238E27FC236}">
                <a16:creationId xmlns:a16="http://schemas.microsoft.com/office/drawing/2014/main" id="{AC1CA808-6A1F-4440-9AC7-5ABD515F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9908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6" name="·">
            <a:extLst xmlns:a="http://schemas.openxmlformats.org/drawingml/2006/main">
              <a:ext uri="{FF2B5EF4-FFF2-40B4-BE49-F238E27FC236}">
                <a16:creationId xmlns:a16="http://schemas.microsoft.com/office/drawing/2014/main" id="{79A8C516-BD12-42CD-B31E-AA3B8907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9908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7" name="·">
            <a:extLst xmlns:a="http://schemas.openxmlformats.org/drawingml/2006/main">
              <a:ext uri="{FF2B5EF4-FFF2-40B4-BE49-F238E27FC236}">
                <a16:creationId xmlns:a16="http://schemas.microsoft.com/office/drawing/2014/main" id="{1762F7F2-40BA-4873-93C8-6C93B165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9908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8" name="·">
            <a:extLst xmlns:a="http://schemas.openxmlformats.org/drawingml/2006/main">
              <a:ext uri="{FF2B5EF4-FFF2-40B4-BE49-F238E27FC236}">
                <a16:creationId xmlns:a16="http://schemas.microsoft.com/office/drawing/2014/main" id="{30AC5E48-6323-4202-AE04-88A924BF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9908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19" name="·">
            <a:extLst xmlns:a="http://schemas.openxmlformats.org/drawingml/2006/main">
              <a:ext uri="{FF2B5EF4-FFF2-40B4-BE49-F238E27FC236}">
                <a16:creationId xmlns:a16="http://schemas.microsoft.com/office/drawing/2014/main" id="{67EB8849-2CDA-476A-AE07-453D8F3A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908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8C99B2-646B-4510-BE31-46CFCCA4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62350"/>
            <a:ext cx="1571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w：列坐标</a:t>
            </a:r>
          </a:p>
        </p:txBody>
      </p:sp>
      <p:sp>
        <p:nvSpPr>
          <p:cNvPr id="21" name="·">
            <a:extLst xmlns:a="http://schemas.openxmlformats.org/drawingml/2006/main">
              <a:ext uri="{FF2B5EF4-FFF2-40B4-BE49-F238E27FC236}">
                <a16:creationId xmlns:a16="http://schemas.microsoft.com/office/drawing/2014/main" id="{325DA1E2-6E57-4195-8581-25D1B309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62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22" name="·">
            <a:extLst xmlns:a="http://schemas.openxmlformats.org/drawingml/2006/main">
              <a:ext uri="{FF2B5EF4-FFF2-40B4-BE49-F238E27FC236}">
                <a16:creationId xmlns:a16="http://schemas.microsoft.com/office/drawing/2014/main" id="{5DA3B61A-89F3-4A93-9DF1-82A9D1E5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62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23" name="·">
            <a:extLst xmlns:a="http://schemas.openxmlformats.org/drawingml/2006/main">
              <a:ext uri="{FF2B5EF4-FFF2-40B4-BE49-F238E27FC236}">
                <a16:creationId xmlns:a16="http://schemas.microsoft.com/office/drawing/2014/main" id="{2B3AF6C5-CA5B-4985-A5C3-8EAF5707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62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24" name="·">
            <a:extLst xmlns:a="http://schemas.openxmlformats.org/drawingml/2006/main">
              <a:ext uri="{FF2B5EF4-FFF2-40B4-BE49-F238E27FC236}">
                <a16:creationId xmlns:a16="http://schemas.microsoft.com/office/drawing/2014/main" id="{E8746817-8E85-4B0F-A85E-EA1723A4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562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25" name="·">
            <a:extLst xmlns:a="http://schemas.openxmlformats.org/drawingml/2006/main">
              <a:ext uri="{FF2B5EF4-FFF2-40B4-BE49-F238E27FC236}">
                <a16:creationId xmlns:a16="http://schemas.microsoft.com/office/drawing/2014/main" id="{7C6A11AA-C40B-49BB-9AB4-C3B7B600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562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26" name="·">
            <a:extLst xmlns:a="http://schemas.openxmlformats.org/drawingml/2006/main">
              <a:ext uri="{FF2B5EF4-FFF2-40B4-BE49-F238E27FC236}">
                <a16:creationId xmlns:a16="http://schemas.microsoft.com/office/drawing/2014/main" id="{F12100BE-1082-43CC-A511-EF6A916B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623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·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CC3F50-660A-4C15-BEA6-E20A91A5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8288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交错分配旋转频率</a:t>
            </a:r>
          </a:p>
        </p:txBody>
      </p:sp>
      <p:sp>
        <p:nvSpPr>
          <p:cNvPr id="28" name="t">
            <a:extLst xmlns:a="http://schemas.openxmlformats.org/drawingml/2006/main">
              <a:ext uri="{FF2B5EF4-FFF2-40B4-BE49-F238E27FC236}">
                <a16:creationId xmlns:a16="http://schemas.microsoft.com/office/drawing/2014/main" id="{F838B291-1E20-4F70-A11F-9044E81C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</a:t>
            </a:r>
          </a:p>
        </p:txBody>
      </p:sp>
      <p:sp>
        <p:nvSpPr>
          <p:cNvPr id="29" name="h">
            <a:extLst xmlns:a="http://schemas.openxmlformats.org/drawingml/2006/main">
              <a:ext uri="{FF2B5EF4-FFF2-40B4-BE49-F238E27FC236}">
                <a16:creationId xmlns:a16="http://schemas.microsoft.com/office/drawing/2014/main" id="{EEA83A8D-4869-4324-9DF3-E7E2F8BB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h</a:t>
            </a:r>
          </a:p>
        </p:txBody>
      </p:sp>
      <p:sp>
        <p:nvSpPr>
          <p:cNvPr id="30" name="w">
            <a:extLst xmlns:a="http://schemas.openxmlformats.org/drawingml/2006/main">
              <a:ext uri="{FF2B5EF4-FFF2-40B4-BE49-F238E27FC236}">
                <a16:creationId xmlns:a16="http://schemas.microsoft.com/office/drawing/2014/main" id="{E32505D6-170B-4D82-B282-B5ABDE6E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w</a:t>
            </a:r>
          </a:p>
        </p:txBody>
      </p:sp>
      <p:sp>
        <p:nvSpPr>
          <p:cNvPr id="31" name="t">
            <a:extLst xmlns:a="http://schemas.openxmlformats.org/drawingml/2006/main">
              <a:ext uri="{FF2B5EF4-FFF2-40B4-BE49-F238E27FC236}">
                <a16:creationId xmlns:a16="http://schemas.microsoft.com/office/drawing/2014/main" id="{90204047-D1F6-4883-96CE-608ACC3D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</a:t>
            </a:r>
          </a:p>
        </p:txBody>
      </p:sp>
      <p:sp>
        <p:nvSpPr>
          <p:cNvPr id="32" name="h">
            <a:extLst xmlns:a="http://schemas.openxmlformats.org/drawingml/2006/main">
              <a:ext uri="{FF2B5EF4-FFF2-40B4-BE49-F238E27FC236}">
                <a16:creationId xmlns:a16="http://schemas.microsoft.com/office/drawing/2014/main" id="{D5F9F9EA-C02E-47BB-8599-70C677BC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h</a:t>
            </a:r>
          </a:p>
        </p:txBody>
      </p:sp>
      <p:sp>
        <p:nvSpPr>
          <p:cNvPr id="33" name="w">
            <a:extLst xmlns:a="http://schemas.openxmlformats.org/drawingml/2006/main">
              <a:ext uri="{FF2B5EF4-FFF2-40B4-BE49-F238E27FC236}">
                <a16:creationId xmlns:a16="http://schemas.microsoft.com/office/drawing/2014/main" id="{EC3F156A-00DD-451E-9A8B-E27C7765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w</a:t>
            </a:r>
          </a:p>
        </p:txBody>
      </p:sp>
      <p:sp>
        <p:nvSpPr>
          <p:cNvPr id="34" name="t">
            <a:extLst xmlns:a="http://schemas.openxmlformats.org/drawingml/2006/main">
              <a:ext uri="{FF2B5EF4-FFF2-40B4-BE49-F238E27FC236}">
                <a16:creationId xmlns:a16="http://schemas.microsoft.com/office/drawing/2014/main" id="{AD1B204F-D91B-459A-8A45-E9DBA4A5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</a:t>
            </a:r>
          </a:p>
        </p:txBody>
      </p:sp>
      <p:sp>
        <p:nvSpPr>
          <p:cNvPr id="35" name="h">
            <a:extLst xmlns:a="http://schemas.openxmlformats.org/drawingml/2006/main">
              <a:ext uri="{FF2B5EF4-FFF2-40B4-BE49-F238E27FC236}">
                <a16:creationId xmlns:a16="http://schemas.microsoft.com/office/drawing/2014/main" id="{543FF772-2FEA-4C69-9B25-34463C29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h</a:t>
            </a:r>
          </a:p>
        </p:txBody>
      </p:sp>
      <p:sp>
        <p:nvSpPr>
          <p:cNvPr id="36" name="w">
            <a:extLst xmlns:a="http://schemas.openxmlformats.org/drawingml/2006/main">
              <a:ext uri="{FF2B5EF4-FFF2-40B4-BE49-F238E27FC236}">
                <a16:creationId xmlns:a16="http://schemas.microsoft.com/office/drawing/2014/main" id="{6BD89DA3-D89A-4FD7-8E51-2A6B083B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619375"/>
            <a:ext cx="5524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w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1AA55C-95BB-4922-9C8A-0B78098B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43275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低频至高频的概念图，非实际逐槽配置</a:t>
            </a:r>
          </a:p>
        </p:txBody>
      </p:sp>
      <p:sp>
        <p:nvSpPr>
          <p:cNvPr id="38" name="时间戳文本 &lt;3.0 seconds&gt;">
            <a:extLst xmlns:a="http://schemas.openxmlformats.org/drawingml/2006/main">
              <a:ext uri="{FF2B5EF4-FFF2-40B4-BE49-F238E27FC236}">
                <a16:creationId xmlns:a16="http://schemas.microsoft.com/office/drawing/2014/main" id="{08EAA1FD-5DA9-4702-B0C3-632FDBFC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81525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时间戳文本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&lt;3.0 seconds&gt;</a:t>
            </a:r>
          </a:p>
        </p:txBody>
      </p:sp>
      <p:sp>
        <p:nvSpPr>
          <p:cNvPr id="39" name="对应视频片段 视觉 token">
            <a:extLst xmlns:a="http://schemas.openxmlformats.org/drawingml/2006/main">
              <a:ext uri="{FF2B5EF4-FFF2-40B4-BE49-F238E27FC236}">
                <a16:creationId xmlns:a16="http://schemas.microsoft.com/office/drawing/2014/main" id="{F80FDE1C-21A0-44E4-9284-40B0CEB5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81525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对应视频片段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视觉 token</a:t>
            </a:r>
          </a:p>
        </p:txBody>
      </p:sp>
      <p:sp>
        <p:nvSpPr>
          <p:cNvPr id="40" name="后续时间戳 与视觉片段">
            <a:extLst xmlns:a="http://schemas.openxmlformats.org/drawingml/2006/main">
              <a:ext uri="{FF2B5EF4-FFF2-40B4-BE49-F238E27FC236}">
                <a16:creationId xmlns:a16="http://schemas.microsoft.com/office/drawing/2014/main" id="{DAE8B748-4A48-49E6-A797-ADAE2D81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4581525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后续时间戳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与视觉片段</a:t>
            </a:r>
          </a:p>
        </p:txBody>
      </p:sp>
      <p:cxnSp>
        <p:nvCxnSpPr>
          <p:cNvPr id="252" name=""/>
          <p:cNvCxnSpPr>
            <a:stCxn xmlns:a="http://schemas.openxmlformats.org/drawingml/2006/main" id="38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3857625" y="4924425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253" name=""/>
          <p:cNvCxnSpPr>
            <a:stCxn xmlns:a="http://schemas.openxmlformats.org/drawingml/2006/main" id="39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7658100" y="4924425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1375771-C02C-4522-B96D-2332D684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8134220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C343D1-451F-45E0-8802-340713DC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模型输入、内部张量与输出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C3BA11-9D57-443F-B745-97104BC0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以“图片 + 问题”为例，输出仍是一串文本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B281D-14BB-4CFC-8B82-7502A4BC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Processor 组织 input_ids、pixel_values、grid、位置和 mask。服务端再返回可读文字。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C699BF-3576-41AB-96C8-429A4EDF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5" name="图片 + 问题 “图里有什么？”">
            <a:extLst xmlns:a="http://schemas.openxmlformats.org/drawingml/2006/main">
              <a:ext uri="{FF2B5EF4-FFF2-40B4-BE49-F238E27FC236}">
                <a16:creationId xmlns:a16="http://schemas.microsoft.com/office/drawing/2014/main" id="{82949F42-7AC0-41C2-9EFF-8FB33D93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0030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图片 + 问题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“图里有什么？”</a:t>
            </a:r>
          </a:p>
        </p:txBody>
      </p:sp>
      <p:sp>
        <p:nvSpPr>
          <p:cNvPr id="6" name="Processor 分词 / patch">
            <a:extLst xmlns:a="http://schemas.openxmlformats.org/drawingml/2006/main">
              <a:ext uri="{FF2B5EF4-FFF2-40B4-BE49-F238E27FC236}">
                <a16:creationId xmlns:a16="http://schemas.microsoft.com/office/drawing/2014/main" id="{1F811613-4913-4700-9173-D655C36A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4003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Processor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分词 / patch</a:t>
            </a:r>
          </a:p>
        </p:txBody>
      </p:sp>
      <p:sp>
        <p:nvSpPr>
          <p:cNvPr id="7" name="Qwen3-VL 图文 forward">
            <a:extLst xmlns:a="http://schemas.openxmlformats.org/drawingml/2006/main">
              <a:ext uri="{FF2B5EF4-FFF2-40B4-BE49-F238E27FC236}">
                <a16:creationId xmlns:a16="http://schemas.microsoft.com/office/drawing/2014/main" id="{FFEEC703-12E0-4E47-9ED0-C6B8EF38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Qwen3-VL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图文 forward</a:t>
            </a:r>
          </a:p>
        </p:txBody>
      </p:sp>
      <p:sp>
        <p:nvSpPr>
          <p:cNvPr id="8" name="词表 logits 候选 token 分数">
            <a:extLst xmlns:a="http://schemas.openxmlformats.org/drawingml/2006/main">
              <a:ext uri="{FF2B5EF4-FFF2-40B4-BE49-F238E27FC236}">
                <a16:creationId xmlns:a16="http://schemas.microsoft.com/office/drawing/2014/main" id="{0D471054-4C0F-48CD-A284-6D95FB99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400300"/>
            <a:ext cx="19335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词表 logits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候选 token 分数</a:t>
            </a:r>
          </a:p>
        </p:txBody>
      </p:sp>
      <p:cxnSp>
        <p:nvCxnSpPr>
          <p:cNvPr id="8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267075" y="2838450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8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105525" y="2838450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8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953500" y="2838450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2" name="采样 / 选取 token">
            <a:extLst xmlns:a="http://schemas.openxmlformats.org/drawingml/2006/main">
              <a:ext uri="{FF2B5EF4-FFF2-40B4-BE49-F238E27FC236}">
                <a16:creationId xmlns:a16="http://schemas.microsoft.com/office/drawing/2014/main" id="{A352AAAD-351F-430C-B955-88498B88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457700"/>
            <a:ext cx="2809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采样 / 选取 token</a:t>
            </a:r>
          </a:p>
        </p:txBody>
      </p:sp>
      <p:sp>
        <p:nvSpPr>
          <p:cNvPr id="13" name="Detokenizer “图中有一辆车。”">
            <a:extLst xmlns:a="http://schemas.openxmlformats.org/drawingml/2006/main">
              <a:ext uri="{FF2B5EF4-FFF2-40B4-BE49-F238E27FC236}">
                <a16:creationId xmlns:a16="http://schemas.microsoft.com/office/drawing/2014/main" id="{0165FC17-ABEF-4704-8AEB-9EB0D551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3381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Detokenizer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“图中有一辆车。”</a:t>
            </a:r>
          </a:p>
        </p:txBody>
      </p:sp>
      <p:cxnSp>
        <p:nvCxnSpPr>
          <p:cNvPr id="92" name=""/>
          <p:cNvCxnSpPr>
            <a:stCxn xmlns:a="http://schemas.openxmlformats.org/drawingml/2006/main" id="8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10139363" y="3276600"/>
            <a:ext cx="438150" cy="11811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12" idx="1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H="1">
            <a:off x="7972425" y="4800600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46CF08-4A69-4E2E-8A91-9A7E303A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24375"/>
            <a:ext cx="3381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示例回答用于说明接口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79F67-5663-41C5-96D0-745694B7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2825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每一步更新并复用 KV cache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C636103-FDFE-49D3-B46D-A47CC979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15752140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2C6A7E-354D-41E3-99E6-1BFE4924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图像如何变成视觉 token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9C03C-4CDA-470A-B8AF-533CF72E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1024×1024 输入尺寸保持不变，图中仅放大展示一小块 patch 区域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13F62-479B-42D6-90C4-0D635EF9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整图：64×64 = 4096 个 patch，经 2×2 合并后成为 32×32 = 1024 个视觉 token。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BB402-B637-4F51-A4B7-915CE6F6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35C8D-760E-4D1C-8933-4F09CFD3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5737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16×16 像素 / patch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1EDDE8-6070-4972-890B-0240A89C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241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BD3CE2-3A17-4334-BCB5-69728C39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5241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C76A31-8F2D-46E3-9A24-53E10C6F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5241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29688-DAB0-41A3-8FBD-15225D8A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5241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D14E69-7893-4A81-A1A8-3CC68045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765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B06E8-C04A-4DB5-B4DB-D90A0A54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0765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5AD7A9-9D03-4468-A7C2-82E7D827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0765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7F360-665F-4270-B5A6-414A23F0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0765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2D2C3E-778D-4987-8F01-7C4639E8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290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7D4315-3A2F-40AF-B246-CC4F716A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6290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3813BE-CD94-4DE6-BE17-A9BC5F53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6290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034CB-5F20-4CF6-B9E3-E4AF2340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6290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8F4B36-6E26-400D-AC3A-421A39F4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814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7D1508-D414-458F-A846-491BE9CF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1814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DA42E1-5EB7-4DDC-A725-EF0D066D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1814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EC49DC-3B22-4380-AB7D-2977C66C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18147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视觉 ViT ＋ 2×2 Merger">
            <a:extLst xmlns:a="http://schemas.openxmlformats.org/drawingml/2006/main">
              <a:ext uri="{FF2B5EF4-FFF2-40B4-BE49-F238E27FC236}">
                <a16:creationId xmlns:a16="http://schemas.microsoft.com/office/drawing/2014/main" id="{413C5BC7-A41B-4123-8013-00929426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38475"/>
            <a:ext cx="25241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视觉 ViT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＋ 2×2 Merger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D8A0E4-47E3-4088-840B-B2B89AF9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00350"/>
            <a:ext cx="904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987B1B-9000-4723-B839-542D8F27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800350"/>
            <a:ext cx="904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379967-DE78-45AB-961B-37FF49EB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05225"/>
            <a:ext cx="904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6DF914-B11C-41AF-89FD-D409677C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705225"/>
            <a:ext cx="904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cxnSp>
        <p:nvCxnSpPr>
          <p:cNvPr id="171" name=""/>
          <p:cNvCxnSpPr>
            <a:stCxn xmlns:a="http://schemas.openxmlformats.org/drawingml/2006/main" id="13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3114675" y="3352800"/>
            <a:ext cx="1514475" cy="1714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72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 flipV="1">
            <a:off x="7153275" y="3252788"/>
            <a:ext cx="1533525" cy="2714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89635D-2C81-4E34-9663-FCC7DD3E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00625"/>
            <a:ext cx="338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局部 16 个 patch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AD1A-B98F-4EC5-BB53-6F486707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006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局部 4 个视觉 token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D15BD4-ADA0-403D-9CDB-E298CCE1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577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颜色表示同一合并组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1642529-9AA9-4C22-942F-CBEA5256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10837945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826CD3-5AE0-4A76-AD7D-BBB866BA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模型结构对应的优化位置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5AC23-5555-430C-B7B7-BB7319F4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结构决定候选方向，是否有效仍需要对照测试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98E79-1D3D-41C7-A27C-57493356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66900"/>
          <a:ext xmlns:a="http://schemas.openxmlformats.org/drawingml/2006/main" cx="109347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3857625"/>
                <a:gridCol w="3886200"/>
              </a:tblGrid>
              <a:tr h="6858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结构或数据特点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可以检查的优化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本项目的对应处理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稠密 Attention 与 FFN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 布局、GEMM、通信融合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普通 TP2、all-reduce 融合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Norm 与 MRoPE 连续执行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邻近算子融合，减少中间读写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compile，QK 融合实验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图片预处理和跨进程传递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缓存、保留设备数据、IPC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 GPU 数据与显式 CUDA IPC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动态 token 与多模态分支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padding 契约、图桶、分支同步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MRoPE 修复与视觉通信修复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707D3-4A55-4711-A216-7C289A38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1081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模型架构保持不变。改分辨率、量化或采样策略时，还要评估输出质量。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4470C-517C-45B8-B6CB-0BDCFB3B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1 章  模型基础与 Qwen3-VL 结构</a:t>
            </a:r>
          </a:p>
        </p:txBody>
      </p:sp>
    </p:spTree>
    <p:extLst>
      <p:ext uri="{BB962C8B-B14F-4D97-AF65-F5344CB8AC3E}">
        <p14:creationId xmlns:p14="http://schemas.microsoft.com/office/powerpoint/2010/main" val="41838516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3FFD1-954A-4FE1-8DDF-928D65BF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第 2 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D1752-4B96-44E7-BA57-B552F753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模型并行与 DP Attention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F3D98-BD18-4E8C-86C7-CCE3A01E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理解计算如何分工，以及各卡如何通信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D2081-24D7-48C7-A37E-D29A4CC7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2.1  TP、PP、DP、SP / CP 与 EP 的切分位置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AA19D-AE36-465D-8F76-1259774A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2.2  集合通信及并行策略的代价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BC648-5EE1-433F-9E31-B7463ACD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2.3  DP Attention 的执行过程、优势与适用条件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64BAEC-9EE5-4E94-9765-F1EFAE3E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674561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A85528-A435-45AD-B3B3-E4E1A2D0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模型切分：分别切哪里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B6C6A-EAF5-4C7D-991D-F240B9B7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三种典型切法示意，DP、EP 和状态分片在后页展开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53858-CF74-43EA-A26A-F34F4DBA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TP 切同一层的计算，PP 切模型深度，CP 切同一条序列的 token。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96CCE-6B98-4896-83FD-44F8C3F8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A829D-5072-4FA5-939F-7A44EDDD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TP：权重矩阵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5D4E8-6F21-4432-88CC-0F55709C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C07034-B204-4B55-AEDA-478F2ABF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241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CE2E1F-0B4A-4F0F-AFE7-6E3059F0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7241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F44CF-E49C-43BB-9262-3ED058B6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7241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AB36CB-E6E4-40A5-824D-BF4E62A9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AE67B-8E5B-4B86-9460-681B6236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813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D7227-4006-4954-B087-9CF3BB99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1813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9FECFC-0DD7-45EF-A4AF-7EAA51E3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813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695A0-F07A-4CC7-82E8-7982E63E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29D22-2C7A-48FE-81D7-F59876A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385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95777-D610-435D-93FD-65B775F3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6385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8E6D31-8338-4679-8EE1-62D04E34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385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A2054D-0801-4A69-90C9-6381505F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C7D45B-D907-4F88-8F75-5BC23C06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957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8E1DA4-8096-4A68-8E44-930F88D7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0957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112F35-6C06-42B8-A7C2-6215CEFA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95750"/>
            <a:ext cx="57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A5949C-A709-4DAB-BDE2-B9713067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300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卡 0            卡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C7E2-F2C7-4720-85C7-BC74E17F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1943100"/>
            <a:ext cx="328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PP：连续模型层</a:t>
            </a:r>
          </a:p>
        </p:txBody>
      </p:sp>
      <p:sp>
        <p:nvSpPr>
          <p:cNvPr id="24" name="层 1…16">
            <a:extLst xmlns:a="http://schemas.openxmlformats.org/drawingml/2006/main">
              <a:ext uri="{FF2B5EF4-FFF2-40B4-BE49-F238E27FC236}">
                <a16:creationId xmlns:a16="http://schemas.microsoft.com/office/drawing/2014/main" id="{3746B0E1-9B62-4341-A203-3E5431DE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524125"/>
            <a:ext cx="25241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层 1…16</a:t>
            </a:r>
          </a:p>
        </p:txBody>
      </p:sp>
      <p:sp>
        <p:nvSpPr>
          <p:cNvPr id="25" name="层 17…32">
            <a:extLst xmlns:a="http://schemas.openxmlformats.org/drawingml/2006/main">
              <a:ext uri="{FF2B5EF4-FFF2-40B4-BE49-F238E27FC236}">
                <a16:creationId xmlns:a16="http://schemas.microsoft.com/office/drawing/2014/main" id="{1AD5F01B-9C98-4C8B-9BC3-C59298F9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152775"/>
            <a:ext cx="25241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层 17…32</a:t>
            </a:r>
          </a:p>
        </p:txBody>
      </p:sp>
      <p:sp>
        <p:nvSpPr>
          <p:cNvPr id="26" name="层 33…48">
            <a:extLst xmlns:a="http://schemas.openxmlformats.org/drawingml/2006/main">
              <a:ext uri="{FF2B5EF4-FFF2-40B4-BE49-F238E27FC236}">
                <a16:creationId xmlns:a16="http://schemas.microsoft.com/office/drawing/2014/main" id="{A03D2D8E-C67B-47E4-B929-68D4057E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781425"/>
            <a:ext cx="25241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层 33…48</a:t>
            </a:r>
          </a:p>
        </p:txBody>
      </p:sp>
      <p:sp>
        <p:nvSpPr>
          <p:cNvPr id="27" name="层 49…64">
            <a:extLst xmlns:a="http://schemas.openxmlformats.org/drawingml/2006/main">
              <a:ext uri="{FF2B5EF4-FFF2-40B4-BE49-F238E27FC236}">
                <a16:creationId xmlns:a16="http://schemas.microsoft.com/office/drawing/2014/main" id="{326A4658-9765-46E6-BFB9-A81AD95B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410075"/>
            <a:ext cx="25241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层 49…64</a:t>
            </a:r>
          </a:p>
        </p:txBody>
      </p:sp>
      <p:cxnSp>
        <p:nvCxnSpPr>
          <p:cNvPr id="187" name=""/>
          <p:cNvCxnSpPr>
            <a:stCxn xmlns:a="http://schemas.openxmlformats.org/drawingml/2006/main" id="24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5938838" y="3028950"/>
            <a:ext cx="0" cy="1238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88" name=""/>
          <p:cNvCxnSpPr>
            <a:stCxn xmlns:a="http://schemas.openxmlformats.org/drawingml/2006/main" id="25" idx="2"/>
            <a:endCxn xmlns:a="http://schemas.openxmlformats.org/drawingml/2006/main" id="26" idx="0"/>
          </p:cNvCxnSpPr>
          <p:nvPr/>
        </p:nvCxnSpPr>
        <p:spPr>
          <a:xfrm xmlns:a="http://schemas.openxmlformats.org/drawingml/2006/main">
            <a:off x="5938838" y="3657600"/>
            <a:ext cx="0" cy="1238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89" name=""/>
          <p:cNvCxnSpPr>
            <a:stCxn xmlns:a="http://schemas.openxmlformats.org/drawingml/2006/main" id="26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5938838" y="4286250"/>
            <a:ext cx="0" cy="1238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91EED2-6813-46B6-A1FA-D24525F3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72075"/>
            <a:ext cx="3476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不同 stage 承载不同层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D48F1A-142D-4FAA-8FDF-9FC5DB73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43100"/>
            <a:ext cx="3381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CP：输入上下文</a:t>
            </a:r>
          </a:p>
        </p:txBody>
      </p:sp>
      <p:sp>
        <p:nvSpPr>
          <p:cNvPr id="33" name="1">
            <a:extLst xmlns:a="http://schemas.openxmlformats.org/drawingml/2006/main">
              <a:ext uri="{FF2B5EF4-FFF2-40B4-BE49-F238E27FC236}">
                <a16:creationId xmlns:a16="http://schemas.microsoft.com/office/drawing/2014/main" id="{BA8337B4-28D6-4D73-8F70-74A62507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38450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4" name="2">
            <a:extLst xmlns:a="http://schemas.openxmlformats.org/drawingml/2006/main">
              <a:ext uri="{FF2B5EF4-FFF2-40B4-BE49-F238E27FC236}">
                <a16:creationId xmlns:a16="http://schemas.microsoft.com/office/drawing/2014/main" id="{D5E7EC8A-FEC0-4CBF-9481-E1F04F8B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38450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35" name="3">
            <a:extLst xmlns:a="http://schemas.openxmlformats.org/drawingml/2006/main">
              <a:ext uri="{FF2B5EF4-FFF2-40B4-BE49-F238E27FC236}">
                <a16:creationId xmlns:a16="http://schemas.microsoft.com/office/drawing/2014/main" id="{B6C4DBE0-BC40-4704-914D-487945F9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838450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36" name="4">
            <a:extLst xmlns:a="http://schemas.openxmlformats.org/drawingml/2006/main">
              <a:ext uri="{FF2B5EF4-FFF2-40B4-BE49-F238E27FC236}">
                <a16:creationId xmlns:a16="http://schemas.microsoft.com/office/drawing/2014/main" id="{4FDF5EDB-78E5-4291-85AE-AB878E32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838450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B91AAA-8DDA-4D26-9059-76E62AEA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95725"/>
            <a:ext cx="35147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序列片段 0     片段 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E0AF05-EB8A-4915-B919-67E0EF35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591050"/>
            <a:ext cx="34480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Attention 仍需交换上下文信息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632D765-8893-40FD-9DC8-BAB470C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76147837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524EBF-92BF-41F8-8E17-CB0777A1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集合通信的结果示意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646764-5B67-49B7-840A-49849EEB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左侧是通信前，右侧是通信后，每一行表示两个 rank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7F04F-7FDC-44B2-89B5-374D5E54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All-to-All 按目的 rank 交换不同块。Send / Recv 则在一对端点间传递数据。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A638C-06AE-4F7A-A122-ADE0FBC5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F4FDD-8723-4E88-B7D3-A36815FC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2695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All-Reduce</a:t>
            </a:r>
          </a:p>
        </p:txBody>
      </p:sp>
      <p:sp>
        <p:nvSpPr>
          <p:cNvPr id="6" name="[1,2] / [3,4]">
            <a:extLst xmlns:a="http://schemas.openxmlformats.org/drawingml/2006/main">
              <a:ext uri="{FF2B5EF4-FFF2-40B4-BE49-F238E27FC236}">
                <a16:creationId xmlns:a16="http://schemas.microsoft.com/office/drawing/2014/main" id="{BEA1A21A-A446-4165-8020-7D23EA6C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193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[1,2] / [3,4]</a:t>
            </a:r>
          </a:p>
        </p:txBody>
      </p:sp>
      <p:sp>
        <p:nvSpPr>
          <p:cNvPr id="7" name="[4,6] / [4,6]">
            <a:extLst xmlns:a="http://schemas.openxmlformats.org/drawingml/2006/main">
              <a:ext uri="{FF2B5EF4-FFF2-40B4-BE49-F238E27FC236}">
                <a16:creationId xmlns:a16="http://schemas.microsoft.com/office/drawing/2014/main" id="{B8162E69-1DA4-4477-AA60-C50EA5C4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19300"/>
            <a:ext cx="3762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[4,6] / [4,6]</a:t>
            </a:r>
          </a:p>
        </p:txBody>
      </p:sp>
      <p:cxnSp>
        <p:nvCxnSpPr>
          <p:cNvPr id="10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715125" y="23145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83C416-44D2-4F5C-83B3-77F543E8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695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All-Gather</a:t>
            </a:r>
          </a:p>
        </p:txBody>
      </p:sp>
      <p:sp>
        <p:nvSpPr>
          <p:cNvPr id="10" name="[A] / [B]">
            <a:extLst xmlns:a="http://schemas.openxmlformats.org/drawingml/2006/main">
              <a:ext uri="{FF2B5EF4-FFF2-40B4-BE49-F238E27FC236}">
                <a16:creationId xmlns:a16="http://schemas.microsoft.com/office/drawing/2014/main" id="{9C4D084B-E076-43D4-BE0C-B918812F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[A] / [B]</a:t>
            </a:r>
          </a:p>
        </p:txBody>
      </p:sp>
      <p:sp>
        <p:nvSpPr>
          <p:cNvPr id="11" name="[A,B] / [A,B]">
            <a:extLst xmlns:a="http://schemas.openxmlformats.org/drawingml/2006/main">
              <a:ext uri="{FF2B5EF4-FFF2-40B4-BE49-F238E27FC236}">
                <a16:creationId xmlns:a16="http://schemas.microsoft.com/office/drawing/2014/main" id="{6BB63445-AF94-494F-8344-38D7B7EF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876550"/>
            <a:ext cx="3762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[A,B] / [A,B]</a:t>
            </a:r>
          </a:p>
        </p:txBody>
      </p:sp>
      <p:cxnSp>
        <p:nvCxnSpPr>
          <p:cNvPr id="113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715125" y="317182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19C97-D5A5-45F1-834E-09EC9D95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2695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Reduce-Scatter</a:t>
            </a:r>
          </a:p>
        </p:txBody>
      </p:sp>
      <p:sp>
        <p:nvSpPr>
          <p:cNvPr id="14" name="[1,2] / [3,4]">
            <a:extLst xmlns:a="http://schemas.openxmlformats.org/drawingml/2006/main">
              <a:ext uri="{FF2B5EF4-FFF2-40B4-BE49-F238E27FC236}">
                <a16:creationId xmlns:a16="http://schemas.microsoft.com/office/drawing/2014/main" id="{F964A849-B3DA-41F9-97F3-9F8FAD8A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7338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[1,2] / [3,4]</a:t>
            </a:r>
          </a:p>
        </p:txBody>
      </p:sp>
      <p:sp>
        <p:nvSpPr>
          <p:cNvPr id="15" name="[4] / [6]">
            <a:extLst xmlns:a="http://schemas.openxmlformats.org/drawingml/2006/main">
              <a:ext uri="{FF2B5EF4-FFF2-40B4-BE49-F238E27FC236}">
                <a16:creationId xmlns:a16="http://schemas.microsoft.com/office/drawing/2014/main" id="{F4B2C434-99F9-464A-BB02-887A1929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733800"/>
            <a:ext cx="3762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[4] / [6]</a:t>
            </a:r>
          </a:p>
        </p:txBody>
      </p:sp>
      <p:cxnSp>
        <p:nvCxnSpPr>
          <p:cNvPr id="117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6715125" y="40290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31FEB4-4CB7-4E19-83E2-C41AB43F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2695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All-to-All</a:t>
            </a:r>
          </a:p>
        </p:txBody>
      </p:sp>
      <p:sp>
        <p:nvSpPr>
          <p:cNvPr id="18" name="[A₀,A₁] / [B₀,B₁]">
            <a:extLst xmlns:a="http://schemas.openxmlformats.org/drawingml/2006/main">
              <a:ext uri="{FF2B5EF4-FFF2-40B4-BE49-F238E27FC236}">
                <a16:creationId xmlns:a16="http://schemas.microsoft.com/office/drawing/2014/main" id="{8A43EC18-4785-4D2E-8F45-441DF3FF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5910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[A₀,A₁] / [B₀,B₁]</a:t>
            </a:r>
          </a:p>
        </p:txBody>
      </p:sp>
      <p:sp>
        <p:nvSpPr>
          <p:cNvPr id="19" name="[A₀,B₀] / [A₁,B₁]">
            <a:extLst xmlns:a="http://schemas.openxmlformats.org/drawingml/2006/main">
              <a:ext uri="{FF2B5EF4-FFF2-40B4-BE49-F238E27FC236}">
                <a16:creationId xmlns:a16="http://schemas.microsoft.com/office/drawing/2014/main" id="{CF664E80-0FD0-43F3-8954-8462EF69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91050"/>
            <a:ext cx="3762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[A₀,B₀] / [A₁,B₁]</a:t>
            </a:r>
          </a:p>
        </p:txBody>
      </p:sp>
      <p:cxnSp>
        <p:nvCxnSpPr>
          <p:cNvPr id="121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6715125" y="488632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14A618-38E7-4EE3-BB9D-FA6D4121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136323936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98F77E-274A-436E-867B-F9585E01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TP：两卡共同执行一层 FFN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F8951-8EC3-492D-B725-12C0736E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按列切 gate / up，按行切 down，图中 W 采用数学矩阵方向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724C2-A2FA-4AC9-9E22-1B7C789F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每卡先得到部分结果，All-Reduce 求和后得到完整输出。也可用 Reduce-Scatter 保持分片。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E64D2D-6A50-4948-9875-ABCB65AA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5" name="同一批 输入 X">
            <a:extLst xmlns:a="http://schemas.openxmlformats.org/drawingml/2006/main">
              <a:ext uri="{FF2B5EF4-FFF2-40B4-BE49-F238E27FC236}">
                <a16:creationId xmlns:a16="http://schemas.microsoft.com/office/drawing/2014/main" id="{360BBF67-5A3E-4152-8385-DCFA3D29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4763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同一批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输入 X</a:t>
            </a:r>
          </a:p>
        </p:txBody>
      </p:sp>
      <p:sp>
        <p:nvSpPr>
          <p:cNvPr id="6" name="All-Reduce Z₀ + Z₁">
            <a:extLst xmlns:a="http://schemas.openxmlformats.org/drawingml/2006/main">
              <a:ext uri="{FF2B5EF4-FFF2-40B4-BE49-F238E27FC236}">
                <a16:creationId xmlns:a16="http://schemas.microsoft.com/office/drawing/2014/main" id="{9740DF2D-2312-4BCE-BC76-355E1400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181350"/>
            <a:ext cx="1714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All-Reduce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Z₀ + Z₁</a:t>
            </a:r>
          </a:p>
        </p:txBody>
      </p:sp>
      <p:sp>
        <p:nvSpPr>
          <p:cNvPr id="7" name="输出 Y">
            <a:extLst xmlns:a="http://schemas.openxmlformats.org/drawingml/2006/main">
              <a:ext uri="{FF2B5EF4-FFF2-40B4-BE49-F238E27FC236}">
                <a16:creationId xmlns:a16="http://schemas.microsoft.com/office/drawing/2014/main" id="{BE2BB044-D984-4546-8E9C-770F9818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267075"/>
            <a:ext cx="8572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输出 Y</a:t>
            </a:r>
          </a:p>
        </p:txBody>
      </p:sp>
      <p:cxnSp>
        <p:nvCxnSpPr>
          <p:cNvPr id="12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10448925" y="3633788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ECBF5-DE6E-4C24-9DE5-13571154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857375"/>
            <a:ext cx="190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76BAC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376BAC"/>
                </a:solidFill>
                <a:latin typeface="PingFang SC"/>
                <a:ea typeface="PingFang SC"/>
                <a:cs typeface="PingFang SC"/>
              </a:rPr>
              <a:t>GPU 0</a:t>
            </a:r>
          </a:p>
        </p:txBody>
      </p:sp>
      <p:sp>
        <p:nvSpPr>
          <p:cNvPr id="10" name="gate / up 权重分片 0">
            <a:extLst xmlns:a="http://schemas.openxmlformats.org/drawingml/2006/main">
              <a:ext uri="{FF2B5EF4-FFF2-40B4-BE49-F238E27FC236}">
                <a16:creationId xmlns:a16="http://schemas.microsoft.com/office/drawing/2014/main" id="{19F7DD25-FE68-449D-AD55-B9B44D0D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238375"/>
            <a:ext cx="179070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gate / up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权重分片 0</a:t>
            </a:r>
          </a:p>
        </p:txBody>
      </p:sp>
      <p:sp>
        <p:nvSpPr>
          <p:cNvPr id="11" name="SiLU 与门控 本地计算">
            <a:extLst xmlns:a="http://schemas.openxmlformats.org/drawingml/2006/main">
              <a:ext uri="{FF2B5EF4-FFF2-40B4-BE49-F238E27FC236}">
                <a16:creationId xmlns:a16="http://schemas.microsoft.com/office/drawing/2014/main" id="{B31A53C2-C11B-4212-A860-1C75BA66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238375"/>
            <a:ext cx="15716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SiLU 与门控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本地计算</a:t>
            </a:r>
          </a:p>
        </p:txBody>
      </p:sp>
      <p:sp>
        <p:nvSpPr>
          <p:cNvPr id="12" name="down 分片 0 部分结果 Z₀">
            <a:extLst xmlns:a="http://schemas.openxmlformats.org/drawingml/2006/main">
              <a:ext uri="{FF2B5EF4-FFF2-40B4-BE49-F238E27FC236}">
                <a16:creationId xmlns:a16="http://schemas.microsoft.com/office/drawing/2014/main" id="{29DA7837-2E1B-4E16-88AD-D16F2F90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38375"/>
            <a:ext cx="13811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down 分片 0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部分结果 Z₀</a:t>
            </a:r>
          </a:p>
        </p:txBody>
      </p:sp>
      <p:cxnSp>
        <p:nvCxnSpPr>
          <p:cNvPr id="134" name=""/>
          <p:cNvCxnSpPr>
            <a:stCxn xmlns:a="http://schemas.openxmlformats.org/drawingml/2006/main" id="5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2162175" y="2633663"/>
            <a:ext cx="533400" cy="1000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376BAC"/>
            </a:solidFill>
            <a:tailEnd type="triangle" w="sm" len="sm"/>
          </a:ln>
        </p:spPr>
      </p:cxnSp>
      <p:cxnSp>
        <p:nvCxnSpPr>
          <p:cNvPr id="135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486275" y="2633663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36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53200" y="2633663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37" name=""/>
          <p:cNvCxnSpPr>
            <a:stCxn xmlns:a="http://schemas.openxmlformats.org/drawingml/2006/main" id="12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429625" y="2633663"/>
            <a:ext cx="304800" cy="1000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376BAC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8AB7B4-D4E4-438F-8EF2-0E65ADAD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238625"/>
            <a:ext cx="190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7953A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7953A7"/>
                </a:solidFill>
                <a:latin typeface="PingFang SC"/>
                <a:ea typeface="PingFang SC"/>
                <a:cs typeface="PingFang SC"/>
              </a:rPr>
              <a:t>GPU 1</a:t>
            </a:r>
          </a:p>
        </p:txBody>
      </p:sp>
      <p:sp>
        <p:nvSpPr>
          <p:cNvPr id="18" name="gate / up 权重分片 1">
            <a:extLst xmlns:a="http://schemas.openxmlformats.org/drawingml/2006/main">
              <a:ext uri="{FF2B5EF4-FFF2-40B4-BE49-F238E27FC236}">
                <a16:creationId xmlns:a16="http://schemas.microsoft.com/office/drawing/2014/main" id="{0481EF42-74D8-4D21-9F39-F6360CB1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619625"/>
            <a:ext cx="179070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gate / up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权重分片 1</a:t>
            </a:r>
          </a:p>
        </p:txBody>
      </p:sp>
      <p:sp>
        <p:nvSpPr>
          <p:cNvPr id="19" name="SiLU 与门控 本地计算">
            <a:extLst xmlns:a="http://schemas.openxmlformats.org/drawingml/2006/main">
              <a:ext uri="{FF2B5EF4-FFF2-40B4-BE49-F238E27FC236}">
                <a16:creationId xmlns:a16="http://schemas.microsoft.com/office/drawing/2014/main" id="{16CC7200-A18D-483F-B19D-76727D1E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619625"/>
            <a:ext cx="15716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SiLU 与门控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本地计算</a:t>
            </a:r>
          </a:p>
        </p:txBody>
      </p:sp>
      <p:sp>
        <p:nvSpPr>
          <p:cNvPr id="20" name="down 分片 1 部分结果 Z₁">
            <a:extLst xmlns:a="http://schemas.openxmlformats.org/drawingml/2006/main">
              <a:ext uri="{FF2B5EF4-FFF2-40B4-BE49-F238E27FC236}">
                <a16:creationId xmlns:a16="http://schemas.microsoft.com/office/drawing/2014/main" id="{68585E88-16CC-42C1-855F-E80C7318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19625"/>
            <a:ext cx="13811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down 分片 1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部分结果 Z₁</a:t>
            </a:r>
          </a:p>
        </p:txBody>
      </p:sp>
      <p:cxnSp>
        <p:nvCxnSpPr>
          <p:cNvPr id="142" name=""/>
          <p:cNvCxnSpPr>
            <a:stCxn xmlns:a="http://schemas.openxmlformats.org/drawingml/2006/main" id="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162175" y="3633788"/>
            <a:ext cx="533400" cy="1381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cxnSp>
        <p:nvCxnSpPr>
          <p:cNvPr id="14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4486275" y="5014913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4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6553200" y="5014913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45" name=""/>
          <p:cNvCxnSpPr>
            <a:stCxn xmlns:a="http://schemas.openxmlformats.org/drawingml/2006/main" id="20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8429625" y="3633788"/>
            <a:ext cx="304800" cy="1381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77C06EE-6CD4-4E54-A3C4-08177B85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31833080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46A87C-44AF-4ADF-8D01-C2C16917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PP：层切分与流水线空泡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5D415-6190-4F7A-B76F-E96B301C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两级流水线、三个微批的理想化前向调度，时间槽仅用于示意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661CA-6EAB-40D2-8247-24973025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启动时 Stage 1 等待，排空时 Stage 0 空闲。阶段不均衡还会增加等待。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3E68F7-C3F3-4AEF-8F97-CCDBBE99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5" name="Stage 0：层 1…32">
            <a:extLst xmlns:a="http://schemas.openxmlformats.org/drawingml/2006/main">
              <a:ext uri="{FF2B5EF4-FFF2-40B4-BE49-F238E27FC236}">
                <a16:creationId xmlns:a16="http://schemas.microsoft.com/office/drawing/2014/main" id="{72F63535-09D8-4E02-8D6A-7311170A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885950"/>
            <a:ext cx="39719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Stage 0：层 1…32</a:t>
            </a:r>
          </a:p>
        </p:txBody>
      </p:sp>
      <p:sp>
        <p:nvSpPr>
          <p:cNvPr id="6" name="Stage 1：层 33…64">
            <a:extLst xmlns:a="http://schemas.openxmlformats.org/drawingml/2006/main">
              <a:ext uri="{FF2B5EF4-FFF2-40B4-BE49-F238E27FC236}">
                <a16:creationId xmlns:a16="http://schemas.microsoft.com/office/drawing/2014/main" id="{AC875A98-ED97-4B8A-82EA-09C22AEF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1885950"/>
            <a:ext cx="39909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Stage 1：层 33…64</a:t>
            </a:r>
          </a:p>
        </p:txBody>
      </p:sp>
      <p:cxnSp>
        <p:nvCxnSpPr>
          <p:cNvPr id="5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67250" y="2195513"/>
            <a:ext cx="28479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F0162-171A-42BD-9D56-7A51A01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336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36D12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B36D12"/>
                </a:solidFill>
                <a:latin typeface="PingFang SC"/>
                <a:ea typeface="PingFang SC"/>
                <a:cs typeface="PingFang SC"/>
              </a:rPr>
              <a:t>Send / Recv 激活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6F287E-7D41-4876-95DF-9C28CFF1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575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155C6-206E-4E55-AF58-324C45B4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F5A93C-4E28-4812-B34D-D2D06F10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8575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32C66-4A33-44FE-AE0C-9C00DC70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575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9A8C20-1015-4AC4-A856-F589D5F8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71875"/>
            <a:ext cx="190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76BAC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376BAC"/>
                </a:solidFill>
                <a:latin typeface="PingFang SC"/>
                <a:ea typeface="PingFang SC"/>
                <a:cs typeface="PingFang SC"/>
              </a:rPr>
              <a:t>Stage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320CDD-0AAD-4C75-8B3A-902CF42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14850"/>
            <a:ext cx="190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7953A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7953A7"/>
                </a:solidFill>
                <a:latin typeface="PingFang SC"/>
                <a:ea typeface="PingFang SC"/>
                <a:cs typeface="PingFang SC"/>
              </a:rPr>
              <a:t>Stage 1</a:t>
            </a:r>
          </a:p>
        </p:txBody>
      </p:sp>
      <p:sp>
        <p:nvSpPr>
          <p:cNvPr id="15" name="A">
            <a:extLst xmlns:a="http://schemas.openxmlformats.org/drawingml/2006/main">
              <a:ext uri="{FF2B5EF4-FFF2-40B4-BE49-F238E27FC236}">
                <a16:creationId xmlns:a16="http://schemas.microsoft.com/office/drawing/2014/main" id="{CABD68D2-5BEF-4B41-A9B4-60AC9D1F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476625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</a:t>
            </a:r>
          </a:p>
        </p:txBody>
      </p:sp>
      <p:sp>
        <p:nvSpPr>
          <p:cNvPr id="16" name="B">
            <a:extLst xmlns:a="http://schemas.openxmlformats.org/drawingml/2006/main">
              <a:ext uri="{FF2B5EF4-FFF2-40B4-BE49-F238E27FC236}">
                <a16:creationId xmlns:a16="http://schemas.microsoft.com/office/drawing/2014/main" id="{CB2C9E31-1263-454E-A9D4-5423CD83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76625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B</a:t>
            </a:r>
          </a:p>
        </p:txBody>
      </p:sp>
      <p:sp>
        <p:nvSpPr>
          <p:cNvPr id="17" name="C">
            <a:extLst xmlns:a="http://schemas.openxmlformats.org/drawingml/2006/main">
              <a:ext uri="{FF2B5EF4-FFF2-40B4-BE49-F238E27FC236}">
                <a16:creationId xmlns:a16="http://schemas.microsoft.com/office/drawing/2014/main" id="{23488537-22D8-4708-B32E-004E2C4F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476625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</a:t>
            </a:r>
          </a:p>
        </p:txBody>
      </p:sp>
      <p:sp>
        <p:nvSpPr>
          <p:cNvPr id="18" name="空闲">
            <a:extLst xmlns:a="http://schemas.openxmlformats.org/drawingml/2006/main">
              <a:ext uri="{FF2B5EF4-FFF2-40B4-BE49-F238E27FC236}">
                <a16:creationId xmlns:a16="http://schemas.microsoft.com/office/drawing/2014/main" id="{8F2E1B0C-4192-4D20-8B1B-D9D6FE5D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76625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空闲</a:t>
            </a:r>
          </a:p>
        </p:txBody>
      </p:sp>
      <p:sp>
        <p:nvSpPr>
          <p:cNvPr id="19" name="等待">
            <a:extLst xmlns:a="http://schemas.openxmlformats.org/drawingml/2006/main">
              <a:ext uri="{FF2B5EF4-FFF2-40B4-BE49-F238E27FC236}">
                <a16:creationId xmlns:a16="http://schemas.microsoft.com/office/drawing/2014/main" id="{48343FDB-D47F-4F51-A741-4F9D0B3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429125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等待</a:t>
            </a:r>
          </a:p>
        </p:txBody>
      </p:sp>
      <p:sp>
        <p:nvSpPr>
          <p:cNvPr id="20" name="A">
            <a:extLst xmlns:a="http://schemas.openxmlformats.org/drawingml/2006/main">
              <a:ext uri="{FF2B5EF4-FFF2-40B4-BE49-F238E27FC236}">
                <a16:creationId xmlns:a16="http://schemas.microsoft.com/office/drawing/2014/main" id="{9AD7049C-9188-4829-9886-6919E2E1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29125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</a:t>
            </a:r>
          </a:p>
        </p:txBody>
      </p:sp>
      <p:sp>
        <p:nvSpPr>
          <p:cNvPr id="21" name="B">
            <a:extLst xmlns:a="http://schemas.openxmlformats.org/drawingml/2006/main">
              <a:ext uri="{FF2B5EF4-FFF2-40B4-BE49-F238E27FC236}">
                <a16:creationId xmlns:a16="http://schemas.microsoft.com/office/drawing/2014/main" id="{F8102586-8924-45D3-9898-538F5E55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429125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B</a:t>
            </a:r>
          </a:p>
        </p:txBody>
      </p:sp>
      <p:sp>
        <p:nvSpPr>
          <p:cNvPr id="22" name="C">
            <a:extLst xmlns:a="http://schemas.openxmlformats.org/drawingml/2006/main">
              <a:ext uri="{FF2B5EF4-FFF2-40B4-BE49-F238E27FC236}">
                <a16:creationId xmlns:a16="http://schemas.microsoft.com/office/drawing/2014/main" id="{8FBCEA29-3B7C-4B5C-9DDD-3DAD465A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29125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1C2ABF-89BE-40DD-9FE9-F9713318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444429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8C6A8-9B53-4F70-B9C5-17C990B8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DP 副本与 FSDP 状态分片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87474B-6A1F-42FB-A29E-1E55C09B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上方是服务副本，下方是训练参数按需收集的简化示意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F99ABB-1F87-4D00-BFDC-6383335A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DDP 训练会同步梯度。FSDP / ZeRO 主要节省训练状态显存，分片范围由策略决定。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7B890-1EF8-459F-BC40-BE13553F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5" name="不同请求 A / B">
            <a:extLst xmlns:a="http://schemas.openxmlformats.org/drawingml/2006/main">
              <a:ext uri="{FF2B5EF4-FFF2-40B4-BE49-F238E27FC236}">
                <a16:creationId xmlns:a16="http://schemas.microsoft.com/office/drawing/2014/main" id="{F49436C9-4243-47C1-AD67-02FB2595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16668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不同请求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 / B</a:t>
            </a:r>
          </a:p>
        </p:txBody>
      </p:sp>
      <p:sp>
        <p:nvSpPr>
          <p:cNvPr id="6" name="完整模型副本 0 处理请求 A">
            <a:extLst xmlns:a="http://schemas.openxmlformats.org/drawingml/2006/main">
              <a:ext uri="{FF2B5EF4-FFF2-40B4-BE49-F238E27FC236}">
                <a16:creationId xmlns:a16="http://schemas.microsoft.com/office/drawing/2014/main" id="{F42B09F5-C4CC-42EE-A4CE-5B60DD66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952625"/>
            <a:ext cx="35718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完整模型副本 0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处理请求 A</a:t>
            </a:r>
          </a:p>
        </p:txBody>
      </p:sp>
      <p:sp>
        <p:nvSpPr>
          <p:cNvPr id="7" name="响应 A">
            <a:extLst xmlns:a="http://schemas.openxmlformats.org/drawingml/2006/main">
              <a:ext uri="{FF2B5EF4-FFF2-40B4-BE49-F238E27FC236}">
                <a16:creationId xmlns:a16="http://schemas.microsoft.com/office/drawing/2014/main" id="{4BBA9003-4AA8-47FC-B2F2-1340C0D6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952625"/>
            <a:ext cx="2352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响应 A</a:t>
            </a:r>
          </a:p>
        </p:txBody>
      </p:sp>
      <p:cxnSp>
        <p:nvCxnSpPr>
          <p:cNvPr id="9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371725" y="2371725"/>
            <a:ext cx="1143000" cy="4238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00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086600" y="2371725"/>
            <a:ext cx="19145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0" name="完整模型副本 1 处理请求 B">
            <a:extLst xmlns:a="http://schemas.openxmlformats.org/drawingml/2006/main">
              <a:ext uri="{FF2B5EF4-FFF2-40B4-BE49-F238E27FC236}">
                <a16:creationId xmlns:a16="http://schemas.microsoft.com/office/drawing/2014/main" id="{7CE534C4-1E97-424F-BB38-668045DC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057525"/>
            <a:ext cx="35718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完整模型副本 1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处理请求 B</a:t>
            </a:r>
          </a:p>
        </p:txBody>
      </p:sp>
      <p:sp>
        <p:nvSpPr>
          <p:cNvPr id="11" name="响应 B">
            <a:extLst xmlns:a="http://schemas.openxmlformats.org/drawingml/2006/main">
              <a:ext uri="{FF2B5EF4-FFF2-40B4-BE49-F238E27FC236}">
                <a16:creationId xmlns:a16="http://schemas.microsoft.com/office/drawing/2014/main" id="{9FC2646D-BC74-4166-8EEA-F96A351B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057525"/>
            <a:ext cx="2352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响应 B</a:t>
            </a:r>
          </a:p>
        </p:txBody>
      </p:sp>
      <p:cxnSp>
        <p:nvCxnSpPr>
          <p:cNvPr id="103" name=""/>
          <p:cNvCxnSpPr>
            <a:stCxn xmlns:a="http://schemas.openxmlformats.org/drawingml/2006/main" id="5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371725" y="2795588"/>
            <a:ext cx="1143000" cy="6810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04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086600" y="3476625"/>
            <a:ext cx="19145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4" name="各卡持有参数分片 W₀ / W₁">
            <a:extLst xmlns:a="http://schemas.openxmlformats.org/drawingml/2006/main">
              <a:ext uri="{FF2B5EF4-FFF2-40B4-BE49-F238E27FC236}">
                <a16:creationId xmlns:a16="http://schemas.microsoft.com/office/drawing/2014/main" id="{F0114329-3F83-4999-B2D2-4624B312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0"/>
            <a:ext cx="31432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各卡持有参数分片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W₀ / W₁</a:t>
            </a:r>
          </a:p>
        </p:txBody>
      </p:sp>
      <p:sp>
        <p:nvSpPr>
          <p:cNvPr id="15" name="All-Gather 当前层参数">
            <a:extLst xmlns:a="http://schemas.openxmlformats.org/drawingml/2006/main">
              <a:ext uri="{FF2B5EF4-FFF2-40B4-BE49-F238E27FC236}">
                <a16:creationId xmlns:a16="http://schemas.microsoft.com/office/drawing/2014/main" id="{929D2969-252F-4C1F-ABEB-2F6C8113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572000"/>
            <a:ext cx="266700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All-Gather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当前层参数</a:t>
            </a:r>
          </a:p>
        </p:txBody>
      </p:sp>
      <p:sp>
        <p:nvSpPr>
          <p:cNvPr id="16" name="执行当前层 再按策略释放完整参数">
            <a:extLst xmlns:a="http://schemas.openxmlformats.org/drawingml/2006/main">
              <a:ext uri="{FF2B5EF4-FFF2-40B4-BE49-F238E27FC236}">
                <a16:creationId xmlns:a16="http://schemas.microsoft.com/office/drawing/2014/main" id="{4641470F-CC72-454F-9EBA-4BC1E25E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572000"/>
            <a:ext cx="30003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执行当前层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再按策略释放完整参数</a:t>
            </a:r>
          </a:p>
        </p:txBody>
      </p:sp>
      <p:cxnSp>
        <p:nvCxnSpPr>
          <p:cNvPr id="108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848100" y="4967288"/>
            <a:ext cx="10096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09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524750" y="4967288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B0DA4F-3F1D-4C0A-BCD1-E7D2E8CA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135367283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55BEBC-AE60-463D-848B-5ACAA4D3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SP 与 CP 的通信位置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B91A0-300B-4C9A-96C3-9F9BBDC2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SP 指 Megatron 的 sequence parallel，CP 把长序列分段执行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EA2E9F-E69B-4DE2-8CC8-E423C3D3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CP 的每段 Attention 仍要访问其他片段的 KV。图中只示意逻辑交换，具体算法由后端决定。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08051-244D-40FF-866D-EA816E13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459FE2-4A4A-46EB-A240-99179637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33575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SP</a:t>
            </a:r>
          </a:p>
        </p:txBody>
      </p:sp>
      <p:sp>
        <p:nvSpPr>
          <p:cNvPr id="6" name="Norm 激活 按 token 分片">
            <a:extLst xmlns:a="http://schemas.openxmlformats.org/drawingml/2006/main">
              <a:ext uri="{FF2B5EF4-FFF2-40B4-BE49-F238E27FC236}">
                <a16:creationId xmlns:a16="http://schemas.microsoft.com/office/drawing/2014/main" id="{7BC17ABD-C735-4A52-AA79-FD883895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95262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Norm 激活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按 token 分片</a:t>
            </a:r>
          </a:p>
        </p:txBody>
      </p:sp>
      <p:sp>
        <p:nvSpPr>
          <p:cNvPr id="7" name="All-Gather">
            <a:extLst xmlns:a="http://schemas.openxmlformats.org/drawingml/2006/main">
              <a:ext uri="{FF2B5EF4-FFF2-40B4-BE49-F238E27FC236}">
                <a16:creationId xmlns:a16="http://schemas.microsoft.com/office/drawing/2014/main" id="{DDB49FB5-479E-48CA-9018-A2417075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95262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All-Gather</a:t>
            </a:r>
          </a:p>
        </p:txBody>
      </p:sp>
      <p:sp>
        <p:nvSpPr>
          <p:cNvPr id="8" name="TP 投影 与 Attention">
            <a:extLst xmlns:a="http://schemas.openxmlformats.org/drawingml/2006/main">
              <a:ext uri="{FF2B5EF4-FFF2-40B4-BE49-F238E27FC236}">
                <a16:creationId xmlns:a16="http://schemas.microsoft.com/office/drawing/2014/main" id="{0951B224-D9A8-4E0F-9B98-D3B6EE58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5262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TP 投影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与 Attention</a:t>
            </a:r>
          </a:p>
        </p:txBody>
      </p:sp>
      <p:sp>
        <p:nvSpPr>
          <p:cNvPr id="9" name="Reduce-Scatter">
            <a:extLst xmlns:a="http://schemas.openxmlformats.org/drawingml/2006/main">
              <a:ext uri="{FF2B5EF4-FFF2-40B4-BE49-F238E27FC236}">
                <a16:creationId xmlns:a16="http://schemas.microsoft.com/office/drawing/2014/main" id="{4089E0DB-C24A-47CF-A54F-675B1F0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Reduce-Scatter</a:t>
            </a:r>
          </a:p>
        </p:txBody>
      </p:sp>
      <p:cxnSp>
        <p:nvCxnSpPr>
          <p:cNvPr id="11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210050" y="23241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610350" y="23241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010650" y="23241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A6F9D0-102D-4049-AE1A-615D9D46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952750"/>
            <a:ext cx="9039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常见位置：TP 周边的 Norm / Dropout 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9F51C8-211F-437E-8E2A-80CC648F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CP</a:t>
            </a:r>
          </a:p>
        </p:txBody>
      </p:sp>
      <p:sp>
        <p:nvSpPr>
          <p:cNvPr id="15" name="卡 0：片段 0 本地 Q / KV">
            <a:extLst xmlns:a="http://schemas.openxmlformats.org/drawingml/2006/main">
              <a:ext uri="{FF2B5EF4-FFF2-40B4-BE49-F238E27FC236}">
                <a16:creationId xmlns:a16="http://schemas.microsoft.com/office/drawing/2014/main" id="{3E16401F-34E5-48B3-9915-AD205DB4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86200"/>
            <a:ext cx="2543175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卡 0：片段 0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本地 Q / KV</a:t>
            </a:r>
          </a:p>
        </p:txBody>
      </p:sp>
      <p:sp>
        <p:nvSpPr>
          <p:cNvPr id="16" name="交换 KV 或部分结果">
            <a:extLst xmlns:a="http://schemas.openxmlformats.org/drawingml/2006/main">
              <a:ext uri="{FF2B5EF4-FFF2-40B4-BE49-F238E27FC236}">
                <a16:creationId xmlns:a16="http://schemas.microsoft.com/office/drawing/2014/main" id="{176DE0EC-F57F-4B95-92D0-B5BFE2BD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886200"/>
            <a:ext cx="2257425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交换 KV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或部分结果</a:t>
            </a:r>
          </a:p>
        </p:txBody>
      </p:sp>
      <p:sp>
        <p:nvSpPr>
          <p:cNvPr id="17" name="卡 1：片段 1 本地 Q / KV">
            <a:extLst xmlns:a="http://schemas.openxmlformats.org/drawingml/2006/main">
              <a:ext uri="{FF2B5EF4-FFF2-40B4-BE49-F238E27FC236}">
                <a16:creationId xmlns:a16="http://schemas.microsoft.com/office/drawing/2014/main" id="{9F13FF09-26BD-4DE1-800A-B455E80E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886200"/>
            <a:ext cx="2714625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卡 1：片段 1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本地 Q / KV</a:t>
            </a:r>
          </a:p>
        </p:txBody>
      </p:sp>
      <p:cxnSp>
        <p:nvCxnSpPr>
          <p:cNvPr id="119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772025" y="4357688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7867650" y="4357688"/>
            <a:ext cx="8286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17" idx="2"/>
            <a:endCxn xmlns:a="http://schemas.openxmlformats.org/drawingml/2006/main" id="15" idx="2"/>
          </p:cNvCxnSpPr>
          <p:nvPr/>
        </p:nvCxnSpPr>
        <p:spPr>
          <a:xfrm xmlns:a="http://schemas.openxmlformats.org/drawingml/2006/main" flipH="1">
            <a:off x="3500438" y="4829175"/>
            <a:ext cx="6553200" cy="228600"/>
          </a:xfrm>
          <a:prstGeom xmlns:a="http://schemas.openxmlformats.org/drawingml/2006/main" prst="bentConnector4">
            <a:avLst/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E13C51-F667-41F4-ACA0-6A720A49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78306584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6E5A60-4819-4F57-AFF2-FD7072E48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EP：MoE 专家层的 token 路由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A3431-4318-470A-A154-EC23FDAE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简化为 top-1 示例，实际模型可能为每个 token 选择多个专家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AB298-E1A1-4FBC-8C52-C3805741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Dispatch 和 Combine 常用 All-to-All 或专用通信。Qwen3-VL-32B 的稠密 FFN 不使用 EP。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752F9-E769-49AA-8C79-826A43E9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  <p:sp>
        <p:nvSpPr>
          <p:cNvPr id="5" name="token A / B">
            <a:extLst xmlns:a="http://schemas.openxmlformats.org/drawingml/2006/main">
              <a:ext uri="{FF2B5EF4-FFF2-40B4-BE49-F238E27FC236}">
                <a16:creationId xmlns:a16="http://schemas.microsoft.com/office/drawing/2014/main" id="{CB11B6F2-DE80-423D-9FCD-D90CBD19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16668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token A / B</a:t>
            </a:r>
          </a:p>
        </p:txBody>
      </p:sp>
      <p:sp>
        <p:nvSpPr>
          <p:cNvPr id="6" name="Router 选择专家">
            <a:extLst xmlns:a="http://schemas.openxmlformats.org/drawingml/2006/main">
              <a:ext uri="{FF2B5EF4-FFF2-40B4-BE49-F238E27FC236}">
                <a16:creationId xmlns:a16="http://schemas.microsoft.com/office/drawing/2014/main" id="{2E7584CF-C839-44DA-A147-87091903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095625"/>
            <a:ext cx="16668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Router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选择专家</a:t>
            </a:r>
          </a:p>
        </p:txBody>
      </p:sp>
      <p:sp>
        <p:nvSpPr>
          <p:cNvPr id="7" name="Dispatch 按目标分发">
            <a:extLst xmlns:a="http://schemas.openxmlformats.org/drawingml/2006/main">
              <a:ext uri="{FF2B5EF4-FFF2-40B4-BE49-F238E27FC236}">
                <a16:creationId xmlns:a16="http://schemas.microsoft.com/office/drawing/2014/main" id="{93F5C58E-5811-4BEE-98D6-28207E11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95625"/>
            <a:ext cx="17621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Dispatch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按目标分发</a:t>
            </a:r>
          </a:p>
        </p:txBody>
      </p:sp>
      <p:sp>
        <p:nvSpPr>
          <p:cNvPr id="8" name="Combine 汇回并加权">
            <a:extLst xmlns:a="http://schemas.openxmlformats.org/drawingml/2006/main">
              <a:ext uri="{FF2B5EF4-FFF2-40B4-BE49-F238E27FC236}">
                <a16:creationId xmlns:a16="http://schemas.microsoft.com/office/drawing/2014/main" id="{9A220685-138F-4181-91BD-6D00C94C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95625"/>
            <a:ext cx="1943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Combine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汇回并加权</a:t>
            </a:r>
          </a:p>
        </p:txBody>
      </p:sp>
      <p:cxnSp>
        <p:nvCxnSpPr>
          <p:cNvPr id="9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352675" y="349567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9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505325" y="3495675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1" name="GPU 0：Expert 0 计算 A">
            <a:extLst xmlns:a="http://schemas.openxmlformats.org/drawingml/2006/main">
              <a:ext uri="{FF2B5EF4-FFF2-40B4-BE49-F238E27FC236}">
                <a16:creationId xmlns:a16="http://schemas.microsoft.com/office/drawing/2014/main" id="{9854D221-A1FF-4D53-A63B-CC6152CB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05025"/>
            <a:ext cx="2028825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0：Expert 0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计算 A</a:t>
            </a:r>
          </a:p>
        </p:txBody>
      </p:sp>
      <p:sp>
        <p:nvSpPr>
          <p:cNvPr id="12" name="GPU 1：Expert 1 计算 B">
            <a:extLst xmlns:a="http://schemas.openxmlformats.org/drawingml/2006/main">
              <a:ext uri="{FF2B5EF4-FFF2-40B4-BE49-F238E27FC236}">
                <a16:creationId xmlns:a16="http://schemas.microsoft.com/office/drawing/2014/main" id="{D5485D94-2332-4F70-83F1-3584528D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71975"/>
            <a:ext cx="2028825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1：Expert 1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计算 B</a:t>
            </a:r>
          </a:p>
        </p:txBody>
      </p:sp>
      <p:cxnSp>
        <p:nvCxnSpPr>
          <p:cNvPr id="9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6772275" y="2519363"/>
            <a:ext cx="447675" cy="9763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cxnSp>
        <p:nvCxnSpPr>
          <p:cNvPr id="95" name=""/>
          <p:cNvCxnSpPr>
            <a:stCxn xmlns:a="http://schemas.openxmlformats.org/drawingml/2006/main" id="7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772275" y="3495675"/>
            <a:ext cx="447675" cy="12906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cxnSp>
        <p:nvCxnSpPr>
          <p:cNvPr id="96" name=""/>
          <p:cNvCxnSpPr>
            <a:stCxn xmlns:a="http://schemas.openxmlformats.org/drawingml/2006/main" id="11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248775" y="2519363"/>
            <a:ext cx="295275" cy="9763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cxnSp>
        <p:nvCxnSpPr>
          <p:cNvPr id="97" name=""/>
          <p:cNvCxnSpPr>
            <a:stCxn xmlns:a="http://schemas.openxmlformats.org/drawingml/2006/main" id="12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9248775" y="3495675"/>
            <a:ext cx="295275" cy="12906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85CCFE7-31F2-4C2C-BB1C-E37C7A0A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24300182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08A0FE-DFDC-47E7-AB98-642DD470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切分方式通常落在哪些模型部分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265DB-889C-407B-AF8B-15768B96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下表汇总主要位置，实际可以组合使用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330ED-EF27-452B-9C8B-460E9126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25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66900"/>
          <a:ext xmlns:a="http://schemas.openxmlformats.org/drawingml/2006/main" cx="109347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3810000"/>
                <a:gridCol w="3933825"/>
              </a:tblGrid>
              <a:tr h="6858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模型位置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常见并行方式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需要交换的数据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Attention 投影与输出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TP，长上下文可结合 CP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部分结果、KV 或 attention 结果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稠密 FFN / MoE FFN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 / EP 可结合专家 TP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矩阵部分结果 / 路由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Norm 与连续层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SP / PP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分片激活 / stage 间激活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视觉编码器 / 全模型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 TP、模态分离 / DP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视觉特征 / 请求与响应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7078A-1D1C-4083-A630-9FB07CF8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1081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多模态切分还要传递 grid、位置和 DeepStack 特征，保持对应关系。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7674E9-E0CF-4A5D-9FC7-F2513465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153583640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0859B-7AA4-4F9D-B5F4-786EE4D6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通信成本与并行策略的选择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D0B73-B8B4-4082-B286-932D0D99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并行的收益来自减少本地工作，代价来自传输、同步和调度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5F610-2253-4032-BCAC-9856D07F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8AAF38-3995-4C6C-8F6C-B6A79EDA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通信时间可粗略理解为：启动延迟，加上传输字节数 / 有效带宽。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A3C51-81F1-4B2B-8352-359455D2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TP 每层协同频繁，通常优先放在 NVLink 等高速互联组内。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E3B61-5216-47B1-A9CE-B0DD0E48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PP 在 stage 边界传激活，减少通信频次，但可能产生流水线空泡。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8A352-4A0E-4F92-913D-705A0C0A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DP 副本较独立，CP 与 EP 更依赖序列长度、路由和实际网络负载。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C81D4-0722-496D-A478-5221BC9A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选择依据是完整请求的延迟、吞吐与显存，不能只看 GPU 数量。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03855-2A4D-4EB8-8FD9-5DA303B6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89063289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A0891F-1588-4E38-A82A-866721FA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DP Attention 的分层并行结构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7C2E3-0DE5-4CDF-A8E4-E47C9ED2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Attention 分请求，稠密 FFN 仍由共享 TP 组计算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3157CB-748B-44BF-85A8-C66BD1FF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DP Attention 需要逐层切换 token 布局，各 attention 组并不是完整独立的模型副本。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52E7D-781A-406E-9C19-39933CB4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27</a:t>
            </a:r>
          </a:p>
        </p:txBody>
      </p:sp>
      <p:sp>
        <p:nvSpPr>
          <p:cNvPr id="5" name="Attention 组 0 请求 A + KV A">
            <a:extLst xmlns:a="http://schemas.openxmlformats.org/drawingml/2006/main">
              <a:ext uri="{FF2B5EF4-FFF2-40B4-BE49-F238E27FC236}">
                <a16:creationId xmlns:a16="http://schemas.microsoft.com/office/drawing/2014/main" id="{E48F306A-10FE-450A-9772-19075B0E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62175"/>
            <a:ext cx="31813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Attention 组 0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请求 A + KV A</a:t>
            </a:r>
          </a:p>
        </p:txBody>
      </p:sp>
      <p:sp>
        <p:nvSpPr>
          <p:cNvPr id="6" name="Attention 组 1 请求 B + KV B">
            <a:extLst xmlns:a="http://schemas.openxmlformats.org/drawingml/2006/main">
              <a:ext uri="{FF2B5EF4-FFF2-40B4-BE49-F238E27FC236}">
                <a16:creationId xmlns:a16="http://schemas.microsoft.com/office/drawing/2014/main" id="{FBB3A7A8-7026-4E4B-9202-F95C78E7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14800"/>
            <a:ext cx="31813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Attention 组 1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请求 B + KV B</a:t>
            </a:r>
          </a:p>
        </p:txBody>
      </p:sp>
      <p:sp>
        <p:nvSpPr>
          <p:cNvPr id="7" name="汇集 Attention 输出 按 FFN 的 TP 布局组织">
            <a:extLst xmlns:a="http://schemas.openxmlformats.org/drawingml/2006/main">
              <a:ext uri="{FF2B5EF4-FFF2-40B4-BE49-F238E27FC236}">
                <a16:creationId xmlns:a16="http://schemas.microsoft.com/office/drawing/2014/main" id="{44082A05-EC9A-4708-AFA4-FE26EA94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95625"/>
            <a:ext cx="2876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汇集 Attention 输出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按 FFN 的 TP 布局组织</a:t>
            </a:r>
          </a:p>
        </p:txBody>
      </p:sp>
      <p:cxnSp>
        <p:nvCxnSpPr>
          <p:cNvPr id="65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76675" y="2600325"/>
            <a:ext cx="933450" cy="10096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376BAC"/>
            </a:solidFill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876675" y="3609975"/>
            <a:ext cx="933450" cy="942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sp>
        <p:nvSpPr>
          <p:cNvPr id="10" name="共享 FFN TP 组 两卡各持一部分权重 计算 A 和 B 的 token">
            <a:extLst xmlns:a="http://schemas.openxmlformats.org/drawingml/2006/main">
              <a:ext uri="{FF2B5EF4-FFF2-40B4-BE49-F238E27FC236}">
                <a16:creationId xmlns:a16="http://schemas.microsoft.com/office/drawing/2014/main" id="{5D376E81-117D-4A8D-8021-1FA46076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819400"/>
            <a:ext cx="28956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共享 FFN TP 组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两卡各持一部分权重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计算 A 和 B 的 token</a:t>
            </a:r>
          </a:p>
        </p:txBody>
      </p:sp>
      <p:cxnSp>
        <p:nvCxnSpPr>
          <p:cNvPr id="68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686675" y="36099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3CE34A-D80A-437C-B878-088F3A71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8291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结果组合后恢复各组请求归属，进入下一层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4982BA-95FE-451D-851E-85EE64FD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134597320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042765-0416-4AF7-B021-0C8F73C0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TP、完整模型 DP 与 DP Attention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84439-A6B4-4791-845E-DEC0E09B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比较的是同一层如何分配请求与计算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F6B41A-9A75-49CF-9867-8F11B269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28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85950"/>
          <a:ext xmlns:a="http://schemas.openxmlformats.org/drawingml/2006/main" cx="109347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2952750"/>
                <a:gridCol w="3333750"/>
                <a:gridCol w="2552700"/>
              </a:tblGrid>
              <a:tr h="8715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方式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Attention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FFN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跨组关系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普通 TP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同一批请求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跨卡分工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同一批请求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权重分片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层内协同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完整模型 DP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不同副本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处理不同请求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每个副本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拥有完整逻辑模型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简单 DP 副本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相互独立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DP Attention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不同 attention 组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处理不同请求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共享 TP 组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计算各组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每层切换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数据布局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F3412-316E-4EBA-BA21-CBA5A40F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578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完整模型 DP 的一个副本，也可以由多张 GPU 共同承载。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D38B5-3C05-4233-BFDE-59BEC2B7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25785663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27408A-0427-4451-A899-0440CC28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TP2 / DP2 为什么只用两张 GPU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BE38BC-88B0-4139-8DE7-0C135787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SGLang DP Attention 在同一 TP 组内部划分 attention 子组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5CC0F3-0866-4E2F-A4CE-7075282C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attention TP = 2 / 2 = 1。FFN 的 TP 组仍由这两张 GPU 共同组成。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FA36-5527-4D02-8DD9-705D416A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29BF3-FD0D-4459-9779-335A8621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638675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376BAC"/>
            </a:solidFill>
            <a:prstDash val="dash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F3478-DB2B-41C8-8AB2-492D190D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4448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76BAC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376BAC"/>
                </a:solidFill>
                <a:latin typeface="PingFang SC"/>
                <a:ea typeface="PingFang SC"/>
                <a:cs typeface="PingFang SC"/>
              </a:rPr>
              <a:t>GPU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F9E3B-97FD-4461-9FBD-E0D0A3B9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1924050"/>
            <a:ext cx="4638675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7953A7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C221E-4967-4BDF-9891-FEEEC63C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962150"/>
            <a:ext cx="4448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7953A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7953A7"/>
                </a:solidFill>
                <a:latin typeface="PingFang SC"/>
                <a:ea typeface="PingFang SC"/>
                <a:cs typeface="PingFang SC"/>
              </a:rPr>
              <a:t>GPU 1</a:t>
            </a:r>
          </a:p>
        </p:txBody>
      </p:sp>
      <p:sp>
        <p:nvSpPr>
          <p:cNvPr id="9" name="Attention 组 0 请求 A、自己的 KV">
            <a:extLst xmlns:a="http://schemas.openxmlformats.org/drawingml/2006/main">
              <a:ext uri="{FF2B5EF4-FFF2-40B4-BE49-F238E27FC236}">
                <a16:creationId xmlns:a16="http://schemas.microsoft.com/office/drawing/2014/main" id="{88518AE8-B9FE-4754-B943-08B00387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4095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Attention 组 0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请求 A、自己的 KV</a:t>
            </a:r>
          </a:p>
        </p:txBody>
      </p:sp>
      <p:sp>
        <p:nvSpPr>
          <p:cNvPr id="10" name="Attention 组 1 请求 B、自己的 KV">
            <a:extLst xmlns:a="http://schemas.openxmlformats.org/drawingml/2006/main">
              <a:ext uri="{FF2B5EF4-FFF2-40B4-BE49-F238E27FC236}">
                <a16:creationId xmlns:a16="http://schemas.microsoft.com/office/drawing/2014/main" id="{E4CFB24D-98FC-456E-A02E-B1095E13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52700"/>
            <a:ext cx="4095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Attention 组 1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请求 B、自己的 KV</a:t>
            </a:r>
          </a:p>
        </p:txBody>
      </p:sp>
      <p:sp>
        <p:nvSpPr>
          <p:cNvPr id="11" name="FFN 权重分片 0">
            <a:extLst xmlns:a="http://schemas.openxmlformats.org/drawingml/2006/main">
              <a:ext uri="{FF2B5EF4-FFF2-40B4-BE49-F238E27FC236}">
                <a16:creationId xmlns:a16="http://schemas.microsoft.com/office/drawing/2014/main" id="{B13916DF-9CC1-4B7E-9F64-51787703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924300"/>
            <a:ext cx="4095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FFN 权重分片 0</a:t>
            </a:r>
          </a:p>
        </p:txBody>
      </p:sp>
      <p:sp>
        <p:nvSpPr>
          <p:cNvPr id="12" name="FFN 权重分片 1">
            <a:extLst xmlns:a="http://schemas.openxmlformats.org/drawingml/2006/main">
              <a:ext uri="{FF2B5EF4-FFF2-40B4-BE49-F238E27FC236}">
                <a16:creationId xmlns:a16="http://schemas.microsoft.com/office/drawing/2014/main" id="{733E5D95-FCCC-4493-A5D4-95A4F1F6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24300"/>
            <a:ext cx="4095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FFN 权重分片 1</a:t>
            </a:r>
          </a:p>
        </p:txBody>
      </p:sp>
      <p:cxnSp>
        <p:nvCxnSpPr>
          <p:cNvPr id="81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57775" y="4305300"/>
            <a:ext cx="21050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B36D12"/>
            </a:solidFill>
            <a:headEnd type="triangle" w="sm" len="sm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A7F95E-1BBB-420D-8D6B-E8B3653B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476625"/>
            <a:ext cx="138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36D12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B36D12"/>
                </a:solidFill>
                <a:latin typeface="PingFang SC"/>
                <a:ea typeface="PingFang SC"/>
                <a:cs typeface="PingFang SC"/>
              </a:rPr>
              <a:t>同步 / 归约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3A544-EB09-4A2D-B29C-7082F871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38750"/>
            <a:ext cx="946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同一组 GPU 在不同子层使用不同的并行分工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854FE7-69CF-4FCA-A8D0-C5CDF604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21204201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7476DB-43BB-404A-B621-E4E3B7AE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请求 A、B 如何经过一层 DP Attention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9105E-12DE-4884-AC0F-7C53E52C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双卡 TP2 / DP2 的逻辑数据流，具体 collective 随后端与 padding 模式变化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A09A4-1AC6-4BB7-A6AA-D7EB553A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两卡 FFN 分片都处理 A 和 B 的 token，结果合并后各 rank 保留自己的请求。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B51F98-F3AA-49A1-BAEF-8F9FF646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30</a:t>
            </a:r>
          </a:p>
        </p:txBody>
      </p:sp>
      <p:sp>
        <p:nvSpPr>
          <p:cNvPr id="5" name="汇集 A + B">
            <a:extLst xmlns:a="http://schemas.openxmlformats.org/drawingml/2006/main">
              <a:ext uri="{FF2B5EF4-FFF2-40B4-BE49-F238E27FC236}">
                <a16:creationId xmlns:a16="http://schemas.microsoft.com/office/drawing/2014/main" id="{6DCCE146-8034-4268-A49B-356EE94D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133725"/>
            <a:ext cx="13811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汇集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 + B</a:t>
            </a:r>
          </a:p>
        </p:txBody>
      </p:sp>
      <p:sp>
        <p:nvSpPr>
          <p:cNvPr id="6" name="组合结果 恢复归属">
            <a:extLst xmlns:a="http://schemas.openxmlformats.org/drawingml/2006/main">
              <a:ext uri="{FF2B5EF4-FFF2-40B4-BE49-F238E27FC236}">
                <a16:creationId xmlns:a16="http://schemas.microsoft.com/office/drawing/2014/main" id="{B24BBDF4-FBE3-45BC-8DC3-3649ED50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6859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组合结果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恢复归属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5270F-BEBB-4EA8-BE63-0DD0501D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76BAC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376BAC"/>
                </a:solidFill>
                <a:latin typeface="PingFang SC"/>
                <a:ea typeface="PingFang SC"/>
                <a:cs typeface="PingFang SC"/>
              </a:rPr>
              <a:t>GPU 0</a:t>
            </a:r>
          </a:p>
        </p:txBody>
      </p:sp>
      <p:sp>
        <p:nvSpPr>
          <p:cNvPr id="8" name="Attention A 读取 KV A">
            <a:extLst xmlns:a="http://schemas.openxmlformats.org/drawingml/2006/main">
              <a:ext uri="{FF2B5EF4-FFF2-40B4-BE49-F238E27FC236}">
                <a16:creationId xmlns:a16="http://schemas.microsoft.com/office/drawing/2014/main" id="{893F710B-0B0B-4F93-B46F-5FE79254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238375"/>
            <a:ext cx="2743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Attention A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读取 KV A</a:t>
            </a:r>
          </a:p>
        </p:txBody>
      </p:sp>
      <p:sp>
        <p:nvSpPr>
          <p:cNvPr id="9" name="FFN 分片 0 同时计算 A + B">
            <a:extLst xmlns:a="http://schemas.openxmlformats.org/drawingml/2006/main">
              <a:ext uri="{FF2B5EF4-FFF2-40B4-BE49-F238E27FC236}">
                <a16:creationId xmlns:a16="http://schemas.microsoft.com/office/drawing/2014/main" id="{6567E00C-FD14-4038-A8F7-A053760C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238375"/>
            <a:ext cx="23907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FFN 分片 0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同时计算 A + B</a:t>
            </a:r>
          </a:p>
        </p:txBody>
      </p:sp>
      <p:cxnSp>
        <p:nvCxnSpPr>
          <p:cNvPr id="101" name=""/>
          <p:cNvCxnSpPr>
            <a:stCxn xmlns:a="http://schemas.openxmlformats.org/drawingml/2006/main" id="8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438525" y="2638425"/>
            <a:ext cx="952500" cy="9906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376BAC"/>
            </a:solidFill>
            <a:tailEnd type="triangle" w="sm" len="sm"/>
          </a:ln>
        </p:spPr>
      </p:cxnSp>
      <p:cxnSp>
        <p:nvCxnSpPr>
          <p:cNvPr id="102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5772150" y="2638425"/>
            <a:ext cx="904875" cy="9906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cxnSp>
        <p:nvCxnSpPr>
          <p:cNvPr id="103" name=""/>
          <p:cNvCxnSpPr>
            <a:stCxn xmlns:a="http://schemas.openxmlformats.org/drawingml/2006/main" id="9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9067800" y="2638425"/>
            <a:ext cx="628650" cy="9906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376BAC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8816E-7710-4C61-ABD1-E6EE26EC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7953A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7953A7"/>
                </a:solidFill>
                <a:latin typeface="PingFang SC"/>
                <a:ea typeface="PingFang SC"/>
                <a:cs typeface="PingFang SC"/>
              </a:rPr>
              <a:t>GPU 1</a:t>
            </a:r>
          </a:p>
        </p:txBody>
      </p:sp>
      <p:sp>
        <p:nvSpPr>
          <p:cNvPr id="14" name="Attention B 读取 KV B">
            <a:extLst xmlns:a="http://schemas.openxmlformats.org/drawingml/2006/main">
              <a:ext uri="{FF2B5EF4-FFF2-40B4-BE49-F238E27FC236}">
                <a16:creationId xmlns:a16="http://schemas.microsoft.com/office/drawing/2014/main" id="{046A3075-B714-4D2D-8866-C903A249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81525"/>
            <a:ext cx="2743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Attention B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读取 KV B</a:t>
            </a:r>
          </a:p>
        </p:txBody>
      </p:sp>
      <p:sp>
        <p:nvSpPr>
          <p:cNvPr id="15" name="FFN 分片 1 同时计算 A + B">
            <a:extLst xmlns:a="http://schemas.openxmlformats.org/drawingml/2006/main">
              <a:ext uri="{FF2B5EF4-FFF2-40B4-BE49-F238E27FC236}">
                <a16:creationId xmlns:a16="http://schemas.microsoft.com/office/drawing/2014/main" id="{A26D72A6-46A5-41C0-8C1F-EF486740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581525"/>
            <a:ext cx="23907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FFN 分片 1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同时计算 A + B</a:t>
            </a:r>
          </a:p>
        </p:txBody>
      </p:sp>
      <p:cxnSp>
        <p:nvCxnSpPr>
          <p:cNvPr id="107" name=""/>
          <p:cNvCxnSpPr>
            <a:stCxn xmlns:a="http://schemas.openxmlformats.org/drawingml/2006/main" id="1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438525" y="3629025"/>
            <a:ext cx="952500" cy="13525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cxnSp>
        <p:nvCxnSpPr>
          <p:cNvPr id="108" name=""/>
          <p:cNvCxnSpPr>
            <a:stCxn xmlns:a="http://schemas.openxmlformats.org/drawingml/2006/main" id="5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772150" y="3629025"/>
            <a:ext cx="904875" cy="13525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cxnSp>
        <p:nvCxnSpPr>
          <p:cNvPr id="109" name=""/>
          <p:cNvCxnSpPr>
            <a:stCxn xmlns:a="http://schemas.openxmlformats.org/drawingml/2006/main" id="1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9067800" y="3629025"/>
            <a:ext cx="628650" cy="13525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B9265F8-6B7D-4445-B812-8AB40785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10916964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4D3D90-956D-4EBC-8B7B-86C83988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优势来自更合适的 attention 分工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80A9C-F8F3-485D-940F-081F59B2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收益大小取决于模型结构、KV 分片能力和负载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C1FA1-D637-488C-A71D-5D181A74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31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85950"/>
          <a:ext xmlns:a="http://schemas.openxmlformats.org/drawingml/2006/main" cx="10934700" cy="3248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191000"/>
                <a:gridCol w="3886200"/>
              </a:tblGrid>
              <a:tr h="81200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潜在优势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机制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成立条件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81200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减少重复 KV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请求的 KV 由所属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attention 组维护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 TP 有较多 KV 复制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典型动机是 MLA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200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承载更多并发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节省 KV 空间后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容纳更多有效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确实节省显存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且请求量充足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200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调整通信与权重布局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缩小 attention TP 组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FFN 继续分片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局部收益超过</a:t>
                      </a:r>
                    </a:p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新增层间通信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3FD96-2CE1-438D-A350-A9EF0F9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763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主要目标是吞吐与容量。单请求延迟、总显存和整体通信量仍需实测。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6FBC4-99F3-4DAC-9466-77E1C19A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51701498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B7300E-B2F4-4BC9-9FAD-A4AF7848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是否采用需要同时衡量代价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D55F98-25B3-41F9-8A10-07907E15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减少 attention 内部通信，也可能增加层间布局开销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F5BA6-F11D-44C6-B922-C50033FF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32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66900"/>
          <a:ext xmlns:a="http://schemas.openxmlformats.org/drawingml/2006/main" cx="109347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19700"/>
                <a:gridCol w="5715000"/>
              </a:tblGrid>
              <a:tr h="64198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需要衡量的代价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可能的影响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Attention 权重复制与通信缓冲区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新增显存可能抵消 KV 节省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Attention 与 FFN 的布局转换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gather / scatter 等操作增加延迟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请求长度或模态不均衡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慢 rank 等待、padding 和空闲工作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每组有效 batch 太小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算子利用率下降，吞吐收益不足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50D52-A5B2-4FB3-8DFD-2787736E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9725"/>
            <a:ext cx="10715625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KV 复制明显、并发充足时值得对照测试。</a:t>
            </a:r>
          </a:p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低并发、低延迟或请求不均衡场景，需要重点比较普通 TP。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94FB9-22E0-4DD0-A544-33AB5348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2 章  模型并行与 DP Attention</a:t>
            </a:r>
          </a:p>
        </p:txBody>
      </p:sp>
    </p:spTree>
    <p:extLst>
      <p:ext uri="{BB962C8B-B14F-4D97-AF65-F5344CB8AC3E}">
        <p14:creationId xmlns:p14="http://schemas.microsoft.com/office/powerpoint/2010/main" val="212682874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E9A76-ED59-479C-86D8-CCA466A2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第 3 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E5F773-3982-4D5D-9C44-9A2A4C05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性能工具与测量方法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D663E-E792-4A65-B6C0-BF140422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建立可复核的性能分析方法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FF8A11-AA8E-43EE-AB9C-06656FBD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3.1  torch.compile、算子融合与 CUDA Graph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3B5FC2-98A2-4684-9352-F63F09BA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3.2  torch.profiler 时间线及运行空泡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ED42A-A4B5-4128-8644-6B52A4A4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3.3  测试环境、测量口径与基线热点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5FCAE-519D-48A2-9AFC-901BE05E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91862962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2013D6-6B7D-42B7-9FB1-C21A2EBB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torch.compile 的编译与复用路径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458452-A7BF-4B90-A482-8F52EFF4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Dynamo 捕获计算图，Inductor 优化并生成或选择内核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72CE9-71AD-4403-A672-26B4457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guards 是复用已编译代码的条件。图断点导致分段，条件变化可能触发重编译。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51291-417A-4511-A7B9-6DFD2535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34</a:t>
            </a:r>
          </a:p>
        </p:txBody>
      </p:sp>
      <p:sp>
        <p:nvSpPr>
          <p:cNvPr id="5" name="Python / PyTorch 张量计算">
            <a:extLst xmlns:a="http://schemas.openxmlformats.org/drawingml/2006/main">
              <a:ext uri="{FF2B5EF4-FFF2-40B4-BE49-F238E27FC236}">
                <a16:creationId xmlns:a16="http://schemas.microsoft.com/office/drawing/2014/main" id="{1B48EA86-976E-4CE9-8931-DEBF775B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238375"/>
            <a:ext cx="2305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Python / PyTorch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张量计算</a:t>
            </a:r>
          </a:p>
        </p:txBody>
      </p:sp>
      <p:sp>
        <p:nvSpPr>
          <p:cNvPr id="6" name="TorchDynamo 捕获 FX 图">
            <a:extLst xmlns:a="http://schemas.openxmlformats.org/drawingml/2006/main">
              <a:ext uri="{FF2B5EF4-FFF2-40B4-BE49-F238E27FC236}">
                <a16:creationId xmlns:a16="http://schemas.microsoft.com/office/drawing/2014/main" id="{694F71E3-9F38-4E01-A38B-0CDFD230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38375"/>
            <a:ext cx="2305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TorchDynamo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捕获 FX 图</a:t>
            </a:r>
          </a:p>
        </p:txBody>
      </p:sp>
      <p:sp>
        <p:nvSpPr>
          <p:cNvPr id="7" name="TorchInductor 图优化 / 代码生成">
            <a:extLst xmlns:a="http://schemas.openxmlformats.org/drawingml/2006/main">
              <a:ext uri="{FF2B5EF4-FFF2-40B4-BE49-F238E27FC236}">
                <a16:creationId xmlns:a16="http://schemas.microsoft.com/office/drawing/2014/main" id="{8EBCA7A7-8B1B-44EF-8AF3-961C70E4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238375"/>
            <a:ext cx="2305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TorchInductor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图优化 / 代码生成</a:t>
            </a:r>
          </a:p>
        </p:txBody>
      </p:sp>
      <p:sp>
        <p:nvSpPr>
          <p:cNvPr id="8" name="GPU 内核 计算结果">
            <a:extLst xmlns:a="http://schemas.openxmlformats.org/drawingml/2006/main">
              <a:ext uri="{FF2B5EF4-FFF2-40B4-BE49-F238E27FC236}">
                <a16:creationId xmlns:a16="http://schemas.microsoft.com/office/drawing/2014/main" id="{8AA74900-4454-4E21-A827-3592B870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38375"/>
            <a:ext cx="2305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内核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计算结果</a:t>
            </a:r>
          </a:p>
        </p:txBody>
      </p:sp>
      <p:cxnSp>
        <p:nvCxnSpPr>
          <p:cNvPr id="9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00375" y="26098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9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29300" y="26098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9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58225" y="26098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2" name="后续输入 检查 guards">
            <a:extLst xmlns:a="http://schemas.openxmlformats.org/drawingml/2006/main">
              <a:ext uri="{FF2B5EF4-FFF2-40B4-BE49-F238E27FC236}">
                <a16:creationId xmlns:a16="http://schemas.microsoft.com/office/drawing/2014/main" id="{0FABCC39-982B-4AA5-BB32-5948A449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05300"/>
            <a:ext cx="23050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后续输入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检查 guards</a:t>
            </a:r>
          </a:p>
        </p:txBody>
      </p:sp>
      <p:sp>
        <p:nvSpPr>
          <p:cNvPr id="13" name="命中编译缓存 复用已生成代码">
            <a:extLst xmlns:a="http://schemas.openxmlformats.org/drawingml/2006/main">
              <a:ext uri="{FF2B5EF4-FFF2-40B4-BE49-F238E27FC236}">
                <a16:creationId xmlns:a16="http://schemas.microsoft.com/office/drawing/2014/main" id="{489D4FD7-001C-436E-A054-06D1F28B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05300"/>
            <a:ext cx="23050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命中编译缓存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复用已生成代码</a:t>
            </a:r>
          </a:p>
        </p:txBody>
      </p:sp>
      <p:cxnSp>
        <p:nvCxnSpPr>
          <p:cNvPr id="101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000375" y="4719638"/>
            <a:ext cx="33528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188585-77A1-46AF-B56A-E06AD2A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219575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条件满足</a:t>
            </a:r>
          </a:p>
        </p:txBody>
      </p:sp>
      <p:cxnSp>
        <p:nvCxnSpPr>
          <p:cNvPr id="103" name=""/>
          <p:cNvCxnSpPr>
            <a:stCxn xmlns:a="http://schemas.openxmlformats.org/drawingml/2006/main" id="13" idx="3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8658225" y="2981325"/>
            <a:ext cx="1676400" cy="1738313"/>
          </a:xfrm>
          <a:prstGeom xmlns:a="http://schemas.openxmlformats.org/drawingml/2006/main" prst="bentConnector2">
            <a:avLst/>
          </a:prstGeom>
          <a:ln xmlns:a="http://schemas.openxmlformats.org/drawingml/2006/main" w="20003">
            <a:solidFill>
              <a:srgbClr val="3F7C4A"/>
            </a:solidFill>
            <a:tailEnd type="triangle" w="sm" len="sm"/>
          </a:ln>
        </p:spPr>
      </p:cxnSp>
      <p:cxnSp>
        <p:nvCxnSpPr>
          <p:cNvPr id="104" name=""/>
          <p:cNvCxnSpPr>
            <a:stCxn xmlns:a="http://schemas.openxmlformats.org/drawingml/2006/main" id="12" idx="0"/>
            <a:endCxn xmlns:a="http://schemas.openxmlformats.org/drawingml/2006/main" id="6" idx="2"/>
          </p:cNvCxnSpPr>
          <p:nvPr/>
        </p:nvCxnSpPr>
        <p:spPr>
          <a:xfrm xmlns:a="http://schemas.openxmlformats.org/drawingml/2006/main" flipV="1">
            <a:off x="1847850" y="2981325"/>
            <a:ext cx="2828925" cy="1323975"/>
          </a:xfrm>
          <a:prstGeom xmlns:a="http://schemas.openxmlformats.org/drawingml/2006/main" prst="bentConnector4">
            <a:avLst>
              <a:gd name="adj1" fmla="val 0"/>
              <a:gd name="adj2" fmla="val 82734"/>
            </a:avLst>
          </a:prstGeom>
          <a:ln xmlns:a="http://schemas.openxmlformats.org/drawingml/2006/main" w="20003">
            <a:solidFill>
              <a:srgbClr val="B36D12"/>
            </a:solidFill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E4378-FF6F-4720-BA76-0C9C1623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5143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36D12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B36D12"/>
                </a:solidFill>
                <a:latin typeface="PingFang SC"/>
                <a:ea typeface="PingFang SC"/>
                <a:cs typeface="PingFang SC"/>
              </a:rPr>
              <a:t>条件改变：可能重新捕获 / 编译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CA423DE-9207-4637-8D80-425ED0C0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21928698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48487C-C797-4D62-9250-6DDD71EF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算子融合如何减少中间读写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622A7-17F4-4D5C-A448-26CAB0C9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示例 y = SiLU(x + b) × z，不代表某次实测的精确 kernel 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FA806-3D45-457D-9165-C2FEF931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是否能融合取决于依赖、形状、后端和外部算子边界，融合后仍需验证数值误差。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7113C-B6C3-4890-B6F2-D5F73604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5CA434-F959-43F7-91FB-DA44D6CE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5025"/>
            <a:ext cx="1666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融合前</a:t>
            </a:r>
          </a:p>
        </p:txBody>
      </p:sp>
      <p:sp>
        <p:nvSpPr>
          <p:cNvPr id="6" name="Add">
            <a:extLst xmlns:a="http://schemas.openxmlformats.org/drawingml/2006/main">
              <a:ext uri="{FF2B5EF4-FFF2-40B4-BE49-F238E27FC236}">
                <a16:creationId xmlns:a16="http://schemas.microsoft.com/office/drawing/2014/main" id="{3ED9EAE7-643C-4A89-9ECD-6CBAC199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47875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Add</a:t>
            </a:r>
          </a:p>
        </p:txBody>
      </p:sp>
      <p:sp>
        <p:nvSpPr>
          <p:cNvPr id="7" name="中间张量 写回 / 读取">
            <a:extLst xmlns:a="http://schemas.openxmlformats.org/drawingml/2006/main">
              <a:ext uri="{FF2B5EF4-FFF2-40B4-BE49-F238E27FC236}">
                <a16:creationId xmlns:a16="http://schemas.microsoft.com/office/drawing/2014/main" id="{7781DB52-0A75-41AA-83D5-30281CA1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047875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中间张量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写回 / 读取</a:t>
            </a:r>
          </a:p>
        </p:txBody>
      </p:sp>
      <p:sp>
        <p:nvSpPr>
          <p:cNvPr id="8" name="SiLU">
            <a:extLst xmlns:a="http://schemas.openxmlformats.org/drawingml/2006/main">
              <a:ext uri="{FF2B5EF4-FFF2-40B4-BE49-F238E27FC236}">
                <a16:creationId xmlns:a16="http://schemas.microsoft.com/office/drawing/2014/main" id="{AFBB1C8D-B73D-45A7-973E-A8C5EE32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47875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SiLU</a:t>
            </a:r>
          </a:p>
        </p:txBody>
      </p:sp>
      <p:sp>
        <p:nvSpPr>
          <p:cNvPr id="9" name="中间张量 写回 / 读取">
            <a:extLst xmlns:a="http://schemas.openxmlformats.org/drawingml/2006/main">
              <a:ext uri="{FF2B5EF4-FFF2-40B4-BE49-F238E27FC236}">
                <a16:creationId xmlns:a16="http://schemas.microsoft.com/office/drawing/2014/main" id="{5098C8DA-D4D2-4CB8-840F-0FEA8102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47875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中间张量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写回 / 读取</a:t>
            </a:r>
          </a:p>
        </p:txBody>
      </p:sp>
      <p:sp>
        <p:nvSpPr>
          <p:cNvPr id="10" name="Multiply">
            <a:extLst xmlns:a="http://schemas.openxmlformats.org/drawingml/2006/main">
              <a:ext uri="{FF2B5EF4-FFF2-40B4-BE49-F238E27FC236}">
                <a16:creationId xmlns:a16="http://schemas.microsoft.com/office/drawing/2014/main" id="{8AEFB9CB-2C5A-4D64-BD42-3E3A2FD6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47875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Multiply</a:t>
            </a:r>
          </a:p>
        </p:txBody>
      </p:sp>
      <p:cxnSp>
        <p:nvCxnSpPr>
          <p:cNvPr id="11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990975" y="2476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4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67400" y="2476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5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743825" y="2476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16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620250" y="2476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3897D-88B9-437B-8770-2E6D1065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666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融合后</a:t>
            </a:r>
          </a:p>
        </p:txBody>
      </p:sp>
      <p:sp>
        <p:nvSpPr>
          <p:cNvPr id="16" name="输入 x、b、z">
            <a:extLst xmlns:a="http://schemas.openxmlformats.org/drawingml/2006/main">
              <a:ext uri="{FF2B5EF4-FFF2-40B4-BE49-F238E27FC236}">
                <a16:creationId xmlns:a16="http://schemas.microsoft.com/office/drawing/2014/main" id="{819B27A0-6578-40DE-BFB4-70A9476A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962400"/>
            <a:ext cx="20478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输入 x、b、z</a:t>
            </a:r>
          </a:p>
        </p:txBody>
      </p:sp>
      <p:sp>
        <p:nvSpPr>
          <p:cNvPr id="17" name="Fused kernel 加法、SiLU、乘法">
            <a:extLst xmlns:a="http://schemas.openxmlformats.org/drawingml/2006/main">
              <a:ext uri="{FF2B5EF4-FFF2-40B4-BE49-F238E27FC236}">
                <a16:creationId xmlns:a16="http://schemas.microsoft.com/office/drawing/2014/main" id="{14E8DE79-BFBE-4322-861E-854DBF4F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00475"/>
            <a:ext cx="31432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Fused kernel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加法、SiLU、乘法</a:t>
            </a:r>
          </a:p>
        </p:txBody>
      </p:sp>
      <p:sp>
        <p:nvSpPr>
          <p:cNvPr id="18" name="输出 y">
            <a:extLst xmlns:a="http://schemas.openxmlformats.org/drawingml/2006/main">
              <a:ext uri="{FF2B5EF4-FFF2-40B4-BE49-F238E27FC236}">
                <a16:creationId xmlns:a16="http://schemas.microsoft.com/office/drawing/2014/main" id="{1CF08941-EE4A-4830-9AB3-F1C51147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962400"/>
            <a:ext cx="18573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输出 y</a:t>
            </a:r>
          </a:p>
        </p:txBody>
      </p:sp>
      <p:cxnSp>
        <p:nvCxnSpPr>
          <p:cNvPr id="121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4562475" y="4386263"/>
            <a:ext cx="962025" cy="95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67750" y="4386263"/>
            <a:ext cx="952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E83D3-0594-4E64-AC02-08925CC8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530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减少中间显存访问与多次 kernel launch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AB71E20-DB27-4252-A4EE-545D75A5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185793399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7E89DF-0B13-43B2-B827-FC9E5F44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CUDA Graph：捕获后重放一组工作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E86AE-855D-4BA1-9A11-279D756B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横向表示执行次序，块间空隙和宽度均为示意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C9E5E-4C13-4A6B-898B-07A3AE11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Graph replay 减少逐内核的 CPU 发射成本，GPU 上的多个内核仍按依赖执行。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D5DD9-9CBE-4A8E-804B-B00322CD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EAA92A-F787-4D29-911D-C92771C0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19275"/>
            <a:ext cx="2143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普通执行</a:t>
            </a:r>
          </a:p>
        </p:txBody>
      </p:sp>
      <p:sp>
        <p:nvSpPr>
          <p:cNvPr id="6" name="CPU launch 1">
            <a:extLst xmlns:a="http://schemas.openxmlformats.org/drawingml/2006/main">
              <a:ext uri="{FF2B5EF4-FFF2-40B4-BE49-F238E27FC236}">
                <a16:creationId xmlns:a16="http://schemas.microsoft.com/office/drawing/2014/main" id="{CB61A630-24E7-466E-A5D4-0A121E7F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1819275"/>
            <a:ext cx="2476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CPU launch 1</a:t>
            </a:r>
          </a:p>
        </p:txBody>
      </p:sp>
      <p:sp>
        <p:nvSpPr>
          <p:cNvPr id="7" name="CPU launch 2">
            <a:extLst xmlns:a="http://schemas.openxmlformats.org/drawingml/2006/main">
              <a:ext uri="{FF2B5EF4-FFF2-40B4-BE49-F238E27FC236}">
                <a16:creationId xmlns:a16="http://schemas.microsoft.com/office/drawing/2014/main" id="{4712EAC8-A992-4AE1-B5ED-55A2E74A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819275"/>
            <a:ext cx="2476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CPU launch 2</a:t>
            </a:r>
          </a:p>
        </p:txBody>
      </p:sp>
      <p:sp>
        <p:nvSpPr>
          <p:cNvPr id="8" name="CPU launch 3">
            <a:extLst xmlns:a="http://schemas.openxmlformats.org/drawingml/2006/main">
              <a:ext uri="{FF2B5EF4-FFF2-40B4-BE49-F238E27FC236}">
                <a16:creationId xmlns:a16="http://schemas.microsoft.com/office/drawing/2014/main" id="{E86AB119-7E74-44FC-BC89-7D727120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819275"/>
            <a:ext cx="24765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CPU launch 3</a:t>
            </a:r>
          </a:p>
        </p:txBody>
      </p:sp>
      <p:cxnSp>
        <p:nvCxnSpPr>
          <p:cNvPr id="150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229225" y="21097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1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181975" y="21097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1" name="GPU kernel 1">
            <a:extLst xmlns:a="http://schemas.openxmlformats.org/drawingml/2006/main">
              <a:ext uri="{FF2B5EF4-FFF2-40B4-BE49-F238E27FC236}">
                <a16:creationId xmlns:a16="http://schemas.microsoft.com/office/drawing/2014/main" id="{EDD5D33E-90E2-40CF-83A8-6077B64E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81940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kernel 1</a:t>
            </a:r>
          </a:p>
        </p:txBody>
      </p:sp>
      <p:sp>
        <p:nvSpPr>
          <p:cNvPr id="12" name="GPU kernel 2">
            <a:extLst xmlns:a="http://schemas.openxmlformats.org/drawingml/2006/main">
              <a:ext uri="{FF2B5EF4-FFF2-40B4-BE49-F238E27FC236}">
                <a16:creationId xmlns:a16="http://schemas.microsoft.com/office/drawing/2014/main" id="{E1EF906D-2DC9-433E-A949-4AD3D610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81940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kernel 2</a:t>
            </a:r>
          </a:p>
        </p:txBody>
      </p:sp>
      <p:sp>
        <p:nvSpPr>
          <p:cNvPr id="13" name="GPU kernel 3">
            <a:extLst xmlns:a="http://schemas.openxmlformats.org/drawingml/2006/main">
              <a:ext uri="{FF2B5EF4-FFF2-40B4-BE49-F238E27FC236}">
                <a16:creationId xmlns:a16="http://schemas.microsoft.com/office/drawing/2014/main" id="{2408D333-394C-4AC6-9ED2-83EA383F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81940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kernel 3</a:t>
            </a:r>
          </a:p>
        </p:txBody>
      </p:sp>
      <p:cxnSp>
        <p:nvCxnSpPr>
          <p:cNvPr id="155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29225" y="31051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181975" y="31051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7" name=""/>
          <p:cNvCxnSpPr>
            <a:stCxn xmlns:a="http://schemas.openxmlformats.org/drawingml/2006/main" id="6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3990975" y="240030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8" name=""/>
          <p:cNvCxnSpPr>
            <a:stCxn xmlns:a="http://schemas.openxmlformats.org/drawingml/2006/main" id="7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6943725" y="240030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59" name=""/>
          <p:cNvCxnSpPr>
            <a:stCxn xmlns:a="http://schemas.openxmlformats.org/drawingml/2006/main" id="8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896475" y="240030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B627FA-A947-47B6-9325-240A354E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276725"/>
            <a:ext cx="2143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Graph replay</a:t>
            </a:r>
          </a:p>
        </p:txBody>
      </p:sp>
      <p:sp>
        <p:nvSpPr>
          <p:cNvPr id="20" name="一次 graph launch">
            <a:extLst xmlns:a="http://schemas.openxmlformats.org/drawingml/2006/main">
              <a:ext uri="{FF2B5EF4-FFF2-40B4-BE49-F238E27FC236}">
                <a16:creationId xmlns:a16="http://schemas.microsoft.com/office/drawing/2014/main" id="{9B53162B-931C-48FA-AAEE-01268E7D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181475"/>
            <a:ext cx="2476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586B7F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一次 graph launch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2AC7AD-562A-48A0-9EF7-340EF7A5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924300"/>
            <a:ext cx="5629275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0B7285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0BD707-B3E4-43C7-BD0D-A837125D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62400"/>
            <a:ext cx="5438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已捕获的 GPU 工作及依赖</a:t>
            </a:r>
          </a:p>
        </p:txBody>
      </p:sp>
      <p:sp>
        <p:nvSpPr>
          <p:cNvPr id="23" name="K1">
            <a:extLst xmlns:a="http://schemas.openxmlformats.org/drawingml/2006/main">
              <a:ext uri="{FF2B5EF4-FFF2-40B4-BE49-F238E27FC236}">
                <a16:creationId xmlns:a16="http://schemas.microsoft.com/office/drawing/2014/main" id="{9868D4F7-E3AB-4A9E-940B-D9C469C7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38650"/>
            <a:ext cx="1562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K1</a:t>
            </a:r>
          </a:p>
        </p:txBody>
      </p:sp>
      <p:sp>
        <p:nvSpPr>
          <p:cNvPr id="24" name="K2">
            <a:extLst xmlns:a="http://schemas.openxmlformats.org/drawingml/2006/main">
              <a:ext uri="{FF2B5EF4-FFF2-40B4-BE49-F238E27FC236}">
                <a16:creationId xmlns:a16="http://schemas.microsoft.com/office/drawing/2014/main" id="{8BE718DC-127F-4B06-A411-59DA02EB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38650"/>
            <a:ext cx="1562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K2</a:t>
            </a:r>
          </a:p>
        </p:txBody>
      </p:sp>
      <p:sp>
        <p:nvSpPr>
          <p:cNvPr id="25" name="K3">
            <a:extLst xmlns:a="http://schemas.openxmlformats.org/drawingml/2006/main">
              <a:ext uri="{FF2B5EF4-FFF2-40B4-BE49-F238E27FC236}">
                <a16:creationId xmlns:a16="http://schemas.microsoft.com/office/drawing/2014/main" id="{E3FEAC06-EA02-4682-B342-5675D425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4438650"/>
            <a:ext cx="1562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K3</a:t>
            </a:r>
          </a:p>
        </p:txBody>
      </p:sp>
      <p:cxnSp>
        <p:nvCxnSpPr>
          <p:cNvPr id="167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7591425" y="47529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68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429750" y="47529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169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5229225" y="4552950"/>
            <a:ext cx="800100" cy="200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D2A1B5D-860F-4926-9FF6-8DE5F311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135003453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BD1BF3-F4F3-4D2F-8DD3-21CBA3B9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compile 与 CUDA Graph 如何组合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393D5-2AF1-4F59-89F0-06884711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先改进计算实现，再捕获可重复执行的 CUDA 工作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1B811-24ED-4358-BAE0-FE2CF4D8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也可以只编译或只使用 CUDA Graph。部分 compile 模式内部会使用图重放。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EDAFD1-DA54-46E4-92F6-16030DB8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37</a:t>
            </a:r>
          </a:p>
        </p:txBody>
      </p:sp>
      <p:sp>
        <p:nvSpPr>
          <p:cNvPr id="5" name="原始算子图 Add / Norm / GEMM">
            <a:extLst xmlns:a="http://schemas.openxmlformats.org/drawingml/2006/main">
              <a:ext uri="{FF2B5EF4-FFF2-40B4-BE49-F238E27FC236}">
                <a16:creationId xmlns:a16="http://schemas.microsoft.com/office/drawing/2014/main" id="{24CC2546-7DEB-4DE9-B8E4-E3A44C86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30384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原始算子图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Add / Norm / GEMM</a:t>
            </a:r>
          </a:p>
        </p:txBody>
      </p:sp>
      <p:sp>
        <p:nvSpPr>
          <p:cNvPr id="6" name="torch.compile 融合与内核优化">
            <a:extLst xmlns:a="http://schemas.openxmlformats.org/drawingml/2006/main">
              <a:ext uri="{FF2B5EF4-FFF2-40B4-BE49-F238E27FC236}">
                <a16:creationId xmlns:a16="http://schemas.microsoft.com/office/drawing/2014/main" id="{AECB3C86-A19A-45E8-B15D-9D0024E9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43125"/>
            <a:ext cx="30384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torch.compile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融合与内核优化</a:t>
            </a:r>
          </a:p>
        </p:txBody>
      </p:sp>
      <p:sp>
        <p:nvSpPr>
          <p:cNvPr id="7" name="优化后的 CUDA 内核序列">
            <a:extLst xmlns:a="http://schemas.openxmlformats.org/drawingml/2006/main">
              <a:ext uri="{FF2B5EF4-FFF2-40B4-BE49-F238E27FC236}">
                <a16:creationId xmlns:a16="http://schemas.microsoft.com/office/drawing/2014/main" id="{71F0BC4D-DD15-46C4-9D1F-990FA857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43125"/>
            <a:ext cx="30384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优化后的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CUDA 内核序列</a:t>
            </a:r>
          </a:p>
        </p:txBody>
      </p:sp>
      <p:cxnSp>
        <p:nvCxnSpPr>
          <p:cNvPr id="7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43325" y="2514600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7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562850" y="2514600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0" name="CUDA Graph capture 记录内核与依赖">
            <a:extLst xmlns:a="http://schemas.openxmlformats.org/drawingml/2006/main">
              <a:ext uri="{FF2B5EF4-FFF2-40B4-BE49-F238E27FC236}">
                <a16:creationId xmlns:a16="http://schemas.microsoft.com/office/drawing/2014/main" id="{78281898-DC4E-45B2-B5B4-E41E2CDC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191000"/>
            <a:ext cx="303847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CUDA Graph capture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记录内核与依赖</a:t>
            </a:r>
          </a:p>
        </p:txBody>
      </p:sp>
      <p:sp>
        <p:nvSpPr>
          <p:cNvPr id="11" name="Graph replay 减少重复 CPU 发射">
            <a:extLst xmlns:a="http://schemas.openxmlformats.org/drawingml/2006/main">
              <a:ext uri="{FF2B5EF4-FFF2-40B4-BE49-F238E27FC236}">
                <a16:creationId xmlns:a16="http://schemas.microsoft.com/office/drawing/2014/main" id="{D49790D2-FAAA-414F-9E3C-75CC3AC7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191000"/>
            <a:ext cx="303847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Graph replay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减少重复 CPU 发射</a:t>
            </a:r>
          </a:p>
        </p:txBody>
      </p:sp>
      <p:cxnSp>
        <p:nvCxnSpPr>
          <p:cNvPr id="80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9853613" y="2886075"/>
            <a:ext cx="9525" cy="13049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7562850" y="4633913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092B8D-F520-4910-B6A8-AA72AA59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9567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算子实现优化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6FCF28-19A6-4185-BD49-E0160C03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7953A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7953A7"/>
                </a:solidFill>
                <a:latin typeface="PingFang SC"/>
                <a:ea typeface="PingFang SC"/>
                <a:cs typeface="PingFang SC"/>
              </a:rPr>
              <a:t>重复提交优化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577EDB-E5CA-4CE4-9D7F-F33C4EAF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177356203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CF0DC-E72B-4B4A-B1C3-BF760AE0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torch.profiler 如何建立时间线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732AEC-0850-4F2F-96E2-586E8342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CPU 事件与 GPU 活动通过关联信息汇集为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36971F-8F4A-425D-B0DA-AF2773AC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Profiler 用于定位计算、搬运、通信和等待。采集本身有开销，收益要关闭 profiler 后复测。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FC5DC4-D4EA-4CDB-A987-B42A3648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38</a:t>
            </a:r>
          </a:p>
        </p:txBody>
      </p:sp>
      <p:sp>
        <p:nvSpPr>
          <p:cNvPr id="5" name="PyTorch CPU 事件 算子 / shape / stack">
            <a:extLst xmlns:a="http://schemas.openxmlformats.org/drawingml/2006/main">
              <a:ext uri="{FF2B5EF4-FFF2-40B4-BE49-F238E27FC236}">
                <a16:creationId xmlns:a16="http://schemas.microsoft.com/office/drawing/2014/main" id="{5321754C-E1F3-4C1C-8BA8-8A607587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PyTorch CPU 事件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算子 / shape / stack</a:t>
            </a:r>
          </a:p>
        </p:txBody>
      </p:sp>
      <p:sp>
        <p:nvSpPr>
          <p:cNvPr id="6" name="CUDA / CUPTI 活动 kernel / memcpy / stream">
            <a:extLst xmlns:a="http://schemas.openxmlformats.org/drawingml/2006/main">
              <a:ext uri="{FF2B5EF4-FFF2-40B4-BE49-F238E27FC236}">
                <a16:creationId xmlns:a16="http://schemas.microsoft.com/office/drawing/2014/main" id="{BE2D92A3-BAC2-47E4-B422-7687B648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CUDA / CUPTI 活动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kernel / memcpy / stream</a:t>
            </a:r>
          </a:p>
        </p:txBody>
      </p:sp>
      <p:sp>
        <p:nvSpPr>
          <p:cNvPr id="7" name="Kineto 收集 时间戳 + correlation">
            <a:extLst xmlns:a="http://schemas.openxmlformats.org/drawingml/2006/main">
              <a:ext uri="{FF2B5EF4-FFF2-40B4-BE49-F238E27FC236}">
                <a16:creationId xmlns:a16="http://schemas.microsoft.com/office/drawing/2014/main" id="{17DA783E-48DE-456C-9D2C-59B5243D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48000"/>
            <a:ext cx="28670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Kineto 收集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时间戳 + correlation</a:t>
            </a:r>
          </a:p>
        </p:txBody>
      </p:sp>
      <p:sp>
        <p:nvSpPr>
          <p:cNvPr id="8" name="Trace 时间线 统计表">
            <a:extLst xmlns:a="http://schemas.openxmlformats.org/drawingml/2006/main">
              <a:ext uri="{FF2B5EF4-FFF2-40B4-BE49-F238E27FC236}">
                <a16:creationId xmlns:a16="http://schemas.microsoft.com/office/drawing/2014/main" id="{7A1C913F-B35E-48DB-B476-D1683A82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048000"/>
            <a:ext cx="26003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9"/>
          </a:solidFill>
          <a:ln xmlns:a="http://schemas.openxmlformats.org/drawingml/2006/main" w="15240">
            <a:solidFill>
              <a:srgbClr val="3F7C4A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Trace 时间线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统计表</a:t>
            </a:r>
          </a:p>
        </p:txBody>
      </p:sp>
      <p:cxnSp>
        <p:nvCxnSpPr>
          <p:cNvPr id="66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29050" y="2562225"/>
            <a:ext cx="1123950" cy="10096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376BAC"/>
            </a:solidFill>
            <a:tailEnd type="triangle" w="sm" len="sm"/>
          </a:ln>
        </p:spPr>
      </p:cxnSp>
      <p:cxnSp>
        <p:nvCxnSpPr>
          <p:cNvPr id="6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829050" y="3571875"/>
            <a:ext cx="1123950" cy="962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7953A7"/>
            </a:solidFill>
            <a:tailEnd type="triangle" w="sm" len="sm"/>
          </a:ln>
        </p:spPr>
      </p:cxnSp>
      <p:cxnSp>
        <p:nvCxnSpPr>
          <p:cNvPr id="6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820025" y="3571875"/>
            <a:ext cx="10096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586B7F"/>
            </a:solidFill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5A06BA-A94B-4355-BAED-A3C04A92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48225"/>
            <a:ext cx="701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异步执行：CPU 调用时长不能替代 GPU 内核时长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2A2685-BEF2-4A1F-B7DA-A1B27158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102564506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51A2F6-071A-4AE8-8C09-0EB2255D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性能时间线中的重叠与空白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3A13D5-EB9A-4134-A0B2-D3ECA64E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教学时间槽，不是本项目 trace，也不代表 SM 占用率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9FC213-911A-4E40-B3FA-ADC92449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计算和拷贝可能重叠。判断“无 GPU 活动”要看区间并集，不能简单累加耗时。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3C8DB-0EC2-40F7-9635-D70534C2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129451-732A-4716-9312-6061386C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847850"/>
            <a:ext cx="762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3AC55-DE7E-425F-8536-61ABF4B6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1847850"/>
            <a:ext cx="762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F1137-84A8-4F2C-8F2C-A7EA08A1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47850"/>
            <a:ext cx="762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E7039-8BBA-4F76-B4A9-2C8F925A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847850"/>
            <a:ext cx="762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C3FCF-D2D0-4440-BD7C-6F90EFB9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47850"/>
            <a:ext cx="762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B58FC9-2BBD-4B10-9EDA-17ABD826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847850"/>
            <a:ext cx="762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t5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9DD2E-0B44-4624-BD97-095ABB47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43175"/>
            <a:ext cx="1952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计算 stream</a:t>
            </a:r>
          </a:p>
        </p:txBody>
      </p:sp>
      <p:sp>
        <p:nvSpPr>
          <p:cNvPr id="12" name="Kernel A">
            <a:extLst xmlns:a="http://schemas.openxmlformats.org/drawingml/2006/main">
              <a:ext uri="{FF2B5EF4-FFF2-40B4-BE49-F238E27FC236}">
                <a16:creationId xmlns:a16="http://schemas.microsoft.com/office/drawing/2014/main" id="{571161C7-08C9-4BD2-AA50-CB998433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47925"/>
            <a:ext cx="2619375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Kernel A</a:t>
            </a:r>
          </a:p>
        </p:txBody>
      </p:sp>
      <p:sp>
        <p:nvSpPr>
          <p:cNvPr id="13" name="Kernel B">
            <a:extLst xmlns:a="http://schemas.openxmlformats.org/drawingml/2006/main">
              <a:ext uri="{FF2B5EF4-FFF2-40B4-BE49-F238E27FC236}">
                <a16:creationId xmlns:a16="http://schemas.microsoft.com/office/drawing/2014/main" id="{3A6841FC-4144-4E6F-AA53-6969F493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47925"/>
            <a:ext cx="2619375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5240">
            <a:solidFill>
              <a:srgbClr val="376BAC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Kernel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3831B4-64E2-494E-9A97-3F4C2E23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9025"/>
            <a:ext cx="1952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拷贝 stream</a:t>
            </a:r>
          </a:p>
        </p:txBody>
      </p:sp>
      <p:sp>
        <p:nvSpPr>
          <p:cNvPr id="15" name="Memcpy">
            <a:extLst xmlns:a="http://schemas.openxmlformats.org/drawingml/2006/main">
              <a:ext uri="{FF2B5EF4-FFF2-40B4-BE49-F238E27FC236}">
                <a16:creationId xmlns:a16="http://schemas.microsoft.com/office/drawing/2014/main" id="{284605B3-4CFF-4D18-AE2D-3BAB7A9E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24250"/>
            <a:ext cx="2762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5240">
            <a:solidFill>
              <a:srgbClr val="7953A7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Memcpy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3FFC70-3DA0-41CE-9202-B7B2CE7B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95825"/>
            <a:ext cx="1952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区间并集</a:t>
            </a:r>
          </a:p>
        </p:txBody>
      </p:sp>
      <p:sp>
        <p:nvSpPr>
          <p:cNvPr id="17" name="存在 GPU 活动">
            <a:extLst xmlns:a="http://schemas.openxmlformats.org/drawingml/2006/main">
              <a:ext uri="{FF2B5EF4-FFF2-40B4-BE49-F238E27FC236}">
                <a16:creationId xmlns:a16="http://schemas.microsoft.com/office/drawing/2014/main" id="{8DE29B4D-5507-46F9-A98D-F8E5D307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600575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5240">
            <a:solidFill>
              <a:srgbClr val="0B7285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存在 GPU 活动</a:t>
            </a:r>
          </a:p>
        </p:txBody>
      </p:sp>
      <p:sp>
        <p:nvSpPr>
          <p:cNvPr id="18" name="空白">
            <a:extLst xmlns:a="http://schemas.openxmlformats.org/drawingml/2006/main">
              <a:ext uri="{FF2B5EF4-FFF2-40B4-BE49-F238E27FC236}">
                <a16:creationId xmlns:a16="http://schemas.microsoft.com/office/drawing/2014/main" id="{FBEAEC39-495E-4F9A-962A-503559B5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575"/>
            <a:ext cx="1238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5240">
            <a:solidFill>
              <a:srgbClr val="B36D12"/>
            </a:solidFill>
          </a:ln>
        </p:spPr>
        <p:txBody>
          <a:bodyPr xmlns:a="http://schemas.openxmlformats.org/drawingml/2006/main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空白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05ED8E-CE06-4303-9B71-46DB3CB8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248275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空白可能来自 CPU 发射、依赖等待或调度，需要结合上下文定位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D41863-8822-4118-8FA6-285B04D6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150616680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D1257-09BF-4860-9CB7-8E58BD9E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基础概念如何对应本项目的优化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74DC2-871F-47BB-A80C-AF6C8A27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以下只引用已有项目证据，后续章节展开实现与结果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70577-6352-4249-A1CE-344A73B3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40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66900"/>
          <a:ext xmlns:a="http://schemas.openxmlformats.org/drawingml/2006/main" cx="109347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762375"/>
                <a:gridCol w="3790950"/>
              </a:tblGrid>
              <a:tr h="6858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发现或需求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对应机制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已有处理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有大量小算子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编译与融合可减少中间开销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torch.compile 与通信融合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重复执行相似 decode 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图重放减少发射开销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CUDA Graph batch 1 / 2 / 4 /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多模态跨进程交付较慢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避免主机往返与重复上传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keep-device 与显式 CUDA IPC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DP 布局存在兼容性问题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核对 token 形状和 collective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MRoPE 补齐、视觉通信修复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59EB7-0E4B-4707-AF35-DE25A1DD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1081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后续先介绍 DP Attention，再展示兼容性修复、实验对比与最终配置。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F44328-911F-4D73-9EEF-8689D917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154182002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099D2-8A49-4BE7-85B0-7C0EFF84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模型与测试环境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463BEF-9B77-474B-A666-3C5027DD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41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1571625"/>
          <a:ext xmlns:a="http://schemas.openxmlformats.org/drawingml/2006/main" cx="1093470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00950"/>
              </a:tblGrid>
              <a:tr h="612321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实测环境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模型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Qwen3-VL-32B-Instruct，稠密结构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语言模型 / 视觉编码器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64 层 LLM / 27 层 ViT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推理运行时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SGLang 0.5.6.post2，PyTorch 2.9.1+cu128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硬件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两张 NVIDIA H200，NVLink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共同约束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BF16，32K 上下文，全局最大并发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结构说明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非 MoE、非 GDN，使用 MRoPE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B5333-4626-4DBC-BE07-DDC02820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178044487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F703ED-8B84-4B10-BD48-B30C9604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性能测量口径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138D6-F618-42BE-B836-1169FABF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0300D-DFCD-4DD0-AD82-3CF4478C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短文本约 550 token，长文本约 4050 token，单图约 1075 token。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615EF-3617-43CB-982C-07D13229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90825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每项预热，输出固定 128 token，nonce 降低长前缀命中。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5713AB-FDE6-4DF1-BA69-7896141C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38575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TTFT 取首个非空流式 chunk，TPOT 覆盖至 HTTP 完成。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4284B1-5DB0-4327-905F-EA3DF803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86325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CPU + CUDA profiler 单独采样，不把采样延迟当成线上基准。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5E3E9-B635-4E7A-B2F0-F3C52630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154103903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A353E-82E5-454D-BA74-453613FE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基线热点与剩余空泡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5D532A-3F6D-45DA-A6ED-41A162B2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原 DP Attention 的短文本 decode，GPU 0 kernel 时间和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74808-FB9F-474C-846A-ADB2107C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43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28650" y="1905000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6ed90b7576486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32648-D78B-41AF-9195-9C811227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14550"/>
            <a:ext cx="3143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每步约 1620 个 kernel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短 prefill 存在 CPU dispatch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和 rank 同步等待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Profiler 空白区间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不等于 SM 空闲率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C7683-6CDE-4E8E-A662-D7E3744A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未采集 HBM / SM 硬件计数器，不能据此声称带宽饱和。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196649-A369-4693-B696-74E4A65D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3 章  性能工具与测量方法</a:t>
            </a:r>
          </a:p>
        </p:txBody>
      </p:sp>
    </p:spTree>
    <p:extLst>
      <p:ext uri="{BB962C8B-B14F-4D97-AF65-F5344CB8AC3E}">
        <p14:creationId xmlns:p14="http://schemas.microsoft.com/office/powerpoint/2010/main" val="92315853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B837BA-CB13-438C-AF68-9F563F06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第 4 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42F3DF-9623-4401-B79E-B6DD6169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DP Attention 兼容性修复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9B69A-EE28-4916-9EE6-3851526B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逐项说明故障触发条件、修复和验证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D1828-393E-4E72-960A-BA74D756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4.1  MRoPE 补齐错误及具体张量示例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BED40-B8D4-4F75-B876-9D3D92C9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4.2  视觉与语言模型的通信错位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9CBD9-C5C5-4EB2-BD13-9A037E45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4.3  两个修复的实现方式与验证范围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084419-D621-4BD3-B094-5711FEC1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57342250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5E694-DF5C-4270-BE58-ABA9C394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本项目先验证兼容性，再比较性能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0B38B-1A63-45CF-BEE2-681111E1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尝试 DP Attention 是候选方案评估，最终配置由实测决定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6C495E-4AFD-4386-89FE-49500527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F4ED2-A54E-4CA4-A5FF-0981A341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02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评估目标：检验多模态请求按组分工的吞吐与资源收益。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" y="2686050"/>
          <a:ext xmlns:a="http://schemas.openxmlformats.org/drawingml/2006/main" cx="10934700" cy="2028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71950"/>
                <a:gridCol w="3381375"/>
                <a:gridCol w="3381375"/>
              </a:tblGrid>
              <a:tr h="6762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双卡对照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短文本 decode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 并发吞吐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修复后的 DP2 Attention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约 15.07 ms/token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约 447.0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普通 TP2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约 12.35 ms/token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约 521.0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1E7F0-5320-463B-83C4-E29FA228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57775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当前负载下选择普通 TP2，再叠加 compile、融合与 IPC。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10893-B16B-455E-A512-F39EA671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57875"/>
            <a:ext cx="10810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后续修复章节解释两处问题：MRoPE 补齐、视觉 collective 错位。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EAB9EE-B811-4E2F-BD25-B6F0DBC3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132708386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A59C4D-8D1C-4995-9316-D9C0BCF3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MRoPE 每一列对应一个 token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1EECEE-2D8C-453D-875E-EEC878F0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请求数、token 数与坐标轴数是不同的量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7E116-3C06-4789-A4FE-51400C49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046977-E219-4F38-AD1E-FBD6F868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请求 A：3 个 token    请求 B：2 个 token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7ABFEC-9C06-4707-9C2B-DED2801A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907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batch size = 2       本轮 token 数 N = 5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19125" y="3105150"/>
          <a:ext xmlns:a="http://schemas.openxmlformats.org/drawingml/2006/main" cx="1093470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62200"/>
                <a:gridCol w="1714500"/>
                <a:gridCol w="1714500"/>
                <a:gridCol w="1714500"/>
                <a:gridCol w="1714500"/>
                <a:gridCol w="1714500"/>
              </a:tblGrid>
              <a:tr h="566738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坐标轴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A0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A1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A2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B0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B1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时间 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高度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宽度 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F093D-632A-4B97-ADDE-6F222848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24525"/>
            <a:ext cx="10763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shape = [3, 5]：3 行坐标轴，5 列 token，本调用点没有独立 batch 维。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DE03F0-1FFE-4265-A9C9-253BB5EB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65093849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89BBE-76EA-4B75-8643-0A223C81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DP 对齐会增加 token 占位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B181C3-97BF-457E-8F81-079A169E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示例采用本实现的 max_len padding 模式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AFDCB-A706-41CE-A93D-5C36652A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47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" y="1819275"/>
          <a:ext xmlns:a="http://schemas.openxmlformats.org/drawingml/2006/main" cx="10934700" cy="1885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33700"/>
                <a:gridCol w="2667000"/>
                <a:gridCol w="2667000"/>
                <a:gridCol w="2667000"/>
              </a:tblGrid>
              <a:tr h="6286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位置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有效 token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占位 token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对齐后 token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rank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rank 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"/>
          <p:cNvGraphicFramePr/>
          <p:nvPr/>
        </p:nvGraphicFramePr>
        <p:xfrm>
          <a:off xmlns:a="http://schemas.openxmlformats.org/drawingml/2006/main" x="619125" y="4010025"/>
          <a:ext xmlns:a="http://schemas.openxmlformats.org/drawingml/2006/main" cx="10934700" cy="1714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19700"/>
                <a:gridCol w="2857500"/>
                <a:gridCol w="2857500"/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rank 0 的输入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补齐前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补齐后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input_ids / positions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[5]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[8]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mrope_positions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5]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8]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78BB6A-9C56-4046-B1B6-73709F3F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43600"/>
            <a:ext cx="10715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新增 3 列 token 坐标，三个坐标轴的数量保持不变。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7F7B01-D7D8-42D6-80C5-32A43C1B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199141409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ED711D-9226-4D36-9ABE-E7E7C3D7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问题一：MRoPE 补齐的维度错误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094BD-EFB7-4FEC-92FA-BBCD85DD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实际位置张量为 [3, token 数]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AE8F2-51C3-463C-9919-0C65FA6A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705AC2-F083-4DA4-9240-A2C890D0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原实现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A3FC3-437E-4517-9436-E037091F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self._pad_tensor_to_size(</a:t>
            </a:r>
          </a:p>
          <a:p xmlns:a="http://schemas.openxmlformats.org/drawingml/2006/main">
            <a:pPr>
              <a:buNone/>
              <a:defRPr sz="22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    self.mrope_positions, bs</a:t>
            </a:r>
          </a:p>
          <a:p xmlns:a="http://schemas.openxmlformats.org/drawingml/2006/main">
            <a:pPr>
              <a:buNone/>
              <a:defRPr sz="22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5F1E2F-20F2-417F-B360-36558EED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第 0 维是三个坐标轴，却被当作 batch 维。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BE106-F798-46BE-866E-5AC5F21B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48250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目标用了 batch size，而非需要补齐的 token 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3D562-C68B-4D36-B1B9-EEF27050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51580533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48C372-5A2D-47C5-9931-D0FF7F23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一个请求也会触发负数维度错误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9D677-F29F-4732-B2B1-6002DDDF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原始回归用例：bs = 1，N = 78，目标 token 数 = 78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14E6FE-69B4-48E4-9650-88F75A75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49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E28FEE-6939-4106-BB8A-0CFB2270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旧函数沿第 0 维补齐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E5B97D-77B5-49BF-8220-09962FD3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43175"/>
            <a:ext cx="108585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padding = tensor.new_zeros(</a:t>
            </a:r>
          </a:p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    size - tensor.shape[0], *tensor.shape[1:]</a:t>
            </a:r>
          </a:p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)</a:t>
            </a:r>
          </a:p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result = torch.cat([tensor, padding], dim=0)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F95F3-969A-4C18-8571-A51E0A49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91050"/>
            <a:ext cx="1076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size = bs = 1        tensor.shape[0] =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9AD27-FBDE-43FD-A93E-C1833E9A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720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AF3535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AF3535"/>
                </a:solidFill>
                <a:latin typeface="PingFang SC"/>
                <a:ea typeface="PingFang SC"/>
                <a:cs typeface="PingFang SC"/>
              </a:rPr>
              <a:t>1 − 3 = −2        尝试创建 new_zeros(−2, 78)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6A979-02B8-4318-8011-D5EDBB98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763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本例 token 长度原本无需补齐，旧代码仍会失败。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04DCB-5BC3-4992-9E24-B693FD4D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91041146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CF0A0-DE57-4545-84EB-2FA17871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不报错也可能补出错误的形状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9E5CD-D329-479F-9934-4B457547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Decode 示例：原 [3, 1]，目标 token 数 = 4，目标 bs =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30F74-3CAD-49A4-99DF-8E88137A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E4CB1-060D-4FDF-A9BD-933291B2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9547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AF3535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AF3535"/>
                </a:solidFill>
                <a:latin typeface="PingFang SC"/>
                <a:ea typeface="PingFang SC"/>
                <a:cs typeface="PingFang SC"/>
              </a:rPr>
              <a:t>旧代码得到 [4, 1]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DF92C-CC23-4DD0-B6E4-343291B7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95475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正确结果是 [3, 4]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619125" y="2647950"/>
          <a:ext xmlns:a="http://schemas.openxmlformats.org/drawingml/2006/main" cx="4762500" cy="2724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571750"/>
              </a:tblGrid>
              <a:tr h="54483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行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唯一 token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多出的行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"/>
          <p:cNvGraphicFramePr/>
          <p:nvPr/>
        </p:nvGraphicFramePr>
        <p:xfrm>
          <a:off xmlns:a="http://schemas.openxmlformats.org/drawingml/2006/main" x="5934075" y="2647950"/>
          <a:ext xmlns:a="http://schemas.openxmlformats.org/drawingml/2006/main" cx="5619750" cy="2724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23950"/>
                <a:gridCol w="1123950"/>
                <a:gridCol w="1123950"/>
                <a:gridCol w="1123950"/>
                <a:gridCol w="1123950"/>
              </a:tblGrid>
              <a:tr h="6810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轴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有效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占位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占位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占位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177788-2226-4AD5-9212-8EC0BCA8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旧代码增加了坐标轴行数，正确处理需要增加 token 列数。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CF5C3-74E0-46B6-A596-0E7D832C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158525650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F28851-DEEB-470C-8964-357D2B56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修复一：只补齐最后的 token 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47666-4C04-43E4-8C23-03CBC347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F79F3-0117-457B-9078-C62BBC79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10953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torch.nn.functional.pad(</a:t>
            </a:r>
          </a:p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    self.mrope_positions,</a:t>
            </a:r>
          </a:p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    (0, num_tokens - self.mrope_positions.shape[1]),</a:t>
            </a:r>
          </a:p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25152-DED3-4251-865D-7A185B9A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结果保持 [3, num_tokens]，原有位置不变，新增区域填零。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F428B-0142-475E-9CFA-B5B7E9BB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五个真实方法回归：原始失败、prefill、decode、idle rank、多请求。</a:t>
            </a:r>
          </a:p>
          <a:p xmlns:a="http://schemas.openxmlformats.org/drawingml/2006/main">
            <a:pPr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原实现五项失败，修复后五项通过。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85AFE-12D0-4595-BE65-8A2B5F54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138443901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02DBAB-6D40-489B-BC28-FDBCEE19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F.pad 在右侧追加 token 坐标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41D959-FBC1-4E42-B134-7AF48E3A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示例：[3, 5] 补到 [3, 8]，调用 F.pad(x, (0, 3))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2448D0-BDD3-40AE-BF06-9087896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31A50-C055-4996-BC32-F92C3073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num_tokens − x.shape[1] = 8 − 5 = 3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" y="2705100"/>
          <a:ext xmlns:a="http://schemas.openxmlformats.org/drawingml/2006/main" cx="109347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09700"/>
                <a:gridCol w="1190625"/>
                <a:gridCol w="1190625"/>
                <a:gridCol w="1190625"/>
                <a:gridCol w="1190625"/>
                <a:gridCol w="1190625"/>
                <a:gridCol w="1190625"/>
                <a:gridCol w="1190625"/>
                <a:gridCol w="1190625"/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坐标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原0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原1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原2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原3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原4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补0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补1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补2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4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E005F-05BA-46DF-8D96-29421929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原 5 列保持不变，右侧 3 列填零。目标长度必须不少于当前长度。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FA4D7-EED3-4C4A-BBF2-40618F2F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95975"/>
            <a:ext cx="10763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占位坐标填零不等于自动屏蔽，仍依赖有效长度与 attention 处理。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74742-A218-446F-87C2-DE40D657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75091546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799F9-28F8-4CFA-A9B2-4BC28072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五种输入验证同一个形状约束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F30C0F-D9C7-4043-B3A7-3695963D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直接调用真实 ForwardBatch._pad_inputs_to_size()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CA742-7CFE-46A6-8FFF-64353225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19125" y="1819275"/>
          <a:ext xmlns:a="http://schemas.openxmlformats.org/drawingml/2006/main" cx="10934700" cy="3352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28950"/>
                <a:gridCol w="2190750"/>
                <a:gridCol w="1476375"/>
                <a:gridCol w="1666875"/>
                <a:gridCol w="2571750"/>
              </a:tblGrid>
              <a:tr h="5588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用例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 shape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目标 N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目标 bs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正确结果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单请求原始失败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78]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78]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Prefill 补齐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5]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8]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补齐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1]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4]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Idle rank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0]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4]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三个请求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7]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 10]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4797B4-1C39-4D8B-A01C-66BBA41B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3877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检查 shape、原坐标不变、新增区域为零、dtype 不变。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12F576-CBC8-4A92-8825-999E915E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72175"/>
            <a:ext cx="10668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每个 input_ids[i] 都对应 mrope_positions[:, i] 这一列。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CFED6-C4AD-4117-B203-8C76FC41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804322746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43E12B-07A7-46BA-8865-335FA811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问题二：视觉与语言模型通信错位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81B1D4-567C-41A5-8FEB-F5C56367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E722A-43AC-45D4-8443-FA16AE8C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7632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DP rank 0 可能处理图片，rank 1 可能只有文本或处于空闲。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0E940-2B8A-4A68-A9AA-3875664D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07632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原视觉编码器仍在共享 TP 组上执行 collective。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F5173A-460C-47F6-BF49-E5CAD8DC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6675"/>
            <a:ext cx="107632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另一 rank 可能已进入语言模型 FFN，通信调用序列不匹配。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78A0B5-A518-4517-B737-7B55CED0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33950"/>
            <a:ext cx="107632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关闭 custom all-reduce 无法修复参与集合不一致。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1F072-D589-473C-AE83-1662E914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385157045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516DE-5DB9-4D64-8E9D-BC63E860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修复二：每个 DP rank 独立运行视觉编码器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26964-376A-4110-AA49-C2636792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3D5DF-E9D6-4BAC-958F-789AA1B6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0858500" cy="3067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use_data_parallel = (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    mm_enable_dp_encoder or is_dp_attention_enabled()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if use_data_parallel and not is_dp_attention_enabled():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    run_dp_sharded_mrope_vision_model(...)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else: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    self.visual(...)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596AA-E7A1-4972-9566-567EA73B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DP Attention 下复制完整视觉权重，图像与视频走本地分支。</a:t>
            </a:r>
          </a:p>
          <a:p xmlns:a="http://schemas.openxmlformats.org/drawingml/2006/main">
            <a:pPr>
              <a:buNone/>
              <a:defRPr sz="1875" b="0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语言模型 FFN 仍使用 TP，非 DP Attention 的原视觉分片路径保留。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5F5A4-C613-4164-AB08-36181F9F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1877717334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049851-2BA9-4388-BCFB-788CA4DA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DP Attention 修复的验证范围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0A5955-2D10-4547-872D-816CBAB4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1714500"/>
          <a:ext xmlns:a="http://schemas.openxmlformats.org/drawingml/2006/main" cx="109347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6096000"/>
                <a:gridCol w="2647950"/>
              </a:tblGrid>
              <a:tr h="6429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验证层级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内容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结果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源码回归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 项 MRoPE + 5 项视觉 dispatch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 项通过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混合接口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多图、不同尺寸、不等长文本，最多 8 并发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19 项通过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长文本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30,021 输入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正确返回指定数字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长图文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18,125 输入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正确识别颜色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 秒红色变为蓝色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正确识别顺序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D4D06-AEBB-43D1-9A4E-828F12DF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4 章  DP Attention 兼容性修复</a:t>
            </a:r>
          </a:p>
        </p:txBody>
      </p:sp>
    </p:spTree>
    <p:extLst>
      <p:ext uri="{BB962C8B-B14F-4D97-AF65-F5344CB8AC3E}">
        <p14:creationId xmlns:p14="http://schemas.microsoft.com/office/powerpoint/2010/main" val="187540382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73819-FB6E-456D-B034-25E029B6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第 5 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12BBE-71A0-4299-92B1-F03794FD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已采用的性能优化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11B9F-EC0C-42EF-97D3-B6BE111C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按照配置、实现和结果介绍部署优化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4A298-F887-4760-B725-B8B13A68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5.1  普通 TP2 与 torch.compile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F867E-EAD0-4B50-B20F-0D2831DF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5.2  FlashInfer 通信融合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BA2D27-7619-4139-81AF-987AE3FD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5.3  显式 CUDA IPC 的数据流、配置与收益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E2054-9587-4BE2-8811-1CED4C51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1395029765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E6D56-F2CB-4A52-AACF-2EB762F3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普通 TP2 与编译优化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5486D7-7E97-4452-9422-CF46CA9B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短文本解码延迟，ms/token，数值越低越好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832009-893B-4B68-A097-580762A8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58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28650" y="1905000"/>
          <a:ext xmlns:a="http://schemas.openxmlformats.org/drawingml/2006/main" cx="7762875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22cfde14cf40f0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4C0AB-D515-46BE-B496-8927D870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038350"/>
            <a:ext cx="2838450" cy="3371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TP2 减少布局交换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和 idle rank 冗余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compile 编译 decode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预热 batch 1/2/4/8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原服务已有 CUDA Graph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4F6A6-BB17-45D3-AD83-19487E2A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7217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候选各 3 轮，DP 首次基线 5 轮。最终收益另用同卡切换前后 5 轮确认。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CA1A8-51D2-421E-A77C-D347E393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5 章  已采用的性能优化</a:t>
            </a:r>
          </a:p>
        </p:txBody>
      </p:sp>
    </p:spTree>
    <p:extLst>
      <p:ext uri="{BB962C8B-B14F-4D97-AF65-F5344CB8AC3E}">
        <p14:creationId xmlns:p14="http://schemas.microsoft.com/office/powerpoint/2010/main" val="170059445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78DA2-870A-44B1-8A23-C5BFB5C9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普通 TP2 与 compile 的实施步骤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BC406-2A69-41AC-A246-5EFE6FCC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先做并行布局对照，再单独评估编译开关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21555-EB78-4B43-9ADD-13E6919F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59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076700"/>
                <a:gridCol w="4095750"/>
              </a:tblGrid>
              <a:tr h="69723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步骤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实际修改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如何验证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  统一双卡条件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关闭 DP Attention，保留 TP2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固定上下文、并发与 BF16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与修复后的双卡 DP 基线对照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  编译 decode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--enable-torch-compile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--torch-compile-max-bs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预热并捕获 batch 1 / 2 / 4 /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  两类测量分开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无 profiler 跑延迟与吞吐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另采 CPU / CUDA trace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12.35 → 11.88 ms/token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 并发 521.0 → 569.2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  再做组合复测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compile 与通信融合一起启用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收益不能把各项提升直接相加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037F7-84A0-46F7-BEA8-C5B7AF4C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这些修改调用框架已有能力。编译缓存和预热成本需要与稳态性能分开。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86EA3-3794-4890-AF8C-EE6B980E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5 章  已采用的性能优化</a:t>
            </a:r>
          </a:p>
        </p:txBody>
      </p:sp>
    </p:spTree>
    <p:extLst>
      <p:ext uri="{BB962C8B-B14F-4D97-AF65-F5344CB8AC3E}">
        <p14:creationId xmlns:p14="http://schemas.microsoft.com/office/powerpoint/2010/main" val="728157227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A03C2-3713-4E73-9DBA-216EBE5C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通信融合降低每步 kernel 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51AC21-BB29-4FCA-BF03-38E2D7B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60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28650" y="1905000"/>
          <a:ext xmlns:a="http://schemas.openxmlformats.org/drawingml/2006/main" cx="7667625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d134e37a024078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A2DEA-A73A-4BD3-A66D-AFA853C9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047875"/>
            <a:ext cx="3000375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FlashInfer all-reduce 融合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单独开启收益较小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组合后 decode 约 11.29 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8 并发吞吐与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compile 单独开启接近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B09D0-1CFE-41EA-A7AC-21DAC934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kernel 数下降不代表延迟按相同比例下降，GEMM 和同步成本仍然存在。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89CA1-1FF6-4A3E-981E-B1BC7FC6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5 章  已采用的性能优化</a:t>
            </a:r>
          </a:p>
        </p:txBody>
      </p:sp>
    </p:spTree>
    <p:extLst>
      <p:ext uri="{BB962C8B-B14F-4D97-AF65-F5344CB8AC3E}">
        <p14:creationId xmlns:p14="http://schemas.microsoft.com/office/powerpoint/2010/main" val="180102795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CA0362-DE40-4261-923E-31FAA8A2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通信融合具体改了什么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7578B-4CED-4256-A1EE-7D4D48A3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使用框架已有 FlashInfer 融合路径，未手写替换通信内核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19B05-10DF-4981-88A4-A1AE7F4C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6BCEF-6152-43BA-8AFC-B16F7280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普通执行的逻辑边界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1047F9-135D-4394-8C3B-288608D0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28875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4288">
            <a:solidFill>
              <a:srgbClr val="0B7285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本地矩阵计算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9AFE3-D144-4FB9-8BBF-B5DC1724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428875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4288">
            <a:solidFill>
              <a:srgbClr val="0B7285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All-Reduce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组合各卡部分结果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D6A585-C1CD-44D2-84B5-E284D1B6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428875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4288">
            <a:solidFill>
              <a:srgbClr val="0B7285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邻近后处理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额外 kernel 与读写</a:t>
            </a:r>
          </a:p>
        </p:txBody>
      </p:sp>
      <p:cxnSp>
        <p:nvCxnSpPr>
          <p:cNvPr id="7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2905125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29300" y="2905125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59517D-9B96-49E8-A1D8-24A34E4D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052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启用融合后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17945-B8BD-429A-90D0-CB340829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86250"/>
            <a:ext cx="333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--enable-flashinfer-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allreduce-fusion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3EDC69-371A-42AF-84C5-66DECEAE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286250"/>
            <a:ext cx="333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4288">
            <a:solidFill>
              <a:srgbClr val="0B7285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框架选择支持的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通信与后处理融合实现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76A8AF-6AAE-4C36-AA0C-0D4D2448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286250"/>
            <a:ext cx="22669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4288">
            <a:solidFill>
              <a:srgbClr val="7953A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trace 核对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实际内核与耗时</a:t>
            </a:r>
          </a:p>
        </p:txBody>
      </p:sp>
      <p:cxnSp>
        <p:nvCxnSpPr>
          <p:cNvPr id="76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048125" y="471487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77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296275" y="47148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DBAC0-74B7-48E5-801D-6E2EC43A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目标是减少同步、launch 或中间访问，具体收益仍由端到端对照决定。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AD23C3-BA18-4A91-A809-7F4259DA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5 章  已采用的性能优化</a:t>
            </a:r>
          </a:p>
        </p:txBody>
      </p:sp>
    </p:spTree>
    <p:extLst>
      <p:ext uri="{BB962C8B-B14F-4D97-AF65-F5344CB8AC3E}">
        <p14:creationId xmlns:p14="http://schemas.microsoft.com/office/powerpoint/2010/main" val="126656465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94DC25-F4A5-4C8E-AF19-CA2D29EE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显式 CUDA IPC 是什么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815D1-6101-441C-A925-1C5EC63D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IPC = Inter-Process Communication，即进程间通信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47962-BEA9-42AE-B186-DEC7B99F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E98B85-ACD8-4904-A8CD-95886355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86000"/>
            <a:ext cx="3190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进程 A：预处理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上已有 tensor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AEF77-658F-453C-B34A-BB3541A5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286000"/>
            <a:ext cx="314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可共享内存句柄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＋ shape / dtype 等元数据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8BFCE-AC0F-4549-869D-98FEB7BF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86000"/>
            <a:ext cx="3095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进程 B：推理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导入设备内存</a:t>
            </a:r>
          </a:p>
        </p:txBody>
      </p:sp>
      <p:cxnSp>
        <p:nvCxnSpPr>
          <p:cNvPr id="4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905250" y="2819400"/>
            <a:ext cx="6762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724775" y="28194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D69F3-971A-446B-A0A5-4AAEDB5A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957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“显式”表示通过配置启用 IPC 传输，不是“显示图像”。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107B7-56C9-410A-A598-BF35026D1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196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传递句柄允许另一个进程访问 GPU 数据。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跨 GPU 使用时仍可能发生 P2P 拷贝，也需要同步与内存生命周期管理。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FDAAF2-046F-49E6-8A06-498DEFB0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IPC 是跨进程共享设备数据的机制，不等同于 NCCL 集合通信，也不保证全路径零拷贝。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AFAFBE-E056-47E5-B080-EBDDD22F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5 章  已采用的性能优化</a:t>
            </a:r>
          </a:p>
        </p:txBody>
      </p:sp>
    </p:spTree>
    <p:extLst>
      <p:ext uri="{BB962C8B-B14F-4D97-AF65-F5344CB8AC3E}">
        <p14:creationId xmlns:p14="http://schemas.microsoft.com/office/powerpoint/2010/main" val="549392920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4595D-9098-4CEC-A3E2-FF446722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IPC 优化前后的数据交付路径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B262AC-2384-4305-9D78-AC05406B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本项目对象是 processor 展开的图片 patch 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6278D-1930-4EA8-AA93-F267C328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54133-3496-4685-9D82-B927C8AC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0225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原路径：可能经过主机回传和再次上传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61C3A-B104-49B3-BE22-64E1B981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622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预处理进程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patch tensor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87972-06A5-4F88-B57F-0F7B68A3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622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CPU 中转 / 序列化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进程间交付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6E00E-CDE7-4564-B7FD-47530310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622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推理进程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再次上传 GPU</a:t>
            </a:r>
          </a:p>
        </p:txBody>
      </p:sp>
      <p:cxnSp>
        <p:nvCxnSpPr>
          <p:cNvPr id="7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283845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29300" y="283845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409E7-52BB-4C3C-BFFB-13397FF9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14750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优化路径：保留设备数据并使用 IPC 交付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CEE9A-6B26-473E-B7AD-7F20B97E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053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GPU 保留 patch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keep-device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8926BA-4ED0-4A1E-8581-9EDD3977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3053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传 IPC 句柄 / 元数据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框架管理缓冲区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BEF1B-A059-4819-995A-EEF84CC0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3053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推理进程访问数据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必要时 P2P / 设备复制</a:t>
            </a:r>
          </a:p>
        </p:txBody>
      </p:sp>
      <p:cxnSp>
        <p:nvCxnSpPr>
          <p:cNvPr id="76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048000" y="478155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77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29300" y="478155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CC919-A941-4DA6-AFF8-7AF445C4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直接 trace 证据：scheduler 侧 24 MiB H→D 消失。它不是完整服务链路的零拷贝证明。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F66E6C-C562-4CE0-8940-68BD525A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5 章  已采用的性能优化</a:t>
            </a:r>
          </a:p>
        </p:txBody>
      </p:sp>
    </p:spTree>
    <p:extLst>
      <p:ext uri="{BB962C8B-B14F-4D97-AF65-F5344CB8AC3E}">
        <p14:creationId xmlns:p14="http://schemas.microsoft.com/office/powerpoint/2010/main" val="1278046933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762ED-5994-40F3-AA2E-7ACB33F6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IPC 如何开启、验证与控制代价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5B92EF-51AB-49B0-B103-90B6668E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仅启用 keep-device 的候选没有获得稳定图像收益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733C2-6EAA-4984-B045-EFDE14B0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64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076700"/>
                <a:gridCol w="4095750"/>
              </a:tblGrid>
              <a:tr h="69723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环节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实际设置或操作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项目证据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保留设备数据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--keep-mm-feature-on-device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避免交付时强制走 CPU 数据路径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启用 IPC 传输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SGLANG_USE_CUDA_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IPC_TRANSPORT=1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单图 TTFT 289.7 → 109.2 ms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对照均为 TP2 + compile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设置缓存预算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SGLANG_MM_FEATURE_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CACHE_MB=1024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缓存与传输池增加显存占用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候选约多用 1.5 GiB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验证生命周期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72 张独立图片，8 并发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检查串图、失效与释放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回归通过，不替代长期压测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431C28-A4FA-49CC-93B2-A39142EB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启动器增加 os.environ.update(CONFIG.get("env", {}))，让配置里的环境变量实际生效。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26F7F-EF7F-482B-9614-AC9181A6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5 章  已采用的性能优化</a:t>
            </a:r>
          </a:p>
        </p:txBody>
      </p:sp>
    </p:spTree>
    <p:extLst>
      <p:ext uri="{BB962C8B-B14F-4D97-AF65-F5344CB8AC3E}">
        <p14:creationId xmlns:p14="http://schemas.microsoft.com/office/powerpoint/2010/main" val="293594875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E66C9-95A6-4BF8-B6DC-7556E45E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显式 CUDA IPC 改善图像流水线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ACB3C-CD33-4496-B643-191824F5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1024 方图首 token 延迟，ms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472F07-0098-4D65-A0D9-72857F18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65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28650" y="1905000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55c59a42ee4d8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C8A1E-B3DA-4CF6-86E3-37A4F0D8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3381375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24 MiB H→D 消失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另一 GPU 改为 P2P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仍有设备内部复制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并非全路径零拷贝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缓存与传输池</a:t>
            </a:r>
          </a:p>
          <a:p xmlns:a="http://schemas.openxmlformats.org/drawingml/2006/main">
            <a:pPr>
              <a:buNone/>
              <a:def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约增加 1.5 GiB 显存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4544C4-467D-49E3-836B-55F5E4F1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91225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keep-mm-feature-on-device 配合 SGLANG_USE_CUDA_IPC_TRANSPORT=1。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E2A93A-7CC2-4B89-9F32-15594E4F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5 章  已采用的性能优化</a:t>
            </a:r>
          </a:p>
        </p:txBody>
      </p:sp>
    </p:spTree>
    <p:extLst>
      <p:ext uri="{BB962C8B-B14F-4D97-AF65-F5344CB8AC3E}">
        <p14:creationId xmlns:p14="http://schemas.microsoft.com/office/powerpoint/2010/main" val="1592161953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DB0310-00B0-432F-86C9-2B54A4F3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第 6 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DAE2F-FF1E-4F5C-8B7D-DA7D35A9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实验优化与采用边界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B022A-FF27-42B7-9E7F-B18702B1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解释已测试但未进入主服务的候选方案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C00C0-6ACA-4D10-8B27-52C7D764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6.1  Piecewise Graph 的修复与性能回退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EC9DF-C633-4310-80D6-4366F6B8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6.2  手写 Triton 的 QK Norm + MRoPE 融合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AACE0-6407-4607-9D45-5BBE629B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6.3  重编译、精度验证与 FP8 实验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EA1D3-619B-42AB-A78C-5F3E9209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66</a:t>
            </a:r>
          </a:p>
        </p:txBody>
      </p:sp>
    </p:spTree>
    <p:extLst>
      <p:ext uri="{BB962C8B-B14F-4D97-AF65-F5344CB8AC3E}">
        <p14:creationId xmlns:p14="http://schemas.microsoft.com/office/powerpoint/2010/main" val="607305130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EB106D-632F-48ED-B047-47BE6562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Piecewise Graph 的执行方式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B65F2-CA2F-476B-BA9C-67895464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将可捕获的计算分成多段，各段单独捕获和重放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3DC82-DA4E-4880-82C9-1A788CB2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C25A5-A07E-40DE-A2DB-445C2FE6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24100"/>
            <a:ext cx="2190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Graph 分段 A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replay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BBD908-281E-43B3-A710-3B7FB3F5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24100"/>
            <a:ext cx="2190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边界算子 /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动态处理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FA2DD1-DE61-4B41-90FC-246B353A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24100"/>
            <a:ext cx="2190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Graph 分段 B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replay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F939F-D918-4BC8-BD40-C135A93F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后续分段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继续执行</a:t>
            </a:r>
          </a:p>
        </p:txBody>
      </p:sp>
      <p:cxnSp>
        <p:nvCxnSpPr>
          <p:cNvPr id="52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05125" y="2800350"/>
            <a:ext cx="6000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695950" y="2800350"/>
            <a:ext cx="6000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5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486775" y="2800350"/>
            <a:ext cx="6000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71596-291F-4A40-AECD-BB32816E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1952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每段有自己的形状条目与 CUDA Graph，可能一次 forward 发射多段图。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70EC27-AFA8-4026-8B27-3EC01662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本次 token 桶：1、32、128、512、1024、2048、4096。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这些是 token 数的桶，不是前面 decode 的请求 batch 1 / 2 / 4 / 8。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B181E5-3350-4891-8B30-06DD1412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分段扩大可捕获范围，同时引入分段调度、图选择和可能的 padding 成本。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5B1BA0-D1F1-466F-87DD-391E0BE8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51949427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071807-CFC5-4478-9E5D-8FCE3F3B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Piecewise 启动错误如何修复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DD216-65FE-46F0-9E6C-4A9E31B7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静态分区没有符号 shape，原代码仍访问列表第一个元素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C64A3A-BAB7-4CB7-9111-924A5BC9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36D584-F43A-41EA-BD10-43851184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24200"/>
            <a:ext cx="3238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分区存在符号 shape？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2175E-1173-4FB7-81FF-DA37C2F1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28875"/>
            <a:ext cx="5600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有：读取 runtime_shape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选择尺寸条目 / 捕获 / replay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E75306-0999-4B8E-9287-E452D6E1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152900"/>
            <a:ext cx="5600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14288">
            <a:solidFill>
              <a:srgbClr val="7953A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无：直接运行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compiled_graph_for_general_shape</a:t>
            </a:r>
          </a:p>
        </p:txBody>
      </p:sp>
      <p:cxnSp>
        <p:nvCxnSpPr>
          <p:cNvPr id="42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952875" y="2881313"/>
            <a:ext cx="1800225" cy="6953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952875" y="3576638"/>
            <a:ext cx="1800225" cy="1071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89764-4752-4BF2-BAEE-4AFCE624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19275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修复位置：读取 sym_shape_indices[0] 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1B572-C555-4AD0-90AC-A3F69962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修复解决“无法启动”。它并不保证这组 piecewise 配置比普通 TP2 更快。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D49CC5-AAE0-42F0-B86C-D62DBD57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977084266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44055-501B-4C1C-8BFF-91FB9121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Piecewise Graph：修复后仍有延迟回退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A34614-9BCA-4207-8C08-BC152B63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52ACF-B82A-46C3-B652-7A9F5811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静态分区没有符号 shape 时，原逻辑索引空列表。</a:t>
            </a:r>
          </a:p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修复为返回通用编译图，再捕获 token 分桶。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2971800"/>
          <a:ext xmlns:a="http://schemas.openxmlformats.org/drawingml/2006/main" cx="10934700" cy="2047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381375"/>
                <a:gridCol w="3457575"/>
              </a:tblGrid>
              <a:tr h="6826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短文本 TTFT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单图 TTFT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普通 TP2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54.5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265.0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Piecewise 修复后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76.4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322.3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27D4D-BA13-4D8E-AE9C-A28ACEDE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721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19 项图文检查通过，但性能回退，因此未采用。</a:t>
            </a:r>
          </a:p>
          <a:p xmlns:a="http://schemas.openxmlformats.org/drawingml/2006/main">
            <a:pPr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分桶 padding 和静态回退的单独贡献尚未做归因实验。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809D6-0312-4704-A0AA-5833CB41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1716385191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6A5FD-4503-4695-8C2F-450CC708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为什么这次 Piecewise 更慢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80AA2-59EB-43F6-94F7-D0FFA7A7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性能回退已测得，具体原因尚未完成逐项归因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86B8E-FFB1-4477-B696-1851F3D9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70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076700"/>
                <a:gridCol w="4095750"/>
              </a:tblGrid>
              <a:tr h="69723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证据层级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观察或机制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可以得出的结论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已测结果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短文本 TTFT 54.5 → 76.4 ms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单图 TTFT 265.0 → 322.3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当前版本与负载下延迟回退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约 12.35 ms，基本持平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已知实现变化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静态分区走通用编译图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有符号分区按 token 桶捕获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部分分区跳过尺寸专用重放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整体覆盖范围可能受影响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待验证假设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padding 增加工作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分段 launch / 边界处理抵消收益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需要桶大小、分区回退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和运行路径的消融对照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采用决定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19 项功能检查通过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吞吐 521.0 → 518.0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功能可用，但该候选未部署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不能推广成 piecewise 普遍更慢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D8592-209F-46D9-9284-20ECCE73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没有逐项归因证据，因此不能把 padding 或静态回退写成唯一根因。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A98F6-5905-46FA-BF8E-D45AD3A3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28346404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5424A-0C92-43B5-A37B-97FEC222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这个 Triton 算子从哪里来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5C6BD-2E3D-4BD1-A949-5635E775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项目里手写的实验内核，Triton 提供语言与 JIT 编译工具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C1824-5F28-4EAA-B3D2-4E1FBBB1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9D5D1-4A67-4B51-BE41-8F4C49D4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098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4288">
            <a:solidFill>
              <a:srgbClr val="0B7285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项目手写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fused_qk_mrope.py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0069F-815E-44D9-9D14-626C8252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2098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4288">
            <a:solidFill>
              <a:srgbClr val="0B7285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@triton.jit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编译成 GPU 内核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D93B4-7ADF-44F3-974F-25D6578D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20980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F4"/>
          </a:solidFill>
          <a:ln xmlns:a="http://schemas.openxmlformats.org/drawingml/2006/main" w="14288">
            <a:solidFill>
              <a:srgbClr val="0B7285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模型补丁接入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替换两段计算</a:t>
            </a:r>
          </a:p>
        </p:txBody>
      </p:sp>
      <p:cxnSp>
        <p:nvCxnSpPr>
          <p:cNvPr id="4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68605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829300" y="268605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46C31-45CA-4CA7-887D-E676EF66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385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输入：Q、K、Norm 权重、三轴位置、cos / sin cache。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B5AAD-5CC0-4A05-A1CE-49A19A64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196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输出：融合计算后的 Q、K。V 沿用原值。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基准参考：FlashInfer RMSNorm + SGLang MRotaryEmbedding。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72495A-6511-4630-BACE-82C39999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已发现 positions 步长缺陷，拒绝部署；详见第8章。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8FCE90-E32A-4F3C-BB63-EE1C9A42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1880664500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DBA682-370F-41C1-8494-1811846C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QK Norm + MRoPE 究竟融合了什么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02CD3-74B8-40CD-B1A4-0502DCB0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位置在 QKV 投影之后、Attention 核心计算之前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828448-AD5E-4D26-9211-DCA44B37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BD97D-32D9-4004-8211-8F9D320B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原路径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F0976-B2A5-4D8C-8066-7303816E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 / K 视图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连续化处理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54BBC-9169-49DC-9F9A-2E2B3491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 Norm + K Norm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产生中间结果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EB1C9A-4E78-4E38-B23A-A8939EEE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33625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B"/>
          </a:solidFill>
          <a:ln xmlns:a="http://schemas.openxmlformats.org/drawingml/2006/main" w="14288">
            <a:solidFill>
              <a:srgbClr val="B36D12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MRoPE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再次读取并写出</a:t>
            </a:r>
          </a:p>
        </p:txBody>
      </p:sp>
      <p:cxnSp>
        <p:nvCxnSpPr>
          <p:cNvPr id="7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2809875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29300" y="2809875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3B12B-B089-45F7-BE1C-3F49B2B2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766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融合路径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F5C2C-8677-473A-A835-6C37111D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4815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按 stride 读取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 / K 的 128 维头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204C43-FFB3-4B51-A4AB-5FE8A270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24815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单个 Triton program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Norm + 权重缩放 + 旋转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62525-B36C-4548-A552-07CB81D4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248150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C"/>
          </a:solidFill>
          <a:ln xmlns:a="http://schemas.openxmlformats.org/drawingml/2006/main" w="14288">
            <a:solidFill>
              <a:srgbClr val="376BAC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直接写入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连续的 Q / K 输出</a:t>
            </a:r>
          </a:p>
        </p:txBody>
      </p:sp>
      <p:cxnSp>
        <p:nvCxnSpPr>
          <p:cNvPr id="76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048000" y="472440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cxnSp>
        <p:nvCxnSpPr>
          <p:cNvPr id="77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29300" y="472440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B7F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F2E72-C439-4272-855A-EAEA9251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减少中间张量与 kernel launch。未融合 Attention 核心或 KV cache 写入。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9F64DC-16F9-4D8E-B222-AFA03841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1530234486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91080-6026-411E-BA8F-4DE8A603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Triton 内核如何分配计算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A7104A-9E02-4384-B7A9-FBDF8360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一个 program 处理“一个 token 的一个 Q 头或 K 头”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EB5E0-53FF-4D14-B35E-0F02874F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73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47850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191000"/>
                <a:gridCol w="4314825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映射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TP2 的实际参数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内核中的操作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grid 第 0 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N 个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 = tl.program_id(0)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grid 第 1 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32 个 Q 头 + 4 个 K 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 &lt; NQ 选 Q，否则选 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每个头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128 维，拆成两个 64 维向量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tl.arange(0,64)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加载 x0 和 x1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输入 / 输出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输入可带 QKV 视图 stride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输出为连续 Q、K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src = base + t×stride + h×128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C4D2C-1448-4D1F-A018-C8145BEE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一次 launch 覆盖 N×36 个 program，Q / K 使用各自的 Norm 权重。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65CBA-4373-41F9-A87E-24AA3718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777291274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360AF-861E-4CCD-852B-B154404A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Norm 与 MRoPE 在内核内怎样计算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9066B-E905-456F-8504-5D6DF7D2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按 128 维 Neox 布局，前后各 64 维配对旋转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3CAB4-B8E8-4023-87D0-1C168AD7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417C1-5976-4477-8AE7-35D33BF9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383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1  r = rsqrt(mean(x²) + ε)，先做 RMS 归一化与权重缩放。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DF3AB9-F55A-4FEE-B016-D3A6D5AD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812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2  a = BF16(x₀ × r × w₀)，b = BF16(x₁ × r × w₁)。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B2E31-7328-40C7-A73F-25E18287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242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3  按通道 d 选择 t / h / w 坐标，再查 cos / sin cache。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921EB-BAFD-4F1C-A00E-8696D619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671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4  y₀ = a × cos − b × sin，y₁ = b × cos + a × sin。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808F36-516A-4E22-9F96-A855E6E0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244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频率配对索引示例：0:t，1:h，2:w，…，60:t，61:t，62:t，63:t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A3AB4E-64DB-4CF1-8C2F-7A570797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这段实现固定支持 head_dim=128、interleaved MRoPE [24,20,20]，没有改变位置编码公式。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DD366-6790-4B0E-B4C9-6F102F1A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2072054044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89C907-6213-4BA9-A22C-21E251BD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如何接入模型并保留回退路径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058099-302B-43A9-8CD9-C8ABDFC7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原有条件遗漏 positions 步长检查，新增反例见第8章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AEEFF7-E8FA-4CCF-826B-E468299C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75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076700"/>
                <a:gridCol w="4095750"/>
              </a:tblGrid>
              <a:tr h="69723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步骤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补丁中的处理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这样做的原因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定位调用点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qwen3.py 的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forward_prepare_native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QKV 已拆分，Norm 和 RoPE 相邻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检查适用条件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CUDA + BF16、head_dim=128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Neox、interleaved、[24,20,20]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内核写死了布局与维度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不能用于任意模型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核对位置与缓存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positions 为 [3,N]，N &gt; 0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匹配 cos / sin cache dtype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防止位置寻址与类型不匹配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条件不满足时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继续调用原 _apply_qk_norm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以及 self.rotary_emb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保留通用实现的兼容范围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95F07-B391-4197-9995-8C77F9F6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融合只返回 Q、K，forward_prepare_native 仍返回 q、k、v。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EA31A3-AB33-455A-9D45-381FB2CF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47292097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CCA86-4F7C-46CA-8A0D-91C36D0B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QK Norm + MRoPE 自定义融合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70A17-2F21-4E62-8AEC-00F07000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历史 TP2 单 token 微基准，μs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D6759-CC73-4E2F-AE41-4E64EDAE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76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28650" y="1905000"/>
          <a:ext xmlns:a="http://schemas.openxmlformats.org/drawingml/2006/main" cx="6286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f1e27945d24e5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48797-7B9C-4EE7-BFC9-26EA8A67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66900"/>
            <a:ext cx="4171950" cy="393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整模型 decode 11.79 ms/token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token 数改为运行时参数</a:t>
            </a:r>
          </a:p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避免不同长度反复编译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BF16 最大绝对差 0.03125</a:t>
            </a:r>
          </a:p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最少 78.8% 元素逐位相等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未融合 KV 写入，保留实验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C1358-0873-4C3D-81CD-4C82841F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2932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新增复现发现位置步长缺陷，拒绝部署；历史微基准不能证明服务正确。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35CDAE-F4CE-4015-B82B-73405767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205114153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EB58B-65ED-4715-A746-DA9A2868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重编译问题、收益与精度边界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FA597E-9487-47FC-BEC6-8ED6070A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内核微基准很快，不代表完整模型按相同比例加速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A5267D-79BB-4DF4-B150-FBB9CD1B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77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076700"/>
                <a:gridCol w="4095750"/>
              </a:tblGrid>
              <a:tr h="69723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检查项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实际结果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如何解释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token 数特化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最初 N 设为 constexpr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短文本 TTFT 约 143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新输入长度触发编译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改为运行时 N 后约 52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TP2 微基准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 token：9.55 → 1.71 μs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4050 token：263.8 → 90.9 μs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只计被替换的局部路径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使用 CUDA Graph 微基准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整模型测试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12.35 → 11.79 ms/token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19 项功能 + 16 项质量检查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局部仅占部分总耗时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GEMM、通信、其他步骤仍存在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随机数值对照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16 组，最大绝对差 0.03125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最低逐元素相同比例约 78.8%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满足设置的容差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但不是逐位等价，未默认上线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DC450B-4360-40AE-B02B-D22C3E6D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N 变为运行时参数减少按长度特化，其他元参数或条件仍可能产生不同内核变体。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80760-CDFD-4981-AB09-BE20C21B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327229160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0CB9A-0134-4B23-B429-EBC6EB74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FP8：修复缩放布局后完成实测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91E61-0024-4B6B-8C87-B9C2A487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FC6236-0FEA-4919-A1C3-5972C5A2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视觉 MLP 的 Triton 回退路径要求 scale 为 [N,1]，</a:t>
            </a:r>
          </a:p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在线量化加载器给出 [1,N]。reshape 后成功启动。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2762250"/>
          <a:ext xmlns:a="http://schemas.openxmlformats.org/drawingml/2006/main" cx="109347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683895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FP8 隔离实验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 rank 权重加载占用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约 31.34 GiB 降至 17.49 GiB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短文本 decode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9.44 ms/token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 并发输出吞吐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680.7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单图 TTFT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332.1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2F951-0AEC-45EC-9D65-7EAA445A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5312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35 项小规模检查通过。未完成业务精度评估，未叠加 compile / IPC，未默认上线。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E060C-3B63-48D4-B574-55309323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915871022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2E949-D7AA-4110-9127-B3AC0766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FP8 实验的实施与未上线原因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807074-B009-40AD-BB29-E43DA14E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量化范围、兼容性修复和质量验证需要分别说明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A25C2-6A32-4420-9AE8-030D8084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79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076700"/>
                <a:gridCol w="4095750"/>
              </a:tblGrid>
              <a:tr h="69723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阶段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实际操作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结论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启用在线 FP8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 BF16 权重配置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--quantization fp8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属于精度与权重表示变化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修复 scale 布局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 MLP 的 scale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由 [1,N] reshape 为 [N,1]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只调整布局，未改 scale 数值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三组小矩阵结果逐位一致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性能测量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9.44 ms/token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 并发 680.7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单图 TTFT 332.1 ms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未叠加 compile / IPC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采用决定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35 项小规模检查通过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缺少代表性业务精度集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保留实验候选</a:t>
                      </a:r>
                    </a:p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不能把 FP8 与 BF16 收益相乘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6A278-5521-4FBA-A466-1B160197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最终部署选择 BF16 组合，避免把局部测试通过当作完整业务质量保证。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1628E-3541-473A-9D8E-E07A5AA7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6 章  实验优化与采用边界</a:t>
            </a:r>
          </a:p>
        </p:txBody>
      </p:sp>
    </p:spTree>
    <p:extLst>
      <p:ext uri="{BB962C8B-B14F-4D97-AF65-F5344CB8AC3E}">
        <p14:creationId xmlns:p14="http://schemas.microsoft.com/office/powerpoint/2010/main" val="764305732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E491B-CD56-42A5-83E8-73C7AAB4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第 7 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36929-C113-4813-9565-D256435A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最终部署与项目交付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16F9C6-000B-4F8F-A9A9-37CDB26E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汇总部署选择、组合效果和后续工作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C3171-4090-4CFA-98AC-E9A87551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7.1  最终 BF16 配置与组合性能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8001A-149F-4E1B-B81C-C3CEE0DC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7.2  性能结论和质量验证的边界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40F9A-046B-4BA7-94B4-5633E6FD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7.3  工程版本、交付物及下一步验证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58412-7988-43A6-87D4-0E127332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886208135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D545C9-D363-4F43-8123-62E4328C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最终部署配置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B237C-A199-42DB-870E-87A07998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CDF22-8639-4710-AE5D-96602E1D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9537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--dtype bfloat16 --tp-size 2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--context-length 32768 --max-running-requests 8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--chunked-prefill-size 4096 --cuda-graph-max-bs 8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--enable-torch-compile --torch-compile-max-bs 8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--enable-flashinfer-allreduce-fusion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--keep-mm-feature-on-device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SGLANG_USE_CUDA_IPC_TRANSPORT=1</a:t>
            </a:r>
          </a:p>
          <a:p xmlns:a="http://schemas.openxmlformats.org/drawingml/2006/main">
            <a:pPr>
              <a:buNone/>
              <a:def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SGLANG_MM_FEATURE_CACHE_MB=1024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F741FD-32C2-4BAC-9A0E-2C2A72E6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293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最终关闭 DP Attention，保留修复版本和原始版本以便对照。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D94164-E705-488A-A124-B7190200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7 章  最终部署与项目交付</a:t>
            </a:r>
          </a:p>
        </p:txBody>
      </p:sp>
    </p:spTree>
    <p:extLst>
      <p:ext uri="{BB962C8B-B14F-4D97-AF65-F5344CB8AC3E}">
        <p14:creationId xmlns:p14="http://schemas.microsoft.com/office/powerpoint/2010/main" val="943474692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72443-EEF4-4D72-94B2-244A106D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最终主服务的性能结果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A9E0A-1445-4A46-B995-00A383F8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同一 GPU 0/1，优化前后各 5 轮，无 profiler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E672D-32BB-4C10-B214-9A09C6B3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82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09750"/>
          <a:ext xmlns:a="http://schemas.openxmlformats.org/drawingml/2006/main" cx="109347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2857500"/>
                <a:gridCol w="2857500"/>
                <a:gridCol w="2076450"/>
              </a:tblGrid>
              <a:tr h="6858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优化前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优化后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变化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短文本 decode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15.03 ms/token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11.25 ms/token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−25.1%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单图首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254.87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110.92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−56.5%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 并发吞吐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447.48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572.04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+27.8%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约 4K 首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322.50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252.07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−21.8%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F8A68-8579-4E96-9177-4A83D398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合成文本和 1024 方图，固定输出 128 token。8 并发首 token 仅改善约 1.6%。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7BD605-11D6-4FFD-93D8-14E51FF6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7 章  最终部署与项目交付</a:t>
            </a:r>
          </a:p>
        </p:txBody>
      </p:sp>
    </p:spTree>
    <p:extLst>
      <p:ext uri="{BB962C8B-B14F-4D97-AF65-F5344CB8AC3E}">
        <p14:creationId xmlns:p14="http://schemas.microsoft.com/office/powerpoint/2010/main" val="1435054956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8836D-8FC8-49D7-95A2-4E4553D9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组合验证与性能结论的边界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064EDE-878B-4447-A723-D41AE3D8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83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347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05700"/>
              </a:tblGrid>
              <a:tr h="619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验证项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最终主服务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图文 / 算术与 OCR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19 项 / 16 项通过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IPC 生命周期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72 张独立 1024 图，8 并发，全部正确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长输入 / 视频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30K 文本、18K 图文、红蓝变化视频通过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接口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鉴权、健康、模型名、流式通过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7A094-F051-4573-AD0C-0E64B99A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05425"/>
            <a:ext cx="10810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5 轮基准不能代表可靠 P99 或生产流量。</a:t>
            </a:r>
          </a:p>
          <a:p xmlns:a="http://schemas.openxmlformats.org/drawingml/2006/main">
            <a:pPr>
              <a:buNone/>
              <a:defRPr sz="20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未用降低分辨率或提高并发上限包装收益。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38E6C-DBB9-48B6-9251-18944D49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7 章  最终部署与项目交付</a:t>
            </a:r>
          </a:p>
        </p:txBody>
      </p:sp>
    </p:spTree>
    <p:extLst>
      <p:ext uri="{BB962C8B-B14F-4D97-AF65-F5344CB8AC3E}">
        <p14:creationId xmlns:p14="http://schemas.microsoft.com/office/powerpoint/2010/main" val="17465344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46CEC5-CEC7-4CBB-886A-C3A2B438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三个可追溯的工程版本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69A8C-1362-4524-B11B-88931CC3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84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19125" y="1809750"/>
          <a:ext xmlns:a="http://schemas.openxmlformats.org/drawingml/2006/main" cx="109347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905250"/>
                <a:gridCol w="4171950"/>
              </a:tblGrid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版本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用途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主要配置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original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最初部署与原始源文件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TP1，未修复 DP 兼容性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dp-attention-fixed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正确性修复后的性能基线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TP2 / DP2，DP Attention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optimized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最终性能优化版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TP2 / DP1，compile、融合、IPC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F1EB6-5199-47ED-8DB6-55D0B42D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482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性能收益比较使用双卡 DP 修复版作为基线，</a:t>
            </a:r>
          </a:p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没有把最初单卡与最终双卡直接计算成加速比。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A6361-782E-4543-A7EA-17D740DB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7 章  最终部署与项目交付</a:t>
            </a:r>
          </a:p>
        </p:txBody>
      </p:sp>
    </p:spTree>
    <p:extLst>
      <p:ext uri="{BB962C8B-B14F-4D97-AF65-F5344CB8AC3E}">
        <p14:creationId xmlns:p14="http://schemas.microsoft.com/office/powerpoint/2010/main" val="1062044161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AC302A-43DF-44F9-B524-5D794F78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交付与下一步验证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7A2358-FAB4-4997-A892-9041A598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1F60B-29F9-41AF-A4F6-511191C2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076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交付工程保存三个版本、补丁、测试、逐步 README 和证据。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7D673-AF0C-47E5-BA06-4FA8662F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1076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切换与回滚使用独立 runtime，模型路径、GPU 和端口可配置。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A067D-D759-4F8E-A726-2505AA00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1076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下一轮用真实数据评估 FP8 与自定义 QK 的质量及组合收益。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58687-5301-4C86-A5FC-2528F52E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14875"/>
            <a:ext cx="1076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继续采集 GEMM 硬件计数器，补齐跨进程 request span。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C994B-F64A-486A-87D7-172C6EFB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github.com/justsoloking-blip/qwen-vl-32B-project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9C8B41-8C03-44CE-8FCD-A85811A5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7 章  最终部署与项目交付</a:t>
            </a:r>
          </a:p>
        </p:txBody>
      </p:sp>
    </p:spTree>
    <p:extLst>
      <p:ext uri="{BB962C8B-B14F-4D97-AF65-F5344CB8AC3E}">
        <p14:creationId xmlns:p14="http://schemas.microsoft.com/office/powerpoint/2010/main" val="573024544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D5F4A-A3CD-4DE4-A8CD-53311905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第 8 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A4675C-5280-4391-B5A3-E63186DF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复现资源与四次实验作业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71A1B-1D9B-4048-893E-A11A2D09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按课次完成部署、修复、性能分析和优化验证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5FD73-4B3B-430B-A0E0-CB7C6871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8.1  官方模型资源、数据与环境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9F513-C274-4D88-A8B9-7EF4F3A2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8.2  四次作业的任务、提交物与验收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53CDA-91C1-459F-A812-2428F2F1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8.3  独立答案文件夹及验证范围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B7B11A-9B1F-4275-AEAB-A2CF208E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86</a:t>
            </a:r>
          </a:p>
        </p:txBody>
      </p:sp>
    </p:spTree>
    <p:extLst>
      <p:ext uri="{BB962C8B-B14F-4D97-AF65-F5344CB8AC3E}">
        <p14:creationId xmlns:p14="http://schemas.microsoft.com/office/powerpoint/2010/main" val="152765019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1594C-C4D0-4D8F-827A-AE7812B8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官方模型链接与固定版本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F4DF5-6EED-4B5D-965A-51979DDA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权重、tokenizer、processor 和配置均从同一 revision 获取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B7DA0E-8FFF-4CFC-B618-CE43DB01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FD322-7F24-43B3-A1EC-5AE4CF2C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04AAD7-51D8-4935-B419-4724A077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9072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4a8fb21688b443a2"/>
              </a:rPr>
              <a:t>官方模型仓库：Qwen / Qwen3-VL-32B-Instruct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D6C39-92FD-4414-8E48-6B29283C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336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5b5cc9f677c94bb1"/>
              </a:rPr>
              <a:t>固定版本文件目录：点击查看全部 14 个权重分片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B735B4-E8FC-4D03-8CA5-39E30163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47662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780c237aa90649f5"/>
              </a:rPr>
              <a:t>权重索引：model.safetensors.index.json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6DBC1-6A01-4F5D-B2E5-5BF8C6DD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195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4c84b5e21dd94d42"/>
              </a:rPr>
              <a:t>模型结构配置：config.json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0AF58-CDE0-4E07-9864-914E1D31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196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revision：0cfaf48183f594c314753d30a4c4974bc75f3ccb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C6D76C-4306-4778-A18C-70EF86D0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28 个链接有效；远端完整下载、14 个分片 SHA256 校验及模型加载均通过。</a:t>
            </a:r>
          </a:p>
        </p:txBody>
      </p:sp>
    </p:spTree>
    <p:extLst>
      <p:ext uri="{BB962C8B-B14F-4D97-AF65-F5344CB8AC3E}">
        <p14:creationId xmlns:p14="http://schemas.microsoft.com/office/powerpoint/2010/main" val="1113136474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62F79-DF51-4CAF-9BE4-84A82B15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完整模型快照包含哪些文件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58AEF5-2CEF-44C7-BC17-1A9E66A0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只下载 config.json 或单个权重分片，无法完成本模型部署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5B39A-EFE4-47D9-A841-60CC96FE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F03DB-57DD-42A3-9829-AFBD7A7D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文件类别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该固定版本的文件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学生检查内容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权重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model-00001…00014.safetensors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model.safetensors.index.json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 个分片完整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索引引用全部存在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文本处理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tokenizer.json、tokenizer_config.json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vocab.json、merges.txt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与模型使用同一 revision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多模态处理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preprocessor_config.json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video_preprocessor_config.json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图像、视频预处理配置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结构与对话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config.json、generation_config.json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chat_template.json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保留完整仓库快照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9BCA6-91FA-4162-BDDD-EC0511D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答案包提供 download_model.py 和 check_snapshot.py，可检查大小并选择校验 SHA256。</a:t>
            </a:r>
          </a:p>
        </p:txBody>
      </p:sp>
    </p:spTree>
    <p:extLst>
      <p:ext uri="{BB962C8B-B14F-4D97-AF65-F5344CB8AC3E}">
        <p14:creationId xmlns:p14="http://schemas.microsoft.com/office/powerpoint/2010/main" val="892086104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3F75A-4330-4770-ABE6-5D41863B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复现环境与实验数据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098AA-D538-4D09-A54E-E6AA244A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双卡实测环境与 CPU 教学验证分开记录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DEBBB4-F2D0-40EF-B307-67E4EAD7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89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B560F-6F94-4DE4-90F5-122355BD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GPU 复现条件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数据或验证要求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硬件 / 系统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Linux x86_64，H200 ×2 + NVLink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Python 3.12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其他硬件需重新测量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不保证相同绝对性能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固定软件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SGLang 0.5.6.post2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PyTorch 2.9.1+cu128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使用环境锁定文件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记录驱动、互联和显存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性能数据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合成短/长文本、1024 方图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并发 8，固定输出 128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预热后每类至少 5 轮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profiler 与基准分开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质量数据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 条课程样本与参考答案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视频另备红转蓝 MP4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Q严格30/40、H严格39/40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H有1题OCR空格差异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EF6223-4E34-4D0B-9D8A-90C2B92C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CPU 数学和归档分析可在本地执行，不能替代 SGLang 双卡集成测试。</a:t>
            </a:r>
          </a:p>
        </p:txBody>
      </p:sp>
    </p:spTree>
    <p:extLst>
      <p:ext uri="{BB962C8B-B14F-4D97-AF65-F5344CB8AC3E}">
        <p14:creationId xmlns:p14="http://schemas.microsoft.com/office/powerpoint/2010/main" val="272777934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CBD0B-47FA-41F1-9AEA-6AD9AE80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四次课程与作业总览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ECFF0-488D-40A3-9B8E-79625511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每次课堂建议 3 小时，环境准备和长实验放在课前或课后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6080A-43B9-4798-8272-2168EA2D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50248-3316-4EE5-989C-CDA2A9C7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课次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实验主题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提交物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第 1 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模型结构、部署与性能基线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环境清单、结构图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逐请求结果、指标计算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第 2 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MRoPE 与视觉通信兼容性修复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失败记录、最小补丁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回归测试、通信图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第 3 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Profiler 分析与配置消融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配置矩阵、trace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性能图与证据解释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第 4 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手写融合算子与采用决策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误差、微基准、整模型结果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质量检查与回滚说明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CB37C-7BD5-47AA-9694-3FF248BF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每课一个答案文件夹，保留脚本、参考解释、执行日志与结果。</a:t>
            </a:r>
          </a:p>
        </p:txBody>
      </p:sp>
    </p:spTree>
    <p:extLst>
      <p:ext uri="{BB962C8B-B14F-4D97-AF65-F5344CB8AC3E}">
        <p14:creationId xmlns:p14="http://schemas.microsoft.com/office/powerpoint/2010/main" val="127890501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93236-4EE3-411F-A61C-491598C2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作业一：部署与性能基线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326D5F-A910-46BD-B56B-AD3DB558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目标：能启动图文服务，并从原始数据计算性能指标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36FA3-E018-4643-A05C-D9C8B347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60A2E-319A-486E-873A-347F609E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任务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学生实际操作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检查点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环境准备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固定 revision，检查14个权重分片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记录软件版本、GPU与互联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模型、环境可追溯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服务验证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修复版 DP Attention 服务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文本、图片、流式 smoke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响应成功，输出可核验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性能基线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short / long / image / concurrent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每类预热后至少5轮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固定128输出token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记录实际输入token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数据清单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绘制文本与图文计算链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整理40条课程样本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文件哈希、预期答案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区分性能与质量数据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01AF0-FF93-4765-83BD-8E013727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提交：环境清单、配置、结构图、原始 JSON 和指标计算说明。</a:t>
            </a:r>
          </a:p>
        </p:txBody>
      </p:sp>
    </p:spTree>
    <p:extLst>
      <p:ext uri="{BB962C8B-B14F-4D97-AF65-F5344CB8AC3E}">
        <p14:creationId xmlns:p14="http://schemas.microsoft.com/office/powerpoint/2010/main" val="1916807882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32C79D-BE1C-4B7D-BDC5-92B273BE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作业一：答案与验收口径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F55F04-4431-4C7C-980E-39D09431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答案目录：01_baseline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30654-D40A-4433-A5F2-831E4615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CCBE3-54E3-4010-AFEE-C11A5C48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参考答案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本次验证范围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TTFT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请求发出至首个非空文本 chunk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已重算历史逐请求记录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(HTTP结束时间 − 首个chunk时间)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÷ (输出token数 − 1)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避免用最后可见字符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低估末尾协议耗时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并发吞吐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所有输出token总数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÷ 测量批次总耗时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不能把单请求吞吐相加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历史对照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短文本 TPOT 15.03 → 11.25 ms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8并发 447.48 → 572.04 token/s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历史对照保留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本次实测见章末汇总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EAF1A2-34EA-404F-95E3-2586FC69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验收以数据可重算为准；5轮数据不足以给出可靠 P99。</a:t>
            </a:r>
          </a:p>
        </p:txBody>
      </p:sp>
    </p:spTree>
    <p:extLst>
      <p:ext uri="{BB962C8B-B14F-4D97-AF65-F5344CB8AC3E}">
        <p14:creationId xmlns:p14="http://schemas.microsoft.com/office/powerpoint/2010/main" val="1058892437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B9F03-FC75-44DB-B1DD-7D6B8A2D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作业二：DP Attention 修复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D23BBF-C1C6-4D92-94D4-F8FB448C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目标：从张量不变量和 collective 参与范围解释故障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D0344-5BD6-4FC5-8C7C-6514B540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26A40-D4D6-4C9A-B745-98D0B5BB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任务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学生实际操作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检查点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复现错误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在原始方法执行 padding 用例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保留异常或不变量失败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原始失败可追溯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MRoPE 修复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把 [3,78] 补为 [3,128]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增加50列而不改变三轴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原值、dtype与三轴保留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视觉路径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画出图像rank与文本rank时序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实现本rank视觉执行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DP模式不走跨rank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视觉分片 gather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回归验证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prefill、decode、idle、多请求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增加无需补齐边界用例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DP关闭时原路径保留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再做混合图文集成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FFFBC-689D-41D7-8D6E-AFAA203E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提交：两个问题的最小补丁、失败证据、回归结果及通信流程图。</a:t>
            </a:r>
          </a:p>
        </p:txBody>
      </p:sp>
    </p:spTree>
    <p:extLst>
      <p:ext uri="{BB962C8B-B14F-4D97-AF65-F5344CB8AC3E}">
        <p14:creationId xmlns:p14="http://schemas.microsoft.com/office/powerpoint/2010/main" val="2014352424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ECAD6-80DB-426D-83AF-78913012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作业二：答案与验收口径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5A26B-2A5B-46AB-B0D0-DEE2A616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答案目录：02_dp_fix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6363B-F2F0-45EA-A9C8-107C1D21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BD347-B056-436C-8795-DE0DDE75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参考答案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本次验证范围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补齐维度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F.pad(mrope_positions,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(0, num_tokens − shape[1]))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CPU执行真实源码方法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14个padding检查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视觉条件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DP开启时完整视觉权重副本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图片/视频在本rank执行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8个dispatch检查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4个构造参数检查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反例意识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batch=3且无需token补齐时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原代码可能碰巧通过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不能只测一个成功请求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补丁一致性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从原始快照应用DP补丁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与修复快照逐字节比较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两个文件一致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双卡混合19请求通过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3DB0F-EDBD-44FB-A5C4-5FE745B7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另执行完整 SGLang 源码回归 10 项及双卡混合图文集成，均通过。</a:t>
            </a:r>
          </a:p>
        </p:txBody>
      </p:sp>
    </p:spTree>
    <p:extLst>
      <p:ext uri="{BB962C8B-B14F-4D97-AF65-F5344CB8AC3E}">
        <p14:creationId xmlns:p14="http://schemas.microsoft.com/office/powerpoint/2010/main" val="1372169884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0BE69-A288-4C20-A488-6674AFCE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作业三：Profiler 与优化消融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81B13-EF7D-47C4-8294-4E10500D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目标：用单项对照和 trace 证据解释性能变化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0C3A5-4F45-4645-B88E-F60504BA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65EE3-CFAC-4986-97BE-C3A19F71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任务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学生实际操作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检查点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并行 / 编译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DP2、TP2、TP2+compile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固定负载与双卡条件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通信融合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TP2+融合、compile+融合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区分单项与组合收益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图文 IPC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compile+keep-device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再加入显式 CUDA IPC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核对24MiB H→D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及P2P/设备内复制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性能分析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分别跑无profiler基准与trace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统计kernel、区间并集和延迟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每个结论指向原始证据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保留无收益或回退结果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9420A-E457-4A17-8F90-15205199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提交：配置矩阵、原始 JSON / trace、性能对比图及结论边界。</a:t>
            </a:r>
          </a:p>
        </p:txBody>
      </p:sp>
    </p:spTree>
    <p:extLst>
      <p:ext uri="{BB962C8B-B14F-4D97-AF65-F5344CB8AC3E}">
        <p14:creationId xmlns:p14="http://schemas.microsoft.com/office/powerpoint/2010/main" val="1579004910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274B2B-CF22-4A65-8E8C-112385FA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作业三：答案与验收口径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89C1F-E909-4296-9838-C1B0F4B8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答案目录：03_profiling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DA077-5D1C-40E4-9314-1C4419FD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C7BD4-013C-48BA-87B0-C0E5117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参考答案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本次验证范围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空泡算法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窗口内GPU事件区间取并集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无活动比例 = 1 − 并集/窗口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5组区间样例通过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不等于SM空闲率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kernel数量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普通TP2每步中位数1353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compile+融合1158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历史12份重新解析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新增12份GPU trace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IPC证据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scheduler 24MiB H→D消失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仍有P2P或设备内部复制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原始memcpy事件已核对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不能宣称全路径零拷贝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实验次数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新实验每类至少5轮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候选历史记录通常3轮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9组新增实测完成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每类5轮、输出128 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5E8F7-4BB9-4884-B458-B81E264D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验收要求对照一致、结果可追溯，不能相加各项优化的提升比例。</a:t>
            </a:r>
          </a:p>
        </p:txBody>
      </p:sp>
    </p:spTree>
    <p:extLst>
      <p:ext uri="{BB962C8B-B14F-4D97-AF65-F5344CB8AC3E}">
        <p14:creationId xmlns:p14="http://schemas.microsoft.com/office/powerpoint/2010/main" val="565087580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6FB828-1006-40A3-8CB0-907F9E2C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作业四：自定义融合与采用决策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CB4308-97F5-47B8-89BC-9FDFB892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目标：把公式、内核映射、精度和整模型效果对应起来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CEF3F-7F4E-46D3-95C9-38160C2E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BD3E6-882E-4314-AE56-8CF8CAE9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任务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学生实际操作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检查点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理解内核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标出grid=(N,NQ+NK)、stride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128维Norm和三轴旋转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明确没有融合Attention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或KV cache写入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数值与微基准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16组token/head配置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比较参考实现与Triton内核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误差、容差和局部耗时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重编译对照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constexpr N与运行时N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测试新长度与重复长度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分开编译与稳态时间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采用决定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整模型、质量检查和回滚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选做Piecewise或FP8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局部加速不能替代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完整服务与质量验证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F2AFF6-8326-4BC1-B5B3-3B4C1E7B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提交：代码说明、误差、微基准、整模型结果与部署/不部署决定。</a:t>
            </a:r>
          </a:p>
        </p:txBody>
      </p:sp>
    </p:spTree>
    <p:extLst>
      <p:ext uri="{BB962C8B-B14F-4D97-AF65-F5344CB8AC3E}">
        <p14:creationId xmlns:p14="http://schemas.microsoft.com/office/powerpoint/2010/main" val="1911063067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4852A-3CB6-446A-A4A3-942B5875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作业四：答案与验收口径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4FE0D-A896-4F4A-9E7E-3FC4A59E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答案目录：04_fusion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02739-3517-4B9A-B81F-88F35EE5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354F5-210D-49EF-AA70-24031711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参考答案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本次验证范围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计算映射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TP2：32个Q头、4个K头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一次launch覆盖N×36个program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源码映射与runtime N已检查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MRoPE布局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[t,h,w]重复20次，再补4个t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频率通道数量为[24,20,20]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CPU数学对照通过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新增16组Triton实测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本次GPU结果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单token 9.53 / 1.70 μs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整模型 12.35 / 11.78 ms/token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新16组CUDA微基准通过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Q混合并发出现答案错误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采用结论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并发输出130而非1300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拒绝部署自定义kernel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保留失败日志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数值容差不能替代质量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C2EE3-21F5-49E4-B9DE-7359B179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新长度 552 / 553：constexpr 调用约 90 ms，runtime N 约 0.12 / 0.07 ms。</a:t>
            </a:r>
          </a:p>
        </p:txBody>
      </p:sp>
    </p:spTree>
    <p:extLst>
      <p:ext uri="{BB962C8B-B14F-4D97-AF65-F5344CB8AC3E}">
        <p14:creationId xmlns:p14="http://schemas.microsoft.com/office/powerpoint/2010/main" val="2104136793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3E2836-EAB3-410A-9883-D250514B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新增反例：positions 的 stride 被遗漏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4A05B-C0EE-4BD4-84BF-E0909026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16组连续张量微基准通过，仍不足以证明服务路径正确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614462-952E-4D4A-A794-3BC0F60A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99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62894-CF3F-4373-9B3C-137EA6F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检查项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正确寻址 / 实验实现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实测与结论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切片视图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positions = buffer[:, :N]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逻辑形状[3,N]，行stride可大于N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CUDA graph使用这类切片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形状不等于存储步长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地址计算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正确：POS + axis×stride0 + t×stride1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实验：POS + axis×N + 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实验把行stride假定为N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会读取错误轴坐标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最小反例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[3,17]缓冲区切为N=1/4/8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与同值.contiguous()输入对比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3个GPU用例均违反不变量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完整误差记录在答案包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采用决定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并发1300返回130，课程题30/40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默认组合H不包含该内核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保留失败，拒绝部署Q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不能只依据局部微基准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E6795-EDBC-4EAC-BEBD-A13FFE02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已证实位置步长缺陷；尚不能断言全部服务错误均由这一因素造成。</a:t>
            </a:r>
          </a:p>
        </p:txBody>
      </p:sp>
    </p:spTree>
    <p:extLst>
      <p:ext uri="{BB962C8B-B14F-4D97-AF65-F5344CB8AC3E}">
        <p14:creationId xmlns:p14="http://schemas.microsoft.com/office/powerpoint/2010/main" val="2135536870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7A072A-3291-4F06-9DEF-A0B83F27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作业答案包与验证状态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E92A8-BDDB-4815-B7BF-D863FE5F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2026-09-22：独立环境安装、完整权重及四课 GPU 复现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8E8FB-B4F3-4AA9-A30E-26F65A9B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17249-97EE-4BA8-A5AA-10D7D5E6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95475"/>
          <a:ext xmlns:a="http://schemas.openxmlformats.org/drawingml/2006/main" cx="109347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5238750"/>
                <a:gridCol w="35242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内容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答案包位置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状态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模型链接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verification/model-links.json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28个链接、14分片SHA通过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完整模型已实际加载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四课本地检查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各课 verify.py 与 results/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verification/local-run.json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四课均已执行通过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含CPU方法/公式及归档复算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完整GPU课程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verification/gpu/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full-course-verification.json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9配置、495条基准请求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12份trace、16组数值对照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学生提交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代码、配置、原始结果、报告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H严格39/40，Q拒绝采用</a:t>
                      </a:r>
                    </a:p>
                    <a:p>
                      <a:r>
                        <a:rPr sz="180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回退至DP2服务检查通过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A2C670-1D87-41D9-BA52-16A268D1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复现结论应以执行日志和测试范围为依据，参考数字不是学生必须达到的分数线。</a:t>
            </a:r>
          </a:p>
        </p:txBody>
      </p:sp>
    </p:spTree>
    <p:extLst>
      <p:ext uri="{BB962C8B-B14F-4D97-AF65-F5344CB8AC3E}">
        <p14:creationId xmlns:p14="http://schemas.microsoft.com/office/powerpoint/2010/main" val="15334094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61AD8B-414F-4096-B41C-F358DBC3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本次双卡实测：配置消融结果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5659DA-B663-4A06-8D69-D17961D6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相同 H200 GPU 对、每类 5 轮、每请求固定输出 128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5D4B5-EC39-456C-B4AA-11641A24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DCE36-CDD2-4822-9ACF-21E676F8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第 8 章  复现资源与四次实验作业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19125" y="1857375"/>
          <a:ext xmlns:a="http://schemas.openxmlformats.org/drawingml/2006/main" cx="109347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714625"/>
                <a:gridCol w="2857500"/>
                <a:gridCol w="2981325"/>
              </a:tblGrid>
              <a:tr h="3714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配置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短文本TPOT / ms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图像TTFT / ms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0B7285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8并发 / token·s⁻¹</a:t>
                      </a:r>
                    </a:p>
                  </a:txBody>
                  <a:tcPr marL="91440" marR="91440" marT="45720" marB="45720">
                    <a:solidFill>
                      <a:srgbClr val="EAF1F5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  DP2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14.95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268.1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450.5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  TP2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12.35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272.5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527.7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  编译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11.88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281.0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560.0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  通信融合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12.24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266.2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532.2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  编译＋通信融合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11.25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258.4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560.7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  编译＋驻留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11.86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300.9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557.9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  F＋显式IPC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11.85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112.7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568.5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  QK融合（拒绝）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11.78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247.0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558.7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  最终组合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11.26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111.1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32B4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570.2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DAC8D-C844-44B6-818F-A4043209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含预热、配置、逐请求数据及波动范围；5轮结果不支持可靠的P99结论。</a:t>
            </a:r>
          </a:p>
        </p:txBody>
      </p:sp>
    </p:spTree>
    <p:extLst>
      <p:ext uri="{BB962C8B-B14F-4D97-AF65-F5344CB8AC3E}">
        <p14:creationId xmlns:p14="http://schemas.microsoft.com/office/powerpoint/2010/main" val="651600545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0BFD2A-3BFC-423A-A9F4-84A87FB0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参考代码与参考资料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4A2F53-CCE9-4663-9358-C9D00BE5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点击蓝色标题打开 GitHub，说明文字标明与本项目的对应关系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A4540-8148-452A-80BF-FA110E19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项目代码与模型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2B695-485D-4CEF-898C-F2B142E8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0975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性能工具与算子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8A22B-116E-40F5-9758-B7403CBD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a672c4f80f19420a"/>
              </a:rPr>
              <a:t>01  本项目工程与版本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00F23-079D-42BE-8B70-A905DF82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47950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原始版、DP修复版、优化版与补丁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6285DB-44A0-44D7-895C-9FB2CCF6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24929c07385c4d8e"/>
              </a:rPr>
              <a:t>02  DP Attention 兼容性修复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07AEB-705C-4C47-9965-0013B0D3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43275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MRoPE补齐与视觉通信范围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0F011-CDF7-4035-B144-A3105572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c3cf4344379645bb"/>
              </a:rPr>
              <a:t>03  四课答案与本次实测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6F6A02-0701-4991-A60A-5228989F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38600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复现脚本、trace、质量结果及反例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6B884D-1DD9-445B-86DB-ABBE8C01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91025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2f34c9eb5886429a"/>
              </a:rPr>
              <a:t>04  Qwen3-VL 官方项目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8DDF21-D949-4211-9DC8-4DE7243F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33925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模型结构、图文输入与推理示例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DCD2F-60A4-4582-AF0F-5D133C77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e9805b8fe51947bd"/>
              </a:rPr>
              <a:t>05  SGLang 多模态模型实现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C63697-BD49-44E1-B068-707396C6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29250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Qwen3-VL视觉编码与语言模型接入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6B3176-122C-4494-8220-9420CF7F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05050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b61bc05d7b1844a3"/>
              </a:rPr>
              <a:t>06  PyTorch Profiler 源码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B76DB4-F74F-4C78-ACC4-94EACF78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647950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CPU/CUDA事件采集与trace导出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FAEE99-81DD-4E2D-BB47-B47FB720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00375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f8ea9bb1cd7748e3"/>
              </a:rPr>
              <a:t>07  torch.compile 官方教程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122102-BEA6-4277-AF33-8AE81212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343275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编译执行、图捕获与性能对照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B9FCAA-2F09-41E7-876A-88F77214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e13a3ec8da524ad9"/>
              </a:rPr>
              <a:t>08  PyTorch CUDA Graph 源码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DD8015-C6FF-47D2-B1CE-A2285FE6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38600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capture、replay与静态内存约束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F9867C-22C6-4445-AAFB-B932824F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91025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ce7bafff35b84749"/>
              </a:rPr>
              <a:t>09  FlashInfer RMSNorm 源码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1BC263-8CDF-47FE-9C4E-0ABA37C1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733925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融合QK内核的Norm参考实现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C063EB-1E46-4471-A9FE-9FF6CFFD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086350"/>
            <a:ext cx="5191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a2635e4c284e4447"/>
              </a:rPr>
              <a:t>10  Triton 官方融合教程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2A4A01-7284-41EA-8919-97FEF267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29250"/>
            <a:ext cx="516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融合与微基准范式；项目内核为手写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9B3168-FF3A-4C64-A33F-F8B614DC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核验日期：2026-09-22　10 / 10 页面与源码返回 HTTP 200，已核对相关内容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A859D1-093C-4F39-AB82-9A0DFBD4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参考代码与资料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8224AC-6BA4-4621-B774-85FDBF13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436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102</a:t>
            </a:r>
          </a:p>
        </p:txBody>
      </p:sp>
    </p:spTree>
    <p:extLst>
      <p:ext uri="{BB962C8B-B14F-4D97-AF65-F5344CB8AC3E}">
        <p14:creationId xmlns:p14="http://schemas.microsoft.com/office/powerpoint/2010/main" val="1236965271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6AE88-9595-419C-9078-5964D689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知乎延伸阅读：从原理到验证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96DE3-6CC7-462B-B8E7-1504BE83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点击蓝色标题阅读原文；下方说明与本项目的对应关系和适用范围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07D23-9B71-465C-8877-B884D95F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153d92938e444ffe"/>
              </a:rPr>
              <a:t>01  梳理SGLang中DP Attention及其Padding问题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6FBDF5-DB30-4A24-80F5-5883FA77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对应：DP Attention、批次补齐、通信与 CUDA Graph。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4C6812-CE6E-446E-929F-BA9BB2F9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05075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文章以旧版 SGLang / MoE 为例；本项目为 Dense 模型。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D1B00-9FC1-4DBB-90A7-4846CA1A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d559937189a24249"/>
              </a:rPr>
              <a:t>02  一文搞懂 TorchDynamo 原理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29BCE-E6F5-434D-B6DE-8AA8A09D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对应：torch.compile 的计算图捕获与编译机制。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99088-EF5D-4C94-9B06-9EB2026A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38525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PyTorch 2.0 原理入门；具体 API 以项目锁定版本为准。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83A8F-3061-441D-84B0-C61A677F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1829559c453048f5"/>
              </a:rPr>
              <a:t>03  （万字长文）说说大模型中的推理加速技术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FD8362-8660-4524-9A5B-E9B6211D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对应：Prefill / Decode、KV Cache 与推理优化背景。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99BB73-FC02-4D0B-95C7-AB884516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帮助理解优化位置；并非本项目实测收益的来源。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59EDB-D350-4F73-8E0A-BE7E3BEB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u="sng">
                <a:solidFill>
                  <a:srgbClr val="0B7285"/>
                </a:solidFill>
                <a:hlinkClick xmlns:r="http://schemas.openxmlformats.org/officeDocument/2006/relationships" r:id="Rda7dcdb452ef48a1"/>
              </a:rPr>
              <a:t>04  LLM 确定性推理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952567-46D8-4D0C-8E84-0C5F984F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32B4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32B43"/>
                </a:solidFill>
                <a:latin typeface="PingFang SC"/>
                <a:ea typeface="PingFang SC"/>
                <a:cs typeface="PingFang SC"/>
              </a:rPr>
              <a:t>对应：批次变化、浮点误差与优化后的正确性验证。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ECF6A5-341E-45D8-BD29-A4E5AAB0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05425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一致性背景阅读；不能替代本项目 stride 错误的定位。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D64CC4-B2CD-4224-A9E1-89CC7476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B7285"/>
                </a:solidFill>
                <a:latin typeface="PingFang SC"/>
                <a:ea typeface="PingFang SC"/>
                <a:cs typeface="PingFang SC"/>
              </a:rPr>
              <a:t>2026-09-22 已逐个打开并核对标题、作者、正文；4 / 4 可阅读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1E6979-A501-4D33-B340-0F2C7A1D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社区文章用于辅助理解；工程实现与实测结论以项目代码和报告为准。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0A2CBC-9978-417D-A9F3-E35ABBE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参考资料 · 知乎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1D488E-0563-44FE-A8D5-D923A3D6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7700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86B7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86B7F"/>
                </a:solidFill>
                <a:latin typeface="PingFang SC"/>
                <a:ea typeface="PingFang SC"/>
                <a:cs typeface="PingFang SC"/>
              </a:rPr>
              <a:t>103</a:t>
            </a:r>
          </a:p>
        </p:txBody>
      </p:sp>
    </p:spTree>
    <p:extLst>
      <p:ext uri="{BB962C8B-B14F-4D97-AF65-F5344CB8AC3E}">
        <p14:creationId xmlns:p14="http://schemas.microsoft.com/office/powerpoint/2010/main" val="1714789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2026-09-22T09:41:22.9690000Z</dcterms:created>
  <dcterms:modified xsi:type="dcterms:W3CDTF">2026-09-22T09:41:22.9690000Z</dcterms:modified>
</coreProperties>
</file>