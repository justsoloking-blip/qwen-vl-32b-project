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2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3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4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5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f753307636469e" /><Relationship Type="http://schemas.openxmlformats.org/officeDocument/2006/relationships/extended-properties" Target="/docProps/app.xml" Id="Rd96de6f8631b428d" /><Relationship Type="http://schemas.openxmlformats.org/officeDocument/2006/relationships/officeDocument" Target="/ppt/presentation.xml" Id="Raf6e2e87b0f946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44a41c82b640cb"/>
  </p:sldMasterIdLst>
  <p:notesMasterIdLst>
    <p:notesMasterId xmlns:r="http://schemas.openxmlformats.org/officeDocument/2006/relationships" r:id="R91f64e436ee4468a"/>
  </p:notesMasterIdLst>
  <p:sldIdLst>
    <p:sldId xmlns:r="http://schemas.openxmlformats.org/officeDocument/2006/relationships" id="256" r:id="R34859ccdd0f047a6"/>
    <p:sldId xmlns:r="http://schemas.openxmlformats.org/officeDocument/2006/relationships" id="257" r:id="R592597360cad4215"/>
    <p:sldId xmlns:r="http://schemas.openxmlformats.org/officeDocument/2006/relationships" id="258" r:id="Ra8ea966f42a8420a"/>
    <p:sldId xmlns:r="http://schemas.openxmlformats.org/officeDocument/2006/relationships" id="259" r:id="R34fab672c2de48fb"/>
    <p:sldId xmlns:r="http://schemas.openxmlformats.org/officeDocument/2006/relationships" id="260" r:id="Rcdd4caa425e24734"/>
    <p:sldId xmlns:r="http://schemas.openxmlformats.org/officeDocument/2006/relationships" id="261" r:id="Rfbda32780d5c4352"/>
    <p:sldId xmlns:r="http://schemas.openxmlformats.org/officeDocument/2006/relationships" id="262" r:id="Rb3cfe3db2e304266"/>
    <p:sldId xmlns:r="http://schemas.openxmlformats.org/officeDocument/2006/relationships" id="263" r:id="Rc6fe523fbada49d1"/>
    <p:sldId xmlns:r="http://schemas.openxmlformats.org/officeDocument/2006/relationships" id="264" r:id="Rf5565d3c8eb349a3"/>
    <p:sldId xmlns:r="http://schemas.openxmlformats.org/officeDocument/2006/relationships" id="265" r:id="R5eca6c7f64784901"/>
    <p:sldId xmlns:r="http://schemas.openxmlformats.org/officeDocument/2006/relationships" id="266" r:id="R4bdab6c62ec8439d"/>
    <p:sldId xmlns:r="http://schemas.openxmlformats.org/officeDocument/2006/relationships" id="267" r:id="R7b4430c6ff3f430d"/>
    <p:sldId xmlns:r="http://schemas.openxmlformats.org/officeDocument/2006/relationships" id="268" r:id="Rfd0e9415a55a4ebd"/>
    <p:sldId xmlns:r="http://schemas.openxmlformats.org/officeDocument/2006/relationships" id="269" r:id="Rb31fe90065e44290"/>
    <p:sldId xmlns:r="http://schemas.openxmlformats.org/officeDocument/2006/relationships" id="270" r:id="R89c085d12f364564"/>
    <p:sldId xmlns:r="http://schemas.openxmlformats.org/officeDocument/2006/relationships" id="271" r:id="R6d2247eafce34821"/>
    <p:sldId xmlns:r="http://schemas.openxmlformats.org/officeDocument/2006/relationships" id="272" r:id="R82caf0df1f194ae8"/>
    <p:sldId xmlns:r="http://schemas.openxmlformats.org/officeDocument/2006/relationships" id="273" r:id="R2d1d4d473fe94c08"/>
    <p:sldId xmlns:r="http://schemas.openxmlformats.org/officeDocument/2006/relationships" id="274" r:id="R3d1fcf34b38b4a8a"/>
    <p:sldId xmlns:r="http://schemas.openxmlformats.org/officeDocument/2006/relationships" id="275" r:id="R077ff14381a1498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c9fc3787594ba1" /><Relationship Type="http://schemas.openxmlformats.org/officeDocument/2006/relationships/slideMaster" Target="/ppt/slideMasters/slideMaster1.xml" Id="R4f44a41c82b640cb" /><Relationship Type="http://schemas.openxmlformats.org/officeDocument/2006/relationships/notesMaster" Target="/ppt/notesMasters/notesMaster1.xml" Id="R91f64e436ee4468a" /><Relationship Type="http://schemas.openxmlformats.org/officeDocument/2006/relationships/presProps" Target="/ppt/presProps.xml" Id="Re4303a9a877944b3" /><Relationship Type="http://schemas.openxmlformats.org/officeDocument/2006/relationships/tableStyles" Target="/ppt/tableStyles.xml" Id="R408c866096fc40fd" /><Relationship Type="http://schemas.openxmlformats.org/officeDocument/2006/relationships/slide" Target="/ppt/slides/slide1.xml" Id="R34859ccdd0f047a6" /><Relationship Type="http://schemas.openxmlformats.org/officeDocument/2006/relationships/slide" Target="/ppt/slides/slide2.xml" Id="R592597360cad4215" /><Relationship Type="http://schemas.openxmlformats.org/officeDocument/2006/relationships/slide" Target="/ppt/slides/slide3.xml" Id="Ra8ea966f42a8420a" /><Relationship Type="http://schemas.openxmlformats.org/officeDocument/2006/relationships/slide" Target="/ppt/slides/slide4.xml" Id="R34fab672c2de48fb" /><Relationship Type="http://schemas.openxmlformats.org/officeDocument/2006/relationships/slide" Target="/ppt/slides/slide5.xml" Id="Rcdd4caa425e24734" /><Relationship Type="http://schemas.openxmlformats.org/officeDocument/2006/relationships/slide" Target="/ppt/slides/slide6.xml" Id="Rfbda32780d5c4352" /><Relationship Type="http://schemas.openxmlformats.org/officeDocument/2006/relationships/slide" Target="/ppt/slides/slide7.xml" Id="Rb3cfe3db2e304266" /><Relationship Type="http://schemas.openxmlformats.org/officeDocument/2006/relationships/slide" Target="/ppt/slides/slide8.xml" Id="Rc6fe523fbada49d1" /><Relationship Type="http://schemas.openxmlformats.org/officeDocument/2006/relationships/slide" Target="/ppt/slides/slide9.xml" Id="Rf5565d3c8eb349a3" /><Relationship Type="http://schemas.openxmlformats.org/officeDocument/2006/relationships/slide" Target="/ppt/slides/slide10.xml" Id="R5eca6c7f64784901" /><Relationship Type="http://schemas.openxmlformats.org/officeDocument/2006/relationships/slide" Target="/ppt/slides/slide11.xml" Id="R4bdab6c62ec8439d" /><Relationship Type="http://schemas.openxmlformats.org/officeDocument/2006/relationships/slide" Target="/ppt/slides/slide12.xml" Id="R7b4430c6ff3f430d" /><Relationship Type="http://schemas.openxmlformats.org/officeDocument/2006/relationships/slide" Target="/ppt/slides/slide13.xml" Id="Rfd0e9415a55a4ebd" /><Relationship Type="http://schemas.openxmlformats.org/officeDocument/2006/relationships/slide" Target="/ppt/slides/slide14.xml" Id="Rb31fe90065e44290" /><Relationship Type="http://schemas.openxmlformats.org/officeDocument/2006/relationships/slide" Target="/ppt/slides/slide15.xml" Id="R89c085d12f364564" /><Relationship Type="http://schemas.openxmlformats.org/officeDocument/2006/relationships/slide" Target="/ppt/slides/slide16.xml" Id="R6d2247eafce34821" /><Relationship Type="http://schemas.openxmlformats.org/officeDocument/2006/relationships/slide" Target="/ppt/slides/slide17.xml" Id="R82caf0df1f194ae8" /><Relationship Type="http://schemas.openxmlformats.org/officeDocument/2006/relationships/slide" Target="/ppt/slides/slide18.xml" Id="R2d1d4d473fe94c08" /><Relationship Type="http://schemas.openxmlformats.org/officeDocument/2006/relationships/slide" Target="/ppt/slides/slide19.xml" Id="R3d1fcf34b38b4a8a" /><Relationship Type="http://schemas.openxmlformats.org/officeDocument/2006/relationships/slide" Target="/ppt/slides/slide20.xml" Id="R077ff14381a149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654c45632042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779e7031184127" /><Relationship Type="http://schemas.openxmlformats.org/officeDocument/2006/relationships/notesMaster" Target="/ppt/notesMasters/notesMaster1.xml" Id="Rf49e2e661cb64d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e9b09ce6954c13" /><Relationship Type="http://schemas.openxmlformats.org/officeDocument/2006/relationships/notesMaster" Target="/ppt/notesMasters/notesMaster1.xml" Id="R2daf85be8bae4d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c751d930aa4c8e" /><Relationship Type="http://schemas.openxmlformats.org/officeDocument/2006/relationships/notesMaster" Target="/ppt/notesMasters/notesMaster1.xml" Id="R5d93ff7cad3245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c474944ba3425c" /><Relationship Type="http://schemas.openxmlformats.org/officeDocument/2006/relationships/notesMaster" Target="/ppt/notesMasters/notesMaster1.xml" Id="R698ec495490e44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432a120b52450a" /><Relationship Type="http://schemas.openxmlformats.org/officeDocument/2006/relationships/notesMaster" Target="/ppt/notesMasters/notesMaster1.xml" Id="R48580e3c7cf54b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455cf672404622" /><Relationship Type="http://schemas.openxmlformats.org/officeDocument/2006/relationships/notesMaster" Target="/ppt/notesMasters/notesMaster1.xml" Id="R64fc8e0b1af94f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21a9c471d514731" /><Relationship Type="http://schemas.openxmlformats.org/officeDocument/2006/relationships/notesMaster" Target="/ppt/notesMasters/notesMaster1.xml" Id="R0687a0cb5de94b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71ca71e4ca4c75" /><Relationship Type="http://schemas.openxmlformats.org/officeDocument/2006/relationships/notesMaster" Target="/ppt/notesMasters/notesMaster1.xml" Id="Rdacdabc9cfd14dc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9ec861992d448b2" /><Relationship Type="http://schemas.openxmlformats.org/officeDocument/2006/relationships/notesMaster" Target="/ppt/notesMasters/notesMaster1.xml" Id="R240276423ec6436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3bb84a12c6e4734" /><Relationship Type="http://schemas.openxmlformats.org/officeDocument/2006/relationships/notesMaster" Target="/ppt/notesMasters/notesMaster1.xml" Id="R7dc1301b9e8341c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b07f2733c4a473f" /><Relationship Type="http://schemas.openxmlformats.org/officeDocument/2006/relationships/notesMaster" Target="/ppt/notesMasters/notesMaster1.xml" Id="R792445cbf6ca456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8a35b39be1d4960" /><Relationship Type="http://schemas.openxmlformats.org/officeDocument/2006/relationships/notesMaster" Target="/ppt/notesMasters/notesMaster1.xml" Id="Rfe4cffbd67ab404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c6c7b41e1044f7b" /><Relationship Type="http://schemas.openxmlformats.org/officeDocument/2006/relationships/notesMaster" Target="/ppt/notesMasters/notesMaster1.xml" Id="Rf04202953de3430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d8eec255d344625" /><Relationship Type="http://schemas.openxmlformats.org/officeDocument/2006/relationships/notesMaster" Target="/ppt/notesMasters/notesMaster1.xml" Id="R4e25f71510004a9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47767995e1b4af4" /><Relationship Type="http://schemas.openxmlformats.org/officeDocument/2006/relationships/notesMaster" Target="/ppt/notesMasters/notesMaster1.xml" Id="R6c69b22938be4ba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2387a8f280a4a91" /><Relationship Type="http://schemas.openxmlformats.org/officeDocument/2006/relationships/notesMaster" Target="/ppt/notesMasters/notesMaster1.xml" Id="Re6916b9bdbb147a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1c2bc0847084344" /><Relationship Type="http://schemas.openxmlformats.org/officeDocument/2006/relationships/notesMaster" Target="/ppt/notesMasters/notesMaster1.xml" Id="R580ad21b3d4f4f1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2294c48aed9426f" /><Relationship Type="http://schemas.openxmlformats.org/officeDocument/2006/relationships/notesMaster" Target="/ppt/notesMasters/notesMaster1.xml" Id="Rc3eea7c23f7a481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ad7635cfa174b8e" /><Relationship Type="http://schemas.openxmlformats.org/officeDocument/2006/relationships/notesMaster" Target="/ppt/notesMasters/notesMaster1.xml" Id="R030e933ec3d940a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c133ebd8d544816" /><Relationship Type="http://schemas.openxmlformats.org/officeDocument/2006/relationships/notesMaster" Target="/ppt/notesMasters/notesMaster1.xml" Id="R6be5b574901645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来源：README.md</a:t>
            </a:r>
          </a:p>
          <a:p xmlns:a="http://schemas.openxmlformats.org/drawingml/2006/main">
            <a:r>
              <a:t>仓库：https://github.com/justsoloking-blip/qwen-vl-32B-project</a:t>
            </a:r>
          </a:p>
          <a:p xmlns:a="http://schemas.openxmlformats.org/drawingml/2006/main">
            <a:r>
              <a:t>测试日期：2026-09-17。结论范围见仓库报告。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来源：benchmarks/results/before_cutover-baseline.json; benchmarks/results/deployed-baseline.json</a:t>
            </a:r>
          </a:p>
          <a:p xmlns:a="http://schemas.openxmlformats.org/drawingml/2006/main">
            <a:r>
              <a:t>仓库：https://github.com/justsoloking-blip/qwen-vl-32B-project</a:t>
            </a:r>
          </a:p>
          <a:p xmlns:a="http://schemas.openxmlformats.org/drawingml/2006/main">
            <a:r>
              <a:t>测试日期：2026-09-17。结论范围见仓库报告。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来源：environment/validated.json; docs/profiling-report.md</a:t>
            </a:r>
          </a:p>
          <a:p xmlns:a="http://schemas.openxmlformats.org/drawingml/2006/main">
            <a:r>
              <a:t>仓库：https://github.com/justsoloking-blip/qwen-vl-32B-project</a:t>
            </a:r>
          </a:p>
          <a:p xmlns:a="http://schemas.openxmlformats.org/drawingml/2006/main">
            <a:r>
              <a:t>测试日期：2026-09-17。结论范围见仓库报告。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来源：versions/provenance.json; README.md</a:t>
            </a:r>
          </a:p>
          <a:p xmlns:a="http://schemas.openxmlformats.org/drawingml/2006/main">
            <a:r>
              <a:t>仓库：https://github.com/justsoloking-blip/qwen-vl-32B-project</a:t>
            </a:r>
          </a:p>
          <a:p xmlns:a="http://schemas.openxmlformats.org/drawingml/2006/main">
            <a:r>
              <a:t>测试日期：2026-09-17。结论范围见仓库报告。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来源：patches/dp-attention.patch; tests/test_dp_mrope_padding.py</a:t>
            </a:r>
          </a:p>
          <a:p xmlns:a="http://schemas.openxmlformats.org/drawingml/2006/main">
            <a:r>
              <a:t>仓库：https://github.com/justsoloking-blip/qwen-vl-32B-project</a:t>
            </a:r>
          </a:p>
          <a:p xmlns:a="http://schemas.openxmlformats.org/drawingml/2006/main">
            <a:r>
              <a:t>测试日期：2026-09-17。结论范围见仓库报告。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来源：versions/dp-attention-fixed/src/sglang/srt/model_executor/forward_batch_info.py</a:t>
            </a:r>
          </a:p>
          <a:p xmlns:a="http://schemas.openxmlformats.org/drawingml/2006/main">
            <a:r>
              <a:t>仓库：https://github.com/justsoloking-blip/qwen-vl-32B-project</a:t>
            </a:r>
          </a:p>
          <a:p xmlns:a="http://schemas.openxmlformats.org/drawingml/2006/main">
            <a:r>
              <a:t>测试日期：2026-09-17。结论范围见仓库报告。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来源：docs/dp-attention-compatibility.md; patches/dp-attention.patch</a:t>
            </a:r>
          </a:p>
          <a:p xmlns:a="http://schemas.openxmlformats.org/drawingml/2006/main">
            <a:r>
              <a:t>仓库：https://github.com/justsoloking-blip/qwen-vl-32B-project</a:t>
            </a:r>
          </a:p>
          <a:p xmlns:a="http://schemas.openxmlformats.org/drawingml/2006/main">
            <a:r>
              <a:t>测试日期：2026-09-17。结论范围见仓库报告。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来源：versions/dp-attention-fixed/src/sglang/srt/models/qwen3_vl.py</a:t>
            </a:r>
          </a:p>
          <a:p xmlns:a="http://schemas.openxmlformats.org/drawingml/2006/main">
            <a:r>
              <a:t>仓库：https://github.com/justsoloking-blip/qwen-vl-32B-project</a:t>
            </a:r>
          </a:p>
          <a:p xmlns:a="http://schemas.openxmlformats.org/drawingml/2006/main">
            <a:r>
              <a:t>测试日期：2026-09-17。结论范围见仓库报告。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来源：tests/test_dp_mrope_padding.py; tests/test_dp_vision_dispatch.py; benchmarks/results/DP-Attention验证结果.json</a:t>
            </a:r>
          </a:p>
          <a:p xmlns:a="http://schemas.openxmlformats.org/drawingml/2006/main">
            <a:r>
              <a:t>仓库：https://github.com/justsoloking-blip/qwen-vl-32B-project</a:t>
            </a:r>
          </a:p>
          <a:p xmlns:a="http://schemas.openxmlformats.org/drawingml/2006/main">
            <a:r>
              <a:t>测试日期：2026-09-17。结论范围见仓库报告。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来源：benchmarks/opt_probe.py; benchmarks/analyze_traces.py</a:t>
            </a:r>
          </a:p>
          <a:p xmlns:a="http://schemas.openxmlformats.org/drawingml/2006/main">
            <a:r>
              <a:t>仓库：https://github.com/justsoloking-blip/qwen-vl-32B-project</a:t>
            </a:r>
          </a:p>
          <a:p xmlns:a="http://schemas.openxmlformats.org/drawingml/2006/main">
            <a:r>
              <a:t>测试日期：2026-09-17。结论范围见仓库报告。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来源：evidence/profiling/analysis/trace-summary.json; evidence/optimization/analysis/trace-summary.json</a:t>
            </a:r>
          </a:p>
          <a:p xmlns:a="http://schemas.openxmlformats.org/drawingml/2006/main">
            <a:r>
              <a:t>仓库：https://github.com/justsoloking-blip/qwen-vl-32B-project</a:t>
            </a:r>
          </a:p>
          <a:p xmlns:a="http://schemas.openxmlformats.org/drawingml/2006/main">
            <a:r>
              <a:t>测试日期：2026-09-17。结论范围见仓库报告。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来源：benchmarks/results/benchmark-summary.json</a:t>
            </a:r>
          </a:p>
          <a:p xmlns:a="http://schemas.openxmlformats.org/drawingml/2006/main">
            <a:r>
              <a:t>仓库：https://github.com/justsoloking-blip/qwen-vl-32B-project</a:t>
            </a:r>
          </a:p>
          <a:p xmlns:a="http://schemas.openxmlformats.org/drawingml/2006/main">
            <a:r>
              <a:t>测试日期：2026-09-17。结论范围见仓库报告。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来源：evidence/optimization/analysis/trace-summary.json; evidence/profiling/analysis/trace-summary.json</a:t>
            </a:r>
          </a:p>
          <a:p xmlns:a="http://schemas.openxmlformats.org/drawingml/2006/main">
            <a:r>
              <a:t>仓库：https://github.com/justsoloking-blip/qwen-vl-32B-project</a:t>
            </a:r>
          </a:p>
          <a:p xmlns:a="http://schemas.openxmlformats.org/drawingml/2006/main">
            <a:r>
              <a:t>测试日期：2026-09-17。结论范围见仓库报告。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来源：benchmarks/results/benchmark-summary.json; evidence/optimization/analysis/memcpy-summary.json</a:t>
            </a:r>
          </a:p>
          <a:p xmlns:a="http://schemas.openxmlformats.org/drawingml/2006/main">
            <a:r>
              <a:t>仓库：https://github.com/justsoloking-blip/qwen-vl-32B-project</a:t>
            </a:r>
          </a:p>
          <a:p xmlns:a="http://schemas.openxmlformats.org/drawingml/2006/main">
            <a:r>
              <a:t>测试日期：2026-09-17。结论范围见仓库报告。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来源：patches/piecewise-static-shape.patch; benchmarks/results/benchmark-summary.json</a:t>
            </a:r>
          </a:p>
          <a:p xmlns:a="http://schemas.openxmlformats.org/drawingml/2006/main">
            <a:r>
              <a:t>仓库：https://github.com/justsoloking-blip/qwen-vl-32B-project</a:t>
            </a:r>
          </a:p>
          <a:p xmlns:a="http://schemas.openxmlformats.org/drawingml/2006/main">
            <a:r>
              <a:t>测试日期：2026-09-17。结论范围见仓库报告。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来源：experiments/fused_qk_mrope.py; benchmarks/results/fused-kernel-test.json</a:t>
            </a:r>
          </a:p>
          <a:p xmlns:a="http://schemas.openxmlformats.org/drawingml/2006/main">
            <a:r>
              <a:t>仓库：https://github.com/justsoloking-blip/qwen-vl-32B-project</a:t>
            </a:r>
          </a:p>
          <a:p xmlns:a="http://schemas.openxmlformats.org/drawingml/2006/main">
            <a:r>
              <a:t>测试日期：2026-09-17。结论范围见仓库报告。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来源：patches/fp8-scale-layout.patch; benchmarks/results/fp8-fixed-baseline.json</a:t>
            </a:r>
          </a:p>
          <a:p xmlns:a="http://schemas.openxmlformats.org/drawingml/2006/main">
            <a:r>
              <a:t>仓库：https://github.com/justsoloking-blip/qwen-vl-32B-project</a:t>
            </a:r>
          </a:p>
          <a:p xmlns:a="http://schemas.openxmlformats.org/drawingml/2006/main">
            <a:r>
              <a:t>测试日期：2026-09-17。结论范围见仓库报告。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来源：versions/optimized/config.json</a:t>
            </a:r>
          </a:p>
          <a:p xmlns:a="http://schemas.openxmlformats.org/drawingml/2006/main">
            <a:r>
              <a:t>仓库：https://github.com/justsoloking-blip/qwen-vl-32B-project</a:t>
            </a:r>
          </a:p>
          <a:p xmlns:a="http://schemas.openxmlformats.org/drawingml/2006/main">
            <a:r>
              <a:t>测试日期：2026-09-17。结论范围见仓库报告。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来源：benchmarks/results/deployed-functional.json; benchmarks/results/deployed-pipeline.json; benchmarks/results/deployed-quality.json</a:t>
            </a:r>
          </a:p>
          <a:p xmlns:a="http://schemas.openxmlformats.org/drawingml/2006/main">
            <a:r>
              <a:t>仓库：https://github.com/justsoloking-blip/qwen-vl-32B-project</a:t>
            </a:r>
          </a:p>
          <a:p xmlns:a="http://schemas.openxmlformats.org/drawingml/2006/main">
            <a:r>
              <a:t>测试日期：2026-09-17。结论范围见仓库报告。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来源：README.md; scripts/prepare_runtime.py; docs/dp-attention-compatibility.md</a:t>
            </a:r>
          </a:p>
          <a:p xmlns:a="http://schemas.openxmlformats.org/drawingml/2006/main">
            <a:r>
              <a:t>仓库：https://github.com/justsoloking-blip/qwen-vl-32B-project</a:t>
            </a:r>
          </a:p>
          <a:p xmlns:a="http://schemas.openxmlformats.org/drawingml/2006/main">
            <a:r>
              <a:t>测试日期：2026-09-17。结论范围见仓库报告。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29d2531cfd48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01122e5a0e4796" /><Relationship Type="http://schemas.openxmlformats.org/officeDocument/2006/relationships/slideLayout" Target="/ppt/slideLayouts/slideLayout1.xml" Id="R9638774bcfff4c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38774bcfff4c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08b061e0df4e8d" /><Relationship Type="http://schemas.openxmlformats.org/officeDocument/2006/relationships/notesSlide" Target="/ppt/notesSlides/notesSlide1.xml" Id="R86f36c3db1eb43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3b958cfc724a2e" /><Relationship Type="http://schemas.openxmlformats.org/officeDocument/2006/relationships/notesSlide" Target="/ppt/notesSlides/notesSlide2.xml" Id="R1c1232cc030c4a4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72fcbf38da4c74" /><Relationship Type="http://schemas.openxmlformats.org/officeDocument/2006/relationships/notesSlide" Target="/ppt/notesSlides/notesSlide3.xml" Id="Rdc8ae7f0632543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67295011f14e48" /><Relationship Type="http://schemas.openxmlformats.org/officeDocument/2006/relationships/notesSlide" Target="/ppt/notesSlides/notesSlide4.xml" Id="R85a4e1113b5141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b8d264c10c479f" /><Relationship Type="http://schemas.openxmlformats.org/officeDocument/2006/relationships/notesSlide" Target="/ppt/notesSlides/notesSlide5.xml" Id="Rd05355f89c4846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ed4343d5394edf" /><Relationship Type="http://schemas.openxmlformats.org/officeDocument/2006/relationships/notesSlide" Target="/ppt/notesSlides/notesSlide6.xml" Id="R522c3293186641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2ac4f4ae104eb2" /><Relationship Type="http://schemas.openxmlformats.org/officeDocument/2006/relationships/notesSlide" Target="/ppt/notesSlides/notesSlide7.xml" Id="R4a1c5b0627574eb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a4777813684bc6" /><Relationship Type="http://schemas.openxmlformats.org/officeDocument/2006/relationships/notesSlide" Target="/ppt/notesSlides/notesSlide8.xml" Id="Rbc07057ed59a402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a3befeb6c743b8" /><Relationship Type="http://schemas.openxmlformats.org/officeDocument/2006/relationships/notesSlide" Target="/ppt/notesSlides/notesSlide9.xml" Id="R4329ab216bb34b8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040330dd7c4dd9" /><Relationship Type="http://schemas.openxmlformats.org/officeDocument/2006/relationships/notesSlide" Target="/ppt/notesSlides/notesSlide10.xml" Id="R8e35cd5530e348e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f0c052154c442d" /><Relationship Type="http://schemas.openxmlformats.org/officeDocument/2006/relationships/chart" Target="/ppt/slides/charts/chart1.xml" Id="R40f1f847da124e6c" /><Relationship Type="http://schemas.openxmlformats.org/officeDocument/2006/relationships/notesSlide" Target="/ppt/notesSlides/notesSlide11.xml" Id="R2e3ffa283f444ec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d1d35603b1410b" /><Relationship Type="http://schemas.openxmlformats.org/officeDocument/2006/relationships/chart" Target="/ppt/slides/charts/chart2.xml" Id="R3a70975df97046dc" /><Relationship Type="http://schemas.openxmlformats.org/officeDocument/2006/relationships/notesSlide" Target="/ppt/notesSlides/notesSlide12.xml" Id="R3ae871c09be848e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f3e39346a84229" /><Relationship Type="http://schemas.openxmlformats.org/officeDocument/2006/relationships/chart" Target="/ppt/slides/charts/chart3.xml" Id="R211ad66968aa4535" /><Relationship Type="http://schemas.openxmlformats.org/officeDocument/2006/relationships/notesSlide" Target="/ppt/notesSlides/notesSlide13.xml" Id="R022eddb198b14af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30c95a4f242d9" /><Relationship Type="http://schemas.openxmlformats.org/officeDocument/2006/relationships/chart" Target="/ppt/slides/charts/chart4.xml" Id="R9d6fa4b712974bd9" /><Relationship Type="http://schemas.openxmlformats.org/officeDocument/2006/relationships/notesSlide" Target="/ppt/notesSlides/notesSlide14.xml" Id="Rf70cbec97eb0480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a15f6c04314367" /><Relationship Type="http://schemas.openxmlformats.org/officeDocument/2006/relationships/notesSlide" Target="/ppt/notesSlides/notesSlide15.xml" Id="R22d7cecb82ef473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97353e557b4225" /><Relationship Type="http://schemas.openxmlformats.org/officeDocument/2006/relationships/chart" Target="/ppt/slides/charts/chart5.xml" Id="Re60bc590aad64761" /><Relationship Type="http://schemas.openxmlformats.org/officeDocument/2006/relationships/notesSlide" Target="/ppt/notesSlides/notesSlide16.xml" Id="Rf99abf4639fd4f5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cdd590bf574cb0" /><Relationship Type="http://schemas.openxmlformats.org/officeDocument/2006/relationships/notesSlide" Target="/ppt/notesSlides/notesSlide17.xml" Id="Rd78c3aa69f1c426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90c52dff82494b" /><Relationship Type="http://schemas.openxmlformats.org/officeDocument/2006/relationships/notesSlide" Target="/ppt/notesSlides/notesSlide18.xml" Id="R7320b5661989483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379fde4a3747c6" /><Relationship Type="http://schemas.openxmlformats.org/officeDocument/2006/relationships/notesSlide" Target="/ppt/notesSlides/notesSlide19.xml" Id="R86d3739f9d4d411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461c2bcd0649ca" /><Relationship Type="http://schemas.openxmlformats.org/officeDocument/2006/relationships/notesSlide" Target="/ppt/notesSlides/notesSlide20.xml" Id="Rc9edad8bb3c3489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占比 %</c:v>
          </c:tx>
          <c:spPr>
            <a:solidFill xmlns:a="http://schemas.openxmlformats.org/drawingml/2006/main">
              <a:srgbClr val="0B7285"/>
            </a:solidFill>
          </c:spPr>
          <c:cat>
            <c:strRef>
              <c:f>'Chart Data'!$A$2:$A$4</c:f>
              <c:strCache>
                <c:ptCount val="3"/>
                <c:pt idx="0">
                  <c:v>GEMM</c:v>
                </c:pt>
                <c:pt idx="1">
                  <c:v>通信</c:v>
                </c:pt>
                <c:pt idx="2">
                  <c:v>其他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71.7</c:v>
                </c:pt>
                <c:pt idx="1">
                  <c:v>9.5</c:v>
                </c:pt>
                <c:pt idx="2">
                  <c:v>18.8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PingFang SC"/>
                  <a:ea typeface="PingFang SC"/>
                  <a:cs typeface="PingFang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ms/token</c:v>
          </c:tx>
          <c:spPr>
            <a:solidFill xmlns:a="http://schemas.openxmlformats.org/drawingml/2006/main">
              <a:srgbClr val="0B7285"/>
            </a:solidFill>
          </c:spPr>
          <c:cat>
            <c:strRef>
              <c:f>'Chart Data'!$A$2:$A$4</c:f>
              <c:strCache>
                <c:ptCount val="3"/>
                <c:pt idx="0">
                  <c:v>DP2 Attention</c:v>
                </c:pt>
                <c:pt idx="1">
                  <c:v>普通 TP2</c:v>
                </c:pt>
                <c:pt idx="2">
                  <c:v>TP2 + compile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15.07</c:v>
                </c:pt>
                <c:pt idx="1">
                  <c:v>12.35</c:v>
                </c:pt>
                <c:pt idx="2">
                  <c:v>11.88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PingFang SC"/>
                  <a:ea typeface="PingFang SC"/>
                  <a:cs typeface="PingFang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kernel / step</c:v>
          </c:tx>
          <c:spPr>
            <a:solidFill xmlns:a="http://schemas.openxmlformats.org/drawingml/2006/main">
              <a:srgbClr val="0B7285"/>
            </a:solidFill>
          </c:spPr>
          <c:cat>
            <c:strRef>
              <c:f>'Chart Data'!$A$2:$A$4</c:f>
              <c:strCache>
                <c:ptCount val="3"/>
                <c:pt idx="0">
                  <c:v>普通 TP2</c:v>
                </c:pt>
                <c:pt idx="1">
                  <c:v>通信融合</c:v>
                </c:pt>
                <c:pt idx="2">
                  <c:v>compile + 融合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1353</c:v>
                </c:pt>
                <c:pt idx="1">
                  <c:v>1289</c:v>
                </c:pt>
                <c:pt idx="2">
                  <c:v>1158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PingFang SC"/>
                  <a:ea typeface="PingFang SC"/>
                  <a:cs typeface="PingFang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TTFT ms</c:v>
          </c:tx>
          <c:spPr>
            <a:solidFill xmlns:a="http://schemas.openxmlformats.org/drawingml/2006/main">
              <a:srgbClr val="0B7285"/>
            </a:solidFill>
          </c:spPr>
          <c:cat>
            <c:strRef>
              <c:f>'Chart Data'!$A$2:$A$4</c:f>
              <c:strCache>
                <c:ptCount val="3"/>
                <c:pt idx="0">
                  <c:v>compile</c:v>
                </c:pt>
                <c:pt idx="1">
                  <c:v>仅 keep-device</c:v>
                </c:pt>
                <c:pt idx="2">
                  <c:v>显式 IPC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252.2</c:v>
                </c:pt>
                <c:pt idx="1">
                  <c:v>289.7</c:v>
                </c:pt>
                <c:pt idx="2">
                  <c:v>109.2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PingFang SC"/>
                  <a:ea typeface="PingFang SC"/>
                  <a:cs typeface="PingFang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μs</c:v>
          </c:tx>
          <c:spPr>
            <a:solidFill xmlns:a="http://schemas.openxmlformats.org/drawingml/2006/main">
              <a:srgbClr val="0B7285"/>
            </a:solidFill>
          </c:spPr>
          <c:cat>
            <c:strRef>
              <c:f>'Chart Data'!$A$2:$A$3</c:f>
              <c:strCache>
                <c:ptCount val="2"/>
                <c:pt idx="0">
                  <c:v>原实现</c:v>
                </c:pt>
                <c:pt idx="1">
                  <c:v>Triton 融合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9.55</c:v>
                </c:pt>
                <c:pt idx="1">
                  <c:v>1.71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PingFang SC"/>
                  <a:ea typeface="PingFang SC"/>
                  <a:cs typeface="PingFang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C1D5DC-B388-4D16-A2C7-C7414149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Qwen3-VL-32B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506B41-528A-4D62-80BA-D42C5BF7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B7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86B7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5EE6DB-ABED-41ED-A4AC-AD49D8C9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10953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DP Attention 兼容性修复</a:t>
            </a:r>
          </a:p>
          <a:p xmlns:a="http://schemas.openxmlformats.org/drawingml/2006/main">
            <a:pPr>
              <a:defRPr sz="4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与推理性能优化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47E616-CF11-4798-98C9-1AB646A4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C3D8E7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C3D8E7"/>
                </a:solidFill>
                <a:latin typeface="PingFang SC"/>
                <a:ea typeface="PingFang SC"/>
                <a:cs typeface="PingFang SC"/>
              </a:rPr>
              <a:t>实际部署、代码修复与 PyTorch Profiler 证据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EC5403-E809-49B5-899C-C3F46488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8640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C3D8E7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C3D8E7"/>
                </a:solidFill>
                <a:latin typeface="PingFang SC"/>
                <a:ea typeface="PingFang SC"/>
                <a:cs typeface="PingFang SC"/>
              </a:rPr>
              <a:t>SGLang 0.5.6.post2   H200 ×2   BF16</a:t>
            </a:r>
          </a:p>
          <a:p xmlns:a="http://schemas.openxmlformats.org/drawingml/2006/main">
            <a:pPr>
              <a:defRPr sz="1800" b="0">
                <a:solidFill>
                  <a:srgbClr val="C3D8E7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C3D8E7"/>
                </a:solidFill>
                <a:latin typeface="PingFang SC"/>
                <a:ea typeface="PingFang SC"/>
                <a:cs typeface="PingFang SC"/>
              </a:rPr>
              <a:t>2026 年 9 月</a:t>
            </a:r>
          </a:p>
        </p:txBody>
      </p:sp>
    </p:spTree>
    <p:extLst>
      <p:ext uri="{BB962C8B-B14F-4D97-AF65-F5344CB8AC3E}">
        <p14:creationId xmlns:p14="http://schemas.microsoft.com/office/powerpoint/2010/main" val="15475363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572443-EEF4-4D72-94B2-244A106D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最终主服务的性能结果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2A9E0A-1445-4A46-B995-00A383F8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6B7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86B7F"/>
                </a:solidFill>
                <a:latin typeface="PingFang SC"/>
                <a:ea typeface="PingFang SC"/>
                <a:cs typeface="PingFang SC"/>
              </a:rPr>
              <a:t>同一 GPU 0/1，优化前后各 5 轮，无 profiler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6E672D-32BB-4C10-B214-9A09C6B3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B7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86B7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19125" y="1809750"/>
          <a:ext xmlns:a="http://schemas.openxmlformats.org/drawingml/2006/main" cx="109347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2857500"/>
                <a:gridCol w="2857500"/>
                <a:gridCol w="2076450"/>
              </a:tblGrid>
              <a:tr h="6858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B728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B728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优化前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B728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优化后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B728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变化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短文本 decode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15.03 ms/token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11.25 ms/token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−25.1%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单图首 token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254.87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110.92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−56.5%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 并发吞吐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447.48 token/s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572.04 token/s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+27.8%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约 4K 首 token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322.50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252.07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−21.8%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EF8A68-8579-4E96-9177-4A83D398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86B7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86B7F"/>
                </a:solidFill>
                <a:latin typeface="PingFang SC"/>
                <a:ea typeface="PingFang SC"/>
                <a:cs typeface="PingFang SC"/>
              </a:rPr>
              <a:t>合成文本和 1024 方图，固定输出 128 token。8 并发首 token 仅改善约 1.6%。</a:t>
            </a:r>
          </a:p>
        </p:txBody>
      </p:sp>
    </p:spTree>
    <p:extLst>
      <p:ext uri="{BB962C8B-B14F-4D97-AF65-F5344CB8AC3E}">
        <p14:creationId xmlns:p14="http://schemas.microsoft.com/office/powerpoint/2010/main" val="14350549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F099D2-8A49-4BE7-85B0-7C0EFF84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模型与测试环境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463BEF-9B77-474B-A666-3C5027DD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B7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86B7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19125" y="1571625"/>
          <a:ext xmlns:a="http://schemas.openxmlformats.org/drawingml/2006/main" cx="109347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600950"/>
              </a:tblGrid>
              <a:tr h="612321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B728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项目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B728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实测环境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Qwen3-VL-32B-Instruct，稠密结构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语言模型 / 视觉编码器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64 层 LLM / 27 层 ViT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推理运行时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SGLang 0.5.6.post2，PyTorch 2.9.1+cu128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硬件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两张 NVIDIA H200，NVLink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共同约束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BF16，32K 上下文，全局最大并发 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结构说明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 MoE、非 GDN，使用 MRoPE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04448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46CEC5-CEC7-4CBB-886A-C3A2B438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三个可追溯的工程版本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869A8C-1362-4524-B11B-88931CC3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B7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86B7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19125" y="1809750"/>
          <a:ext xmlns:a="http://schemas.openxmlformats.org/drawingml/2006/main" cx="109347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905250"/>
                <a:gridCol w="4171950"/>
              </a:tblGrid>
              <a:tr h="6786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B728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版本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B728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用途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B728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主要配置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original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最初部署与原始源文件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TP1，未修复 DP 兼容性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dp-attention-fixed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正确性修复后的性能基线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TP2 / DP2，DP Attention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optimized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最终性能优化版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TP2 / DP1，compile、融合、IPC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3F1EB6-5199-47ED-8DB6-55D0B42D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性能收益比较使用双卡 DP 修复版作为基线，</a:t>
            </a:r>
          </a:p>
          <a:p xmlns:a="http://schemas.openxmlformats.org/drawingml/2006/main">
            <a:pPr>
              <a:defRPr sz="2175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没有把最初单卡与最终双卡直接计算成加速比。</a:t>
            </a:r>
          </a:p>
        </p:txBody>
      </p:sp>
    </p:spTree>
    <p:extLst>
      <p:ext uri="{BB962C8B-B14F-4D97-AF65-F5344CB8AC3E}">
        <p14:creationId xmlns:p14="http://schemas.microsoft.com/office/powerpoint/2010/main" val="10620441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ED711D-9226-4D36-9ABE-E7E7C3D7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问题一：MRoPE 补齐的维度错误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A094BD-EFB7-4FEC-92FA-BBCD85DD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6B7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86B7F"/>
                </a:solidFill>
                <a:latin typeface="PingFang SC"/>
                <a:ea typeface="PingFang SC"/>
                <a:cs typeface="PingFang SC"/>
              </a:rPr>
              <a:t>实际位置张量为 [3, token 数]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9AE8F2-51C3-463C-9919-0C65FA6A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B7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86B7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705AC2-F083-4DA4-9240-A2C890D0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B7285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7285"/>
                </a:solidFill>
                <a:latin typeface="PingFang SC"/>
                <a:ea typeface="PingFang SC"/>
                <a:cs typeface="PingFang SC"/>
              </a:rPr>
              <a:t>原实现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DA3FC3-437E-4517-9436-E037091F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1057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self._pad_tensor_to_size(</a:t>
            </a:r>
          </a:p>
          <a:p xmlns:a="http://schemas.openxmlformats.org/drawingml/2006/main">
            <a:pPr>
              <a:defRPr sz="2250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    self.mrope_positions, bs</a:t>
            </a:r>
          </a:p>
          <a:p xmlns:a="http://schemas.openxmlformats.org/drawingml/2006/main">
            <a:pPr>
              <a:defRPr sz="2250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5F1E2F-20F2-417F-B360-36558EED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第 0 维是三个坐标轴，却被当作 batch 维。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6BE106-F798-46BE-866E-5AC5F21B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目标用了 batch size，而非需要补齐的 token 数。</a:t>
            </a:r>
          </a:p>
        </p:txBody>
      </p:sp>
    </p:spTree>
    <p:extLst>
      <p:ext uri="{BB962C8B-B14F-4D97-AF65-F5344CB8AC3E}">
        <p14:creationId xmlns:p14="http://schemas.microsoft.com/office/powerpoint/2010/main" val="5158053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F28851-DEEB-470C-8964-357D2B56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修复一：只补齐最后的 token 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E47666-4C04-43E4-8C23-03CBC347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B7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86B7F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7F79F3-0117-457B-9078-C62BBC79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10953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torch.nn.functional.pad(</a:t>
            </a:r>
          </a:p>
          <a:p xmlns:a="http://schemas.openxmlformats.org/drawingml/2006/main">
            <a:pPr>
              <a:defRPr sz="2100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    self.mrope_positions,</a:t>
            </a:r>
          </a:p>
          <a:p xmlns:a="http://schemas.openxmlformats.org/drawingml/2006/main">
            <a:pPr>
              <a:defRPr sz="2100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    (0, num_tokens - self.mrope_positions.shape[1]),</a:t>
            </a:r>
          </a:p>
          <a:p xmlns:a="http://schemas.openxmlformats.org/drawingml/2006/main">
            <a:pPr>
              <a:defRPr sz="2100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725152-DED3-4251-865D-7A185B9A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285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B7285"/>
                </a:solidFill>
                <a:latin typeface="PingFang SC"/>
                <a:ea typeface="PingFang SC"/>
                <a:cs typeface="PingFang SC"/>
              </a:rPr>
              <a:t>结果保持 [3, num_tokens]，原有位置不变，新增区域填零。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4F428B-0142-475E-9CFA-B5B7E9BB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86B7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86B7F"/>
                </a:solidFill>
                <a:latin typeface="PingFang SC"/>
                <a:ea typeface="PingFang SC"/>
                <a:cs typeface="PingFang SC"/>
              </a:rPr>
              <a:t>五个真实方法回归：原始失败、prefill、decode、idle rank、多请求。</a:t>
            </a:r>
          </a:p>
          <a:p xmlns:a="http://schemas.openxmlformats.org/drawingml/2006/main">
            <a:pPr>
              <a:defRPr sz="1875" b="0">
                <a:solidFill>
                  <a:srgbClr val="586B7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86B7F"/>
                </a:solidFill>
                <a:latin typeface="PingFang SC"/>
                <a:ea typeface="PingFang SC"/>
                <a:cs typeface="PingFang SC"/>
              </a:rPr>
              <a:t>原实现五项失败，修复后五项通过。</a:t>
            </a:r>
          </a:p>
        </p:txBody>
      </p:sp>
    </p:spTree>
    <p:extLst>
      <p:ext uri="{BB962C8B-B14F-4D97-AF65-F5344CB8AC3E}">
        <p14:creationId xmlns:p14="http://schemas.microsoft.com/office/powerpoint/2010/main" val="13844390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43E12B-07A7-46BA-8865-335FA811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问题二：视觉与语言模型通信错位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81B1D4-567C-41A5-8FEB-F5C56367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B7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86B7F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BE722A-43AC-45D4-8443-FA16AE8C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0763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DP rank 0 可能处理图片，rank 1 可能只有文本或处于空闲。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B0E940-2B8A-4A68-A9AA-3875664D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10763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原视觉编码器仍在共享 TP 组上执行 collective。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F5173A-460C-47F6-BF49-E5CAD8DC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76675"/>
            <a:ext cx="10763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另一 rank 可能已进入语言模型 FFN，通信调用序列不匹配。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78A0B5-A518-4517-B737-7B55CED0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33950"/>
            <a:ext cx="10763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关闭 custom all-reduce 无法修复参与集合不一致。</a:t>
            </a:r>
          </a:p>
        </p:txBody>
      </p:sp>
    </p:spTree>
    <p:extLst>
      <p:ext uri="{BB962C8B-B14F-4D97-AF65-F5344CB8AC3E}">
        <p14:creationId xmlns:p14="http://schemas.microsoft.com/office/powerpoint/2010/main" val="3851570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2516DE-5DB9-4D64-8E9D-BC63E860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修复二：每个 DP rank 独立运行视觉编码器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426964-376A-4110-AA49-C2636792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B7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86B7F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B3D5DF-E9D6-4BAC-958F-789AA1B6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5850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use_data_parallel = (</a:t>
            </a:r>
          </a:p>
          <a:p xmlns:a="http://schemas.openxmlformats.org/drawingml/2006/main">
            <a:pPr>
              <a:defRPr sz="1950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    mm_enable_dp_encoder or is_dp_attention_enabled()</a:t>
            </a:r>
          </a:p>
          <a:p xmlns:a="http://schemas.openxmlformats.org/drawingml/2006/main">
            <a:pPr>
              <a:defRPr sz="1950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if use_data_parallel and not is_dp_attention_enabled():</a:t>
            </a:r>
          </a:p>
          <a:p xmlns:a="http://schemas.openxmlformats.org/drawingml/2006/main">
            <a:pPr>
              <a:defRPr sz="1950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    run_dp_sharded_mrope_vision_model(...)</a:t>
            </a:r>
          </a:p>
          <a:p xmlns:a="http://schemas.openxmlformats.org/drawingml/2006/main">
            <a:pPr>
              <a:defRPr sz="1950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else:</a:t>
            </a:r>
          </a:p>
          <a:p xmlns:a="http://schemas.openxmlformats.org/drawingml/2006/main">
            <a:pPr>
              <a:defRPr sz="1950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    self.visual(...)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3596AA-E7A1-4972-9566-567EA73B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B7285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B7285"/>
                </a:solidFill>
                <a:latin typeface="PingFang SC"/>
                <a:ea typeface="PingFang SC"/>
                <a:cs typeface="PingFang SC"/>
              </a:rPr>
              <a:t>DP Attention 下复制完整视觉权重，图像与视频走本地分支。</a:t>
            </a:r>
          </a:p>
          <a:p xmlns:a="http://schemas.openxmlformats.org/drawingml/2006/main">
            <a:pPr>
              <a:defRPr sz="1875" b="0">
                <a:solidFill>
                  <a:srgbClr val="0B7285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B7285"/>
                </a:solidFill>
                <a:latin typeface="PingFang SC"/>
                <a:ea typeface="PingFang SC"/>
                <a:cs typeface="PingFang SC"/>
              </a:rPr>
              <a:t>语言模型 FFN 仍使用 TP，非 DP Attention 的原视觉分片路径保留。</a:t>
            </a:r>
          </a:p>
        </p:txBody>
      </p:sp>
    </p:spTree>
    <p:extLst>
      <p:ext uri="{BB962C8B-B14F-4D97-AF65-F5344CB8AC3E}">
        <p14:creationId xmlns:p14="http://schemas.microsoft.com/office/powerpoint/2010/main" val="18777173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049851-2BA9-4388-BCFB-788CA4DA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DP Attention 修复的验证范围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0A5955-2D10-4547-872D-816CBAB4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B7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86B7F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19125" y="1714500"/>
          <a:ext xmlns:a="http://schemas.openxmlformats.org/drawingml/2006/main" cx="109347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6096000"/>
                <a:gridCol w="2647950"/>
              </a:tblGrid>
              <a:tr h="642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B728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验证层级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B728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内容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B728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结果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源码回归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 项 MRoPE + 5 项视觉 dispatch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 项通过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混合接口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多图、不同尺寸、不等长文本，最多 8 并发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19 项通过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长文本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30,021 输入 token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正确返回指定数字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长图文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18,125 输入 token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正确识别颜色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视频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 秒红色变为蓝色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正确识别顺序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54038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F703ED-8B84-4B10-BD48-B30C9604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性能测量口径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8138D6-F618-42BE-B836-1169FABF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B7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86B7F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40300D-DFCD-4DD0-AD82-3CF4478C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短文本约 550 token，长文本约 4050 token，单图约 1075 token。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2615EF-3617-43CB-982C-07D13229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90825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每项预热，输出固定 128 token，nonce 降低长前缀命中。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5713AB-FDE6-4DF1-BA69-7896141C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TTFT 取首个非空流式 chunk，TPOT 覆盖至 HTTP 完成。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4284B1-5DB0-4327-905F-EA3DF803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86325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CPU + CUDA profiler 单独采样，不把采样延迟当成线上基准。</a:t>
            </a:r>
          </a:p>
        </p:txBody>
      </p:sp>
    </p:spTree>
    <p:extLst>
      <p:ext uri="{BB962C8B-B14F-4D97-AF65-F5344CB8AC3E}">
        <p14:creationId xmlns:p14="http://schemas.microsoft.com/office/powerpoint/2010/main" val="15410390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AA353E-82E5-454D-BA74-453613FE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基线热点与剩余空泡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5D532A-3F6D-45DA-A6ED-41A162B2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6B7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86B7F"/>
                </a:solidFill>
                <a:latin typeface="PingFang SC"/>
                <a:ea typeface="PingFang SC"/>
                <a:cs typeface="PingFang SC"/>
              </a:rPr>
              <a:t>原 DP Attention 的短文本 decode，GPU 0 kernel 时间和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274808-FB9F-474C-846A-ADB2107C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B7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86B7F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28650" y="1905000"/>
          <a:ext xmlns:a="http://schemas.openxmlformats.org/drawingml/2006/main" cx="7239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0f1f847da124e6c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132648-D78B-41AF-9195-9C811227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14550"/>
            <a:ext cx="314325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每步约 1620 个 kernel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短 prefill 存在 CPU dispatch</a:t>
            </a:r>
          </a:p>
          <a:p xmlns:a="http://schemas.openxmlformats.org/drawingml/2006/main">
            <a:pPr>
              <a:defRPr sz="2025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和 rank 同步等待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Profiler 空白区间</a:t>
            </a:r>
          </a:p>
          <a:p xmlns:a="http://schemas.openxmlformats.org/drawingml/2006/main">
            <a:pPr>
              <a:defRPr sz="2025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不等于 SM 空闲率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7C7683-6CDE-4E8E-A662-D7E3744A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86B7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86B7F"/>
                </a:solidFill>
                <a:latin typeface="PingFang SC"/>
                <a:ea typeface="PingFang SC"/>
                <a:cs typeface="PingFang SC"/>
              </a:rPr>
              <a:t>未采集 HBM / SM 硬件计数器，不能据此声称带宽饱和。</a:t>
            </a:r>
          </a:p>
        </p:txBody>
      </p:sp>
    </p:spTree>
    <p:extLst>
      <p:ext uri="{BB962C8B-B14F-4D97-AF65-F5344CB8AC3E}">
        <p14:creationId xmlns:p14="http://schemas.microsoft.com/office/powerpoint/2010/main" val="9231585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7E6D56-F2CB-4A52-AACF-2EB762F3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普通 TP2 与编译优化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5486D7-7E97-4452-9422-CF46CA9B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6B7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86B7F"/>
                </a:solidFill>
                <a:latin typeface="PingFang SC"/>
                <a:ea typeface="PingFang SC"/>
                <a:cs typeface="PingFang SC"/>
              </a:rPr>
              <a:t>短文本解码延迟，ms/token，数值越低越好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832009-893B-4B68-A097-580762A8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B7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86B7F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28650" y="1905000"/>
          <a:ext xmlns:a="http://schemas.openxmlformats.org/drawingml/2006/main" cx="7762875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a70975df97046dc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B4C0AB-D515-46BE-B496-8927D870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038350"/>
            <a:ext cx="2838450" cy="337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TP2 减少布局交换</a:t>
            </a:r>
          </a:p>
          <a:p xmlns:a="http://schemas.openxmlformats.org/drawingml/2006/main">
            <a:pPr>
              <a:defRPr sz="1950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和 idle rank 冗余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compile 编译 decode</a:t>
            </a:r>
          </a:p>
          <a:p xmlns:a="http://schemas.openxmlformats.org/drawingml/2006/main">
            <a:pPr>
              <a:defRPr sz="1950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预热 batch 1/2/4/8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原服务已有 CUDA Graph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D4F6A6-BB17-45D3-AD83-19487E2A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7217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86B7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86B7F"/>
                </a:solidFill>
                <a:latin typeface="PingFang SC"/>
                <a:ea typeface="PingFang SC"/>
                <a:cs typeface="PingFang SC"/>
              </a:rPr>
              <a:t>候选各 3 轮，DP 首次基线 5 轮。最终收益另用同卡切换前后 5 轮确认。</a:t>
            </a:r>
          </a:p>
        </p:txBody>
      </p:sp>
    </p:spTree>
    <p:extLst>
      <p:ext uri="{BB962C8B-B14F-4D97-AF65-F5344CB8AC3E}">
        <p14:creationId xmlns:p14="http://schemas.microsoft.com/office/powerpoint/2010/main" val="170059445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6A03C2-3713-4E73-9DBA-216EBE5C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通信融合降低每步 kernel 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51AC21-BB29-4FCA-BF03-38E2D7B4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B7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86B7F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628650" y="1905000"/>
          <a:ext xmlns:a="http://schemas.openxmlformats.org/drawingml/2006/main" cx="7667625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11ad66968aa4535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EA2DEA-A73A-4BD3-A66D-AFA853C9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047875"/>
            <a:ext cx="3000375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FlashInfer all-reduce 融合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单独开启收益较小</a:t>
            </a:r>
          </a:p>
          <a:p xmlns:a="http://schemas.openxmlformats.org/drawingml/2006/main">
            <a:pPr>
              <a:defRPr sz="1950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组合后 decode 约 11.29 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8 并发吞吐与</a:t>
            </a:r>
          </a:p>
          <a:p xmlns:a="http://schemas.openxmlformats.org/drawingml/2006/main">
            <a:pPr>
              <a:defRPr sz="1950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compile 单独开启接近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6B09D0-1CFE-41EA-A7AC-21DAC934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817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86B7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86B7F"/>
                </a:solidFill>
                <a:latin typeface="PingFang SC"/>
                <a:ea typeface="PingFang SC"/>
                <a:cs typeface="PingFang SC"/>
              </a:rPr>
              <a:t>kernel 数下降不代表延迟按相同比例下降，GEMM 和同步成本仍然存在。</a:t>
            </a:r>
          </a:p>
        </p:txBody>
      </p:sp>
    </p:spTree>
    <p:extLst>
      <p:ext uri="{BB962C8B-B14F-4D97-AF65-F5344CB8AC3E}">
        <p14:creationId xmlns:p14="http://schemas.microsoft.com/office/powerpoint/2010/main" val="180102795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AE66C9-95A6-4BF8-B6DC-7556E45E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显式 CUDA IPC 改善图像流水线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EACB3C-CD33-4496-B643-191824F5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6B7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86B7F"/>
                </a:solidFill>
                <a:latin typeface="PingFang SC"/>
                <a:ea typeface="PingFang SC"/>
                <a:cs typeface="PingFang SC"/>
              </a:rPr>
              <a:t>1024 方图首 token 延迟，ms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472F07-0098-4D65-A0D9-72857F18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B7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86B7F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28650" y="1905000"/>
          <a:ext xmlns:a="http://schemas.openxmlformats.org/drawingml/2006/main" cx="7239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d6fa4b712974bd9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EC8A1E-B3DA-4CF6-86E3-37A4F0D8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52625"/>
            <a:ext cx="3381375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24 MiB H→D 消失</a:t>
            </a:r>
          </a:p>
          <a:p xmlns:a="http://schemas.openxmlformats.org/drawingml/2006/main">
            <a:pPr>
              <a:defRPr sz="1950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另一 GPU 改为 P2P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仍有设备内部复制</a:t>
            </a:r>
          </a:p>
          <a:p xmlns:a="http://schemas.openxmlformats.org/drawingml/2006/main">
            <a:pPr>
              <a:defRPr sz="1950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并非全路径零拷贝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缓存与传输池</a:t>
            </a:r>
          </a:p>
          <a:p xmlns:a="http://schemas.openxmlformats.org/drawingml/2006/main">
            <a:pPr>
              <a:defRPr sz="1950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约增加 1.5 GiB 显存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4544C4-467D-49E3-836B-55F5E4F1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91225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86B7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86B7F"/>
                </a:solidFill>
                <a:latin typeface="PingFang SC"/>
                <a:ea typeface="PingFang SC"/>
                <a:cs typeface="PingFang SC"/>
              </a:rPr>
              <a:t>keep-mm-feature-on-device 配合 SGLANG_USE_CUDA_IPC_TRANSPORT=1。</a:t>
            </a:r>
          </a:p>
        </p:txBody>
      </p:sp>
    </p:spTree>
    <p:extLst>
      <p:ext uri="{BB962C8B-B14F-4D97-AF65-F5344CB8AC3E}">
        <p14:creationId xmlns:p14="http://schemas.microsoft.com/office/powerpoint/2010/main" val="159216195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944055-501B-4C1C-8BFF-91FB9121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Piecewise Graph：修复后仍有延迟回退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A34614-9BCA-4207-8C08-BC152B63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B7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86B7F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852ACF-B82A-46C3-B652-7A9F5811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28775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静态分区没有符号 shape 时，原逻辑索引空列表。</a:t>
            </a:r>
          </a:p>
          <a:p xmlns:a="http://schemas.openxmlformats.org/drawingml/2006/main">
            <a:pPr>
              <a:defRPr sz="2100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修复为返回通用编译图，再捕获 token 分桶。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19125" y="2971800"/>
          <a:ext xmlns:a="http://schemas.openxmlformats.org/drawingml/2006/main" cx="10934700" cy="2047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3381375"/>
                <a:gridCol w="3457575"/>
              </a:tblGrid>
              <a:tr h="6826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0B728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配置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0B728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短文本 TTFT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0B728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单图 TTFT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普通 TP2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54.5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265.0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Piecewise 修复后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76.4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322.3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327D4D-BA13-4D8E-AE9C-A28ACEDE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721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86B7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86B7F"/>
                </a:solidFill>
                <a:latin typeface="PingFang SC"/>
                <a:ea typeface="PingFang SC"/>
                <a:cs typeface="PingFang SC"/>
              </a:rPr>
              <a:t>19 项图文检查通过，但性能回退，因此未采用。</a:t>
            </a:r>
          </a:p>
          <a:p xmlns:a="http://schemas.openxmlformats.org/drawingml/2006/main">
            <a:pPr>
              <a:defRPr sz="1875" b="0">
                <a:solidFill>
                  <a:srgbClr val="586B7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86B7F"/>
                </a:solidFill>
                <a:latin typeface="PingFang SC"/>
                <a:ea typeface="PingFang SC"/>
                <a:cs typeface="PingFang SC"/>
              </a:rPr>
              <a:t>分桶 padding 和静态回退的单独贡献尚未做归因实验。</a:t>
            </a:r>
          </a:p>
        </p:txBody>
      </p:sp>
    </p:spTree>
    <p:extLst>
      <p:ext uri="{BB962C8B-B14F-4D97-AF65-F5344CB8AC3E}">
        <p14:creationId xmlns:p14="http://schemas.microsoft.com/office/powerpoint/2010/main" val="171638519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1CCA86-4F7C-46CA-8A0D-91C36D0B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QK Norm + MRoPE 自定义融合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D70A17-2F21-4E62-8AEC-00F07000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6B7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86B7F"/>
                </a:solidFill>
                <a:latin typeface="PingFang SC"/>
                <a:ea typeface="PingFang SC"/>
                <a:cs typeface="PingFang SC"/>
              </a:rPr>
              <a:t>TP2 单 token 微基准，μs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ED6759-CC73-4E2F-AE41-4E64EDAE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B7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86B7F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28650" y="1905000"/>
          <a:ext xmlns:a="http://schemas.openxmlformats.org/drawingml/2006/main" cx="6286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60bc590aad6476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D48797-7B9C-4EE7-BFC9-26EA8A67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866900"/>
            <a:ext cx="4171950" cy="393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整模型 decode 11.79 ms/token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token 数改为运行时参数</a:t>
            </a:r>
          </a:p>
          <a:p xmlns:a="http://schemas.openxmlformats.org/drawingml/2006/main">
            <a:pPr>
              <a:defRPr sz="1875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避免不同长度反复编译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BF16 最大绝对差 0.03125</a:t>
            </a:r>
          </a:p>
          <a:p xmlns:a="http://schemas.openxmlformats.org/drawingml/2006/main">
            <a:pPr>
              <a:defRPr sz="1875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最少 78.8% 元素逐位相等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未融合 KV 写入，保留实验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4C1358-0873-4C3D-81CD-4C82841F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29325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86B7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86B7F"/>
                </a:solidFill>
                <a:latin typeface="PingFang SC"/>
                <a:ea typeface="PingFang SC"/>
                <a:cs typeface="PingFang SC"/>
              </a:rPr>
              <a:t>微基准倍数不能外推为端到端加速，仍需真实业务精度评估。</a:t>
            </a:r>
          </a:p>
        </p:txBody>
      </p:sp>
    </p:spTree>
    <p:extLst>
      <p:ext uri="{BB962C8B-B14F-4D97-AF65-F5344CB8AC3E}">
        <p14:creationId xmlns:p14="http://schemas.microsoft.com/office/powerpoint/2010/main" val="20511415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70CB9A-0134-4B23-B429-EBC6EB74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FP8：修复缩放布局后完成实测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A91E61-0024-4B6B-8C87-B9C2A487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B7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86B7F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FC6236-0FEA-4919-A1C3-5972C5A2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视觉 MLP 的 Triton 回退路径要求 scale 为 [N,1]，</a:t>
            </a:r>
          </a:p>
          <a:p xmlns:a="http://schemas.openxmlformats.org/drawingml/2006/main">
            <a:pPr>
              <a:defRPr sz="2175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在线量化加载器给出 [1,N]。reshape 后成功启动。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19125" y="2762250"/>
          <a:ext xmlns:a="http://schemas.openxmlformats.org/drawingml/2006/main" cx="109347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6838950"/>
              </a:tblGrid>
              <a:tr h="5524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B728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B728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FP8 隔离实验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 rank 权重加载占用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约 31.34 GiB 降至 17.49 GiB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短文本 decode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9.44 ms/token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 并发输出吞吐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680.7 token/s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单图 TTFT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332.1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12F951-0AEC-45EC-9D65-7EAA445A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86B7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86B7F"/>
                </a:solidFill>
                <a:latin typeface="PingFang SC"/>
                <a:ea typeface="PingFang SC"/>
                <a:cs typeface="PingFang SC"/>
              </a:rPr>
              <a:t>35 项小规模检查通过。未完成业务精度评估，未叠加 compile / IPC，未默认上线。</a:t>
            </a:r>
          </a:p>
        </p:txBody>
      </p:sp>
    </p:spTree>
    <p:extLst>
      <p:ext uri="{BB962C8B-B14F-4D97-AF65-F5344CB8AC3E}">
        <p14:creationId xmlns:p14="http://schemas.microsoft.com/office/powerpoint/2010/main" val="91587102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D545C9-D363-4F43-8123-62E4328C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最终部署配置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CB237C-A199-42DB-870E-87A07998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B7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86B7F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2CDF22-8639-4710-AE5D-96602E1D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9537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--dtype bfloat16 --tp-size 2</a:t>
            </a:r>
          </a:p>
          <a:p xmlns:a="http://schemas.openxmlformats.org/drawingml/2006/main">
            <a:pPr>
              <a:defRPr sz="2025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--context-length 32768 --max-running-requests 8</a:t>
            </a:r>
          </a:p>
          <a:p xmlns:a="http://schemas.openxmlformats.org/drawingml/2006/main">
            <a:pPr>
              <a:defRPr sz="2025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--chunked-prefill-size 4096 --cuda-graph-max-bs 8</a:t>
            </a:r>
          </a:p>
          <a:p xmlns:a="http://schemas.openxmlformats.org/drawingml/2006/main">
            <a:pPr>
              <a:defRPr sz="2025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--enable-torch-compile --torch-compile-max-bs 8</a:t>
            </a:r>
          </a:p>
          <a:p xmlns:a="http://schemas.openxmlformats.org/drawingml/2006/main">
            <a:pPr>
              <a:defRPr sz="2025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--enable-flashinfer-allreduce-fusion</a:t>
            </a:r>
          </a:p>
          <a:p xmlns:a="http://schemas.openxmlformats.org/drawingml/2006/main">
            <a:pPr>
              <a:defRPr sz="2025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--keep-mm-feature-on-device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SGLANG_USE_CUDA_IPC_TRANSPORT=1</a:t>
            </a:r>
          </a:p>
          <a:p xmlns:a="http://schemas.openxmlformats.org/drawingml/2006/main">
            <a:pPr>
              <a:defRPr sz="2025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SGLANG_MM_FEATURE_CACHE_MB=1024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F741FD-32C2-4BAC-9A0E-2C2A72E6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293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B7285"/>
                </a:solidFill>
                <a:latin typeface="PingFang SC"/>
                <a:ea typeface="PingFang SC"/>
                <a:cs typeface="PingFang SC"/>
              </a:rPr>
              <a:t>最终关闭 DP Attention，保留修复版本和原始版本以便对照。</a:t>
            </a:r>
          </a:p>
        </p:txBody>
      </p:sp>
    </p:spTree>
    <p:extLst>
      <p:ext uri="{BB962C8B-B14F-4D97-AF65-F5344CB8AC3E}">
        <p14:creationId xmlns:p14="http://schemas.microsoft.com/office/powerpoint/2010/main" val="94347469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B8836D-8FC8-49D7-95A2-4E4553D9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组合验证与性能结论的边界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064EDE-878B-4447-A723-D41AE3D86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B7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86B7F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19125" y="1762125"/>
          <a:ext xmlns:a="http://schemas.openxmlformats.org/drawingml/2006/main" cx="109347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7505700"/>
              </a:tblGrid>
              <a:tr h="6191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B728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验证项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B728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最终主服务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图文 / 算术与 OCR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19 项 / 16 项通过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IPC 生命周期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72 张独立 1024 图，8 并发，全部正确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长输入 / 视频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30K 文本、18K 图文、红蓝变化视频通过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接口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B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鉴权、健康、模型名、流式通过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C7A094-F051-4573-AD0C-0E64B99A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05425"/>
            <a:ext cx="10810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86B7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86B7F"/>
                </a:solidFill>
                <a:latin typeface="PingFang SC"/>
                <a:ea typeface="PingFang SC"/>
                <a:cs typeface="PingFang SC"/>
              </a:rPr>
              <a:t>5 轮基准不能代表可靠 P99 或生产流量。</a:t>
            </a:r>
          </a:p>
          <a:p xmlns:a="http://schemas.openxmlformats.org/drawingml/2006/main">
            <a:pPr>
              <a:defRPr sz="2025" b="0">
                <a:solidFill>
                  <a:srgbClr val="586B7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86B7F"/>
                </a:solidFill>
                <a:latin typeface="PingFang SC"/>
                <a:ea typeface="PingFang SC"/>
                <a:cs typeface="PingFang SC"/>
              </a:rPr>
              <a:t>未用降低分辨率或提高并发上限包装收益。</a:t>
            </a:r>
          </a:p>
        </p:txBody>
      </p:sp>
    </p:spTree>
    <p:extLst>
      <p:ext uri="{BB962C8B-B14F-4D97-AF65-F5344CB8AC3E}">
        <p14:creationId xmlns:p14="http://schemas.microsoft.com/office/powerpoint/2010/main" val="17465344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AC302A-43DF-44F9-B524-5D794F78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交付与下一步验证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7A2358-FAB4-4997-A892-9041A598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B7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86B7F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D1F60B-29F9-41AF-A4F6-511191C2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763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交付工程保存三个版本、补丁、测试、逐步 README 和证据。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B7D673-AF0C-47E5-BA06-4FA8662F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10763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切换与回滚使用独立 runtime，模型路径、GPU 和端口可配置。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BA067D-D759-4F8E-A726-2505AA00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10763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下一轮用真实数据评估 FP8 与自定义 QK 的质量及组合收益。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958687-5301-4C86-A5FC-2528F52E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10763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32B4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32B43"/>
                </a:solidFill>
                <a:latin typeface="PingFang SC"/>
                <a:ea typeface="PingFang SC"/>
                <a:cs typeface="PingFang SC"/>
              </a:rPr>
              <a:t>继续采集 GEMM 硬件计数器，补齐跨进程 request span。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DC994B-F64A-486A-87D7-172C6EFBF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8170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728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B7285"/>
                </a:solidFill>
                <a:latin typeface="PingFang SC"/>
                <a:ea typeface="PingFang SC"/>
                <a:cs typeface="PingFang SC"/>
              </a:rPr>
              <a:t>github.com/justsoloking-blip/qwen-vl-32B-project</a:t>
            </a:r>
          </a:p>
        </p:txBody>
      </p:sp>
    </p:spTree>
    <p:extLst>
      <p:ext uri="{BB962C8B-B14F-4D97-AF65-F5344CB8AC3E}">
        <p14:creationId xmlns:p14="http://schemas.microsoft.com/office/powerpoint/2010/main" val="5730245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2026-09-18T04:23:56.5900000Z</dcterms:created>
  <dcterms:modified xsi:type="dcterms:W3CDTF">2026-09-18T04:23:56.5900000Z</dcterms:modified>
</coreProperties>
</file>